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Open Sans Extra Bold" charset="1" panose="020B0906030804020204"/>
      <p:regular r:id="rId35"/>
    </p:embeddedFont>
    <p:embeddedFont>
      <p:font typeface="Poppins" charset="1" panose="00000500000000000000"/>
      <p:regular r:id="rId36"/>
    </p:embeddedFont>
    <p:embeddedFont>
      <p:font typeface="Poppins Bold" charset="1" panose="00000800000000000000"/>
      <p:regular r:id="rId37"/>
    </p:embeddedFont>
    <p:embeddedFont>
      <p:font typeface="DM Sans Bold" charset="1" panose="00000000000000000000"/>
      <p:regular r:id="rId41"/>
    </p:embeddedFont>
    <p:embeddedFont>
      <p:font typeface="Canva Sans Bold" charset="1" panose="020B0803030501040103"/>
      <p:regular r:id="rId42"/>
    </p:embeddedFont>
    <p:embeddedFont>
      <p:font typeface="Canva Sans" charset="1" panose="020B0503030501040103"/>
      <p:regular r:id="rId43"/>
    </p:embeddedFont>
    <p:embeddedFont>
      <p:font typeface="Now Bold" charset="1" panose="00000800000000000000"/>
      <p:regular r:id="rId44"/>
    </p:embeddedFont>
    <p:embeddedFont>
      <p:font typeface="DM Sans" charset="1" panose="0000000000000000000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notesMasters/notesMaster1.xml" Type="http://schemas.openxmlformats.org/officeDocument/2006/relationships/notesMaster"/><Relationship Id="rId39" Target="theme/theme2.xml" Type="http://schemas.openxmlformats.org/officeDocument/2006/relationships/theme"/><Relationship Id="rId4" Target="theme/theme1.xml" Type="http://schemas.openxmlformats.org/officeDocument/2006/relationships/theme"/><Relationship Id="rId40" Target="notesSlides/notesSlide1.xml" Type="http://schemas.openxmlformats.org/officeDocument/2006/relationships/note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Contenu Slide :</a:t>
            </a:r>
          </a:p>
          <a:p>
            <a:r>
              <a:rPr lang="en-US"/>
              <a:t/>
            </a:r>
          </a:p>
          <a:p>
            <a:r>
              <a:rPr lang="en-US"/>
              <a:t>Méthodes actuelles : Analyses manuelles et dépendance aux analystes de risque</a:t>
            </a:r>
          </a:p>
          <a:p>
            <a:r>
              <a:rPr lang="en-US"/>
              <a:t>Limitations : Processus long, biais humain, faible capacité à traiter de grands volumes de données</a:t>
            </a:r>
          </a:p>
          <a:p>
            <a:r>
              <a:rPr lang="en-US"/>
              <a:t>Speech :</a:t>
            </a:r>
          </a:p>
          <a:p>
            <a:r>
              <a:rPr lang="en-US"/>
              <a:t/>
            </a:r>
          </a:p>
          <a:p>
            <a:r>
              <a:rPr lang="en-US"/>
              <a:t>"Actuellement, l'évaluation du crédit à la STB repose principalement sur des analyses manuelles, ce qui entraîne des limitations, notamment en termes de délai et de précision. Le volume de données croissant rend ces méthodes difficiles à maintenir et expose la banque à des risques accrus de non-remboursement."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svg" Type="http://schemas.openxmlformats.org/officeDocument/2006/relationships/image"/><Relationship Id="rId11" Target="../media/image33.png" Type="http://schemas.openxmlformats.org/officeDocument/2006/relationships/image"/><Relationship Id="rId12" Target="../media/image34.svg" Type="http://schemas.openxmlformats.org/officeDocument/2006/relationships/image"/><Relationship Id="rId13" Target="../media/image35.png" Type="http://schemas.openxmlformats.org/officeDocument/2006/relationships/image"/><Relationship Id="rId14" Target="../media/image36.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1.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3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41.png" Type="http://schemas.openxmlformats.org/officeDocument/2006/relationships/image"/><Relationship Id="rId12" Target="../media/image42.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1.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png" Type="http://schemas.openxmlformats.org/officeDocument/2006/relationships/image"/><Relationship Id="rId11" Target="../media/image55.jpeg" Type="http://schemas.openxmlformats.org/officeDocument/2006/relationships/image"/><Relationship Id="rId2" Target="../media/image1.png" Type="http://schemas.openxmlformats.org/officeDocument/2006/relationships/image"/><Relationship Id="rId3" Target="../media/image47.png" Type="http://schemas.openxmlformats.org/officeDocument/2006/relationships/image"/><Relationship Id="rId4" Target="../media/image48.png" Type="http://schemas.openxmlformats.org/officeDocument/2006/relationships/image"/><Relationship Id="rId5" Target="../media/image49.png" Type="http://schemas.openxmlformats.org/officeDocument/2006/relationships/image"/><Relationship Id="rId6" Target="../media/image50.png" Type="http://schemas.openxmlformats.org/officeDocument/2006/relationships/image"/><Relationship Id="rId7" Target="../media/image51.png" Type="http://schemas.openxmlformats.org/officeDocument/2006/relationships/image"/><Relationship Id="rId8" Target="../media/image52.png" Type="http://schemas.openxmlformats.org/officeDocument/2006/relationships/image"/><Relationship Id="rId9" Target="../media/image5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5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 Id="rId3" Target="../media/image61.png" Type="http://schemas.openxmlformats.org/officeDocument/2006/relationships/image"/><Relationship Id="rId4" Target="../media/image62.png" Type="http://schemas.openxmlformats.org/officeDocument/2006/relationships/image"/><Relationship Id="rId5" Target="../media/image6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2.svg" Type="http://schemas.openxmlformats.org/officeDocument/2006/relationships/image"/><Relationship Id="rId2" Target="../media/image65.png" Type="http://schemas.openxmlformats.org/officeDocument/2006/relationships/image"/><Relationship Id="rId3" Target="../media/image66.svg" Type="http://schemas.openxmlformats.org/officeDocument/2006/relationships/image"/><Relationship Id="rId4" Target="../media/image1.png" Type="http://schemas.openxmlformats.org/officeDocument/2006/relationships/image"/><Relationship Id="rId5" Target="../media/image67.png" Type="http://schemas.openxmlformats.org/officeDocument/2006/relationships/image"/><Relationship Id="rId6" Target="../media/image68.svg" Type="http://schemas.openxmlformats.org/officeDocument/2006/relationships/image"/><Relationship Id="rId7" Target="../media/image69.png" Type="http://schemas.openxmlformats.org/officeDocument/2006/relationships/image"/><Relationship Id="rId8" Target="../media/image70.svg" Type="http://schemas.openxmlformats.org/officeDocument/2006/relationships/image"/><Relationship Id="rId9" Target="../media/image7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jpeg" Type="http://schemas.openxmlformats.org/officeDocument/2006/relationships/image"/><Relationship Id="rId3" Target="../media/image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5.jpeg" Type="http://schemas.openxmlformats.org/officeDocument/2006/relationships/image"/><Relationship Id="rId4" Target="../media/image76.jpeg" Type="http://schemas.openxmlformats.org/officeDocument/2006/relationships/image"/><Relationship Id="rId5" Target="../media/image77.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8.jpeg" Type="http://schemas.openxmlformats.org/officeDocument/2006/relationships/image"/><Relationship Id="rId3" Target="../media/image79.png" Type="http://schemas.openxmlformats.org/officeDocument/2006/relationships/image"/><Relationship Id="rId4" Target="../media/image8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1.jpeg" Type="http://schemas.openxmlformats.org/officeDocument/2006/relationships/image"/><Relationship Id="rId3" Target="../media/image82.jpeg" Type="http://schemas.openxmlformats.org/officeDocument/2006/relationships/image"/><Relationship Id="rId4" Target="../media/image83.jpeg" Type="http://schemas.openxmlformats.org/officeDocument/2006/relationships/image"/><Relationship Id="rId5" Target="../media/image84.jpeg" Type="http://schemas.openxmlformats.org/officeDocument/2006/relationships/image"/><Relationship Id="rId6" Target="../media/image85.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3.png" Type="http://schemas.openxmlformats.org/officeDocument/2006/relationships/image"/><Relationship Id="rId11" Target="../media/image94.svg" Type="http://schemas.openxmlformats.org/officeDocument/2006/relationships/image"/><Relationship Id="rId2" Target="../media/image81.jpeg" Type="http://schemas.openxmlformats.org/officeDocument/2006/relationships/image"/><Relationship Id="rId3" Target="../media/image86.png" Type="http://schemas.openxmlformats.org/officeDocument/2006/relationships/image"/><Relationship Id="rId4" Target="../media/image87.svg" Type="http://schemas.openxmlformats.org/officeDocument/2006/relationships/image"/><Relationship Id="rId5" Target="../media/image88.png" Type="http://schemas.openxmlformats.org/officeDocument/2006/relationships/image"/><Relationship Id="rId6" Target="../media/image89.svg" Type="http://schemas.openxmlformats.org/officeDocument/2006/relationships/image"/><Relationship Id="rId7" Target="../media/image90.png" Type="http://schemas.openxmlformats.org/officeDocument/2006/relationships/image"/><Relationship Id="rId8" Target="../media/image91.svg" Type="http://schemas.openxmlformats.org/officeDocument/2006/relationships/image"/><Relationship Id="rId9" Target="../media/image92.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3.png" Type="http://schemas.openxmlformats.org/officeDocument/2006/relationships/image"/><Relationship Id="rId11" Target="../media/image104.svg" Type="http://schemas.openxmlformats.org/officeDocument/2006/relationships/image"/><Relationship Id="rId12" Target="../media/image105.png" Type="http://schemas.openxmlformats.org/officeDocument/2006/relationships/image"/><Relationship Id="rId13" Target="../media/image106.svg" Type="http://schemas.openxmlformats.org/officeDocument/2006/relationships/image"/><Relationship Id="rId14" Target="../media/image107.png" Type="http://schemas.openxmlformats.org/officeDocument/2006/relationships/image"/><Relationship Id="rId15" Target="../media/image108.svg" Type="http://schemas.openxmlformats.org/officeDocument/2006/relationships/image"/><Relationship Id="rId16" Target="../media/image109.png" Type="http://schemas.openxmlformats.org/officeDocument/2006/relationships/image"/><Relationship Id="rId17" Target="../media/image110.svg" Type="http://schemas.openxmlformats.org/officeDocument/2006/relationships/image"/><Relationship Id="rId18" Target="../media/image111.png" Type="http://schemas.openxmlformats.org/officeDocument/2006/relationships/image"/><Relationship Id="rId19" Target="../media/image112.svg" Type="http://schemas.openxmlformats.org/officeDocument/2006/relationships/image"/><Relationship Id="rId2" Target="../media/image95.png" Type="http://schemas.openxmlformats.org/officeDocument/2006/relationships/image"/><Relationship Id="rId20" Target="../media/image113.png" Type="http://schemas.openxmlformats.org/officeDocument/2006/relationships/image"/><Relationship Id="rId21" Target="../media/image114.svg" Type="http://schemas.openxmlformats.org/officeDocument/2006/relationships/image"/><Relationship Id="rId22" Target="../media/image115.png" Type="http://schemas.openxmlformats.org/officeDocument/2006/relationships/image"/><Relationship Id="rId23" Target="../media/image116.svg" Type="http://schemas.openxmlformats.org/officeDocument/2006/relationships/image"/><Relationship Id="rId24" Target="../media/image117.png" Type="http://schemas.openxmlformats.org/officeDocument/2006/relationships/image"/><Relationship Id="rId25" Target="../media/image118.svg" Type="http://schemas.openxmlformats.org/officeDocument/2006/relationships/image"/><Relationship Id="rId26" Target="../media/image119.png" Type="http://schemas.openxmlformats.org/officeDocument/2006/relationships/image"/><Relationship Id="rId27" Target="../media/image120.svg" Type="http://schemas.openxmlformats.org/officeDocument/2006/relationships/image"/><Relationship Id="rId28" Target="../media/image121.png" Type="http://schemas.openxmlformats.org/officeDocument/2006/relationships/image"/><Relationship Id="rId29" Target="../media/image122.svg" Type="http://schemas.openxmlformats.org/officeDocument/2006/relationships/image"/><Relationship Id="rId3" Target="../media/image96.svg" Type="http://schemas.openxmlformats.org/officeDocument/2006/relationships/image"/><Relationship Id="rId30" Target="../media/image123.png" Type="http://schemas.openxmlformats.org/officeDocument/2006/relationships/image"/><Relationship Id="rId31" Target="../media/image124.svg" Type="http://schemas.openxmlformats.org/officeDocument/2006/relationships/image"/><Relationship Id="rId32" Target="../media/image125.png" Type="http://schemas.openxmlformats.org/officeDocument/2006/relationships/image"/><Relationship Id="rId33" Target="../media/image126.svg" Type="http://schemas.openxmlformats.org/officeDocument/2006/relationships/image"/><Relationship Id="rId34" Target="../media/image127.png" Type="http://schemas.openxmlformats.org/officeDocument/2006/relationships/image"/><Relationship Id="rId35" Target="../media/image128.svg" Type="http://schemas.openxmlformats.org/officeDocument/2006/relationships/image"/><Relationship Id="rId36" Target="../media/image129.png" Type="http://schemas.openxmlformats.org/officeDocument/2006/relationships/image"/><Relationship Id="rId37" Target="../media/image130.svg" Type="http://schemas.openxmlformats.org/officeDocument/2006/relationships/image"/><Relationship Id="rId38" Target="../media/image131.png" Type="http://schemas.openxmlformats.org/officeDocument/2006/relationships/image"/><Relationship Id="rId39" Target="../media/image132.svg" Type="http://schemas.openxmlformats.org/officeDocument/2006/relationships/image"/><Relationship Id="rId4" Target="../media/image97.png" Type="http://schemas.openxmlformats.org/officeDocument/2006/relationships/image"/><Relationship Id="rId40" Target="../media/image133.png" Type="http://schemas.openxmlformats.org/officeDocument/2006/relationships/image"/><Relationship Id="rId41" Target="../media/image134.svg" Type="http://schemas.openxmlformats.org/officeDocument/2006/relationships/image"/><Relationship Id="rId42" Target="../media/image135.png" Type="http://schemas.openxmlformats.org/officeDocument/2006/relationships/image"/><Relationship Id="rId43" Target="../media/image136.svg" Type="http://schemas.openxmlformats.org/officeDocument/2006/relationships/image"/><Relationship Id="rId44" Target="../media/image137.png" Type="http://schemas.openxmlformats.org/officeDocument/2006/relationships/image"/><Relationship Id="rId45" Target="../media/image138.svg" Type="http://schemas.openxmlformats.org/officeDocument/2006/relationships/image"/><Relationship Id="rId46" Target="../media/image139.png" Type="http://schemas.openxmlformats.org/officeDocument/2006/relationships/image"/><Relationship Id="rId47" Target="../media/image140.svg" Type="http://schemas.openxmlformats.org/officeDocument/2006/relationships/image"/><Relationship Id="rId48" Target="../media/image141.png" Type="http://schemas.openxmlformats.org/officeDocument/2006/relationships/image"/><Relationship Id="rId49" Target="../media/image142.svg" Type="http://schemas.openxmlformats.org/officeDocument/2006/relationships/image"/><Relationship Id="rId5" Target="../media/image98.svg" Type="http://schemas.openxmlformats.org/officeDocument/2006/relationships/image"/><Relationship Id="rId50" Target="../media/image143.png" Type="http://schemas.openxmlformats.org/officeDocument/2006/relationships/image"/><Relationship Id="rId51" Target="../media/image144.svg" Type="http://schemas.openxmlformats.org/officeDocument/2006/relationships/image"/><Relationship Id="rId52" Target="../media/image145.png" Type="http://schemas.openxmlformats.org/officeDocument/2006/relationships/image"/><Relationship Id="rId53" Target="../media/image146.svg" Type="http://schemas.openxmlformats.org/officeDocument/2006/relationships/image"/><Relationship Id="rId54" Target="../media/image147.png" Type="http://schemas.openxmlformats.org/officeDocument/2006/relationships/image"/><Relationship Id="rId55" Target="../media/image148.svg" Type="http://schemas.openxmlformats.org/officeDocument/2006/relationships/image"/><Relationship Id="rId56" Target="../media/image149.png" Type="http://schemas.openxmlformats.org/officeDocument/2006/relationships/image"/><Relationship Id="rId57" Target="../media/image150.svg" Type="http://schemas.openxmlformats.org/officeDocument/2006/relationships/image"/><Relationship Id="rId58" Target="../media/image151.png" Type="http://schemas.openxmlformats.org/officeDocument/2006/relationships/image"/><Relationship Id="rId59" Target="../media/image152.svg" Type="http://schemas.openxmlformats.org/officeDocument/2006/relationships/image"/><Relationship Id="rId6" Target="../media/image99.png" Type="http://schemas.openxmlformats.org/officeDocument/2006/relationships/image"/><Relationship Id="rId60" Target="../media/image153.png" Type="http://schemas.openxmlformats.org/officeDocument/2006/relationships/image"/><Relationship Id="rId61" Target="../media/image154.svg" Type="http://schemas.openxmlformats.org/officeDocument/2006/relationships/image"/><Relationship Id="rId62" Target="../media/image155.png" Type="http://schemas.openxmlformats.org/officeDocument/2006/relationships/image"/><Relationship Id="rId63" Target="../media/image156.svg" Type="http://schemas.openxmlformats.org/officeDocument/2006/relationships/image"/><Relationship Id="rId64" Target="../media/image157.png" Type="http://schemas.openxmlformats.org/officeDocument/2006/relationships/image"/><Relationship Id="rId65" Target="../media/image158.svg" Type="http://schemas.openxmlformats.org/officeDocument/2006/relationships/image"/><Relationship Id="rId66" Target="../media/image159.png" Type="http://schemas.openxmlformats.org/officeDocument/2006/relationships/image"/><Relationship Id="rId67" Target="../media/image160.svg" Type="http://schemas.openxmlformats.org/officeDocument/2006/relationships/image"/><Relationship Id="rId68" Target="../media/image161.png" Type="http://schemas.openxmlformats.org/officeDocument/2006/relationships/image"/><Relationship Id="rId69" Target="../media/image162.svg" Type="http://schemas.openxmlformats.org/officeDocument/2006/relationships/image"/><Relationship Id="rId7" Target="../media/image100.svg" Type="http://schemas.openxmlformats.org/officeDocument/2006/relationships/image"/><Relationship Id="rId70" Target="../media/image163.png" Type="http://schemas.openxmlformats.org/officeDocument/2006/relationships/image"/><Relationship Id="rId71" Target="../media/image164.svg" Type="http://schemas.openxmlformats.org/officeDocument/2006/relationships/image"/><Relationship Id="rId72" Target="../media/image165.png" Type="http://schemas.openxmlformats.org/officeDocument/2006/relationships/image"/><Relationship Id="rId73" Target="../media/image166.svg" Type="http://schemas.openxmlformats.org/officeDocument/2006/relationships/image"/><Relationship Id="rId74" Target="../media/image167.png" Type="http://schemas.openxmlformats.org/officeDocument/2006/relationships/image"/><Relationship Id="rId75" Target="../media/image168.svg" Type="http://schemas.openxmlformats.org/officeDocument/2006/relationships/image"/><Relationship Id="rId76" Target="../media/image169.png" Type="http://schemas.openxmlformats.org/officeDocument/2006/relationships/image"/><Relationship Id="rId77" Target="../media/image170.svg" Type="http://schemas.openxmlformats.org/officeDocument/2006/relationships/image"/><Relationship Id="rId78" Target="../media/image171.png" Type="http://schemas.openxmlformats.org/officeDocument/2006/relationships/image"/><Relationship Id="rId79" Target="../media/image172.svg" Type="http://schemas.openxmlformats.org/officeDocument/2006/relationships/image"/><Relationship Id="rId8" Target="../media/image101.png" Type="http://schemas.openxmlformats.org/officeDocument/2006/relationships/image"/><Relationship Id="rId80" Target="../media/image173.png" Type="http://schemas.openxmlformats.org/officeDocument/2006/relationships/image"/><Relationship Id="rId81" Target="../media/image174.svg" Type="http://schemas.openxmlformats.org/officeDocument/2006/relationships/image"/><Relationship Id="rId82" Target="../media/image175.png" Type="http://schemas.openxmlformats.org/officeDocument/2006/relationships/image"/><Relationship Id="rId83" Target="../media/image176.svg" Type="http://schemas.openxmlformats.org/officeDocument/2006/relationships/image"/><Relationship Id="rId84" Target="../media/image177.png" Type="http://schemas.openxmlformats.org/officeDocument/2006/relationships/image"/><Relationship Id="rId85" Target="../media/image178.svg" Type="http://schemas.openxmlformats.org/officeDocument/2006/relationships/image"/><Relationship Id="rId86" Target="../media/image179.png" Type="http://schemas.openxmlformats.org/officeDocument/2006/relationships/image"/><Relationship Id="rId87" Target="../media/image180.svg" Type="http://schemas.openxmlformats.org/officeDocument/2006/relationships/image"/><Relationship Id="rId88" Target="../media/image181.png" Type="http://schemas.openxmlformats.org/officeDocument/2006/relationships/image"/><Relationship Id="rId89" Target="../media/image182.svg" Type="http://schemas.openxmlformats.org/officeDocument/2006/relationships/image"/><Relationship Id="rId9" Target="../media/image102.svg" Type="http://schemas.openxmlformats.org/officeDocument/2006/relationships/image"/><Relationship Id="rId90" Target="../media/image183.png" Type="http://schemas.openxmlformats.org/officeDocument/2006/relationships/image"/><Relationship Id="rId91" Target="../media/image184.svg" Type="http://schemas.openxmlformats.org/officeDocument/2006/relationships/image"/><Relationship Id="rId92" Target="../media/image185.png" Type="http://schemas.openxmlformats.org/officeDocument/2006/relationships/image"/><Relationship Id="rId93" Target="../media/image186.svg" Type="http://schemas.openxmlformats.org/officeDocument/2006/relationships/image"/><Relationship Id="rId94" Target="../media/image187.png" Type="http://schemas.openxmlformats.org/officeDocument/2006/relationships/image"/><Relationship Id="rId95" Target="../media/image188.svg" Type="http://schemas.openxmlformats.org/officeDocument/2006/relationships/image"/><Relationship Id="rId96" Target="../media/image189.png" Type="http://schemas.openxmlformats.org/officeDocument/2006/relationships/image"/><Relationship Id="rId97" Target="../media/image190.svg" Type="http://schemas.openxmlformats.org/officeDocument/2006/relationships/image"/><Relationship Id="rId98" Target="../media/image191.png" Type="http://schemas.openxmlformats.org/officeDocument/2006/relationships/image"/><Relationship Id="rId99" Target="../media/image19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9144000" y="8636735"/>
            <a:ext cx="11052918" cy="1105291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38225" y="3383532"/>
            <a:ext cx="12231183" cy="2526205"/>
          </a:xfrm>
          <a:prstGeom prst="rect">
            <a:avLst/>
          </a:prstGeom>
        </p:spPr>
        <p:txBody>
          <a:bodyPr anchor="t" rtlCol="false" tIns="0" lIns="0" bIns="0" rIns="0">
            <a:spAutoFit/>
          </a:bodyPr>
          <a:lstStyle/>
          <a:p>
            <a:pPr algn="l">
              <a:lnSpc>
                <a:spcPts val="6850"/>
              </a:lnSpc>
            </a:pPr>
            <a:r>
              <a:rPr lang="en-US" sz="4893">
                <a:solidFill>
                  <a:srgbClr val="051D40"/>
                </a:solidFill>
                <a:latin typeface="Open Sans Extra Bold"/>
                <a:ea typeface="Open Sans Extra Bold"/>
                <a:cs typeface="Open Sans Extra Bold"/>
                <a:sym typeface="Open Sans Extra Bold"/>
              </a:rPr>
              <a:t>Système de Prédiction Automatisé de l’Eligibilité des Clients au Crédit</a:t>
            </a:r>
          </a:p>
          <a:p>
            <a:pPr algn="l">
              <a:lnSpc>
                <a:spcPts val="6570"/>
              </a:lnSpc>
              <a:spcBef>
                <a:spcPct val="0"/>
              </a:spcBef>
            </a:pPr>
          </a:p>
        </p:txBody>
      </p:sp>
      <p:grpSp>
        <p:nvGrpSpPr>
          <p:cNvPr name="Group 6" id="6"/>
          <p:cNvGrpSpPr/>
          <p:nvPr/>
        </p:nvGrpSpPr>
        <p:grpSpPr>
          <a:xfrm rot="0">
            <a:off x="-1929195" y="8389571"/>
            <a:ext cx="3735531" cy="37355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1899571" y="7270564"/>
            <a:ext cx="6917318" cy="1366170"/>
          </a:xfrm>
          <a:custGeom>
            <a:avLst/>
            <a:gdLst/>
            <a:ahLst/>
            <a:cxnLst/>
            <a:rect r="r" b="b" t="t" l="l"/>
            <a:pathLst>
              <a:path h="1366170" w="6917318">
                <a:moveTo>
                  <a:pt x="0" y="0"/>
                </a:moveTo>
                <a:lnTo>
                  <a:pt x="6917318" y="0"/>
                </a:lnTo>
                <a:lnTo>
                  <a:pt x="6917318" y="1366171"/>
                </a:lnTo>
                <a:lnTo>
                  <a:pt x="0" y="1366171"/>
                </a:lnTo>
                <a:lnTo>
                  <a:pt x="0" y="0"/>
                </a:lnTo>
                <a:close/>
              </a:path>
            </a:pathLst>
          </a:custGeom>
          <a:blipFill>
            <a:blip r:embed="rId2"/>
            <a:stretch>
              <a:fillRect l="0" t="0" r="0" b="0"/>
            </a:stretch>
          </a:blipFill>
        </p:spPr>
      </p:sp>
      <p:sp>
        <p:nvSpPr>
          <p:cNvPr name="TextBox 10" id="10"/>
          <p:cNvSpPr txBox="true"/>
          <p:nvPr/>
        </p:nvSpPr>
        <p:spPr>
          <a:xfrm rot="0">
            <a:off x="1028700" y="6126585"/>
            <a:ext cx="7299156" cy="3391750"/>
          </a:xfrm>
          <a:prstGeom prst="rect">
            <a:avLst/>
          </a:prstGeom>
        </p:spPr>
        <p:txBody>
          <a:bodyPr anchor="t" rtlCol="false" tIns="0" lIns="0" bIns="0" rIns="0">
            <a:spAutoFit/>
          </a:bodyPr>
          <a:lstStyle/>
          <a:p>
            <a:pPr algn="l">
              <a:lnSpc>
                <a:spcPts val="3820"/>
              </a:lnSpc>
            </a:pPr>
          </a:p>
          <a:p>
            <a:pPr algn="l">
              <a:lnSpc>
                <a:spcPts val="3820"/>
              </a:lnSpc>
            </a:pPr>
            <a:r>
              <a:rPr lang="en-US" sz="2728" spc="-54" u="sng">
                <a:solidFill>
                  <a:srgbClr val="01237D"/>
                </a:solidFill>
                <a:latin typeface="Poppins"/>
                <a:ea typeface="Poppins"/>
                <a:cs typeface="Poppins"/>
                <a:sym typeface="Poppins"/>
              </a:rPr>
              <a:t>Réalisé par</a:t>
            </a:r>
            <a:r>
              <a:rPr lang="en-US" sz="2728" spc="-54">
                <a:solidFill>
                  <a:srgbClr val="051D40"/>
                </a:solidFill>
                <a:latin typeface="Poppins"/>
                <a:ea typeface="Poppins"/>
                <a:cs typeface="Poppins"/>
                <a:sym typeface="Poppins"/>
              </a:rPr>
              <a:t> : Mohamed Ali Rommen</a:t>
            </a:r>
          </a:p>
          <a:p>
            <a:pPr algn="l">
              <a:lnSpc>
                <a:spcPts val="3820"/>
              </a:lnSpc>
            </a:pPr>
            <a:r>
              <a:rPr lang="en-US" sz="2728" spc="-54" u="sng">
                <a:solidFill>
                  <a:srgbClr val="01237D"/>
                </a:solidFill>
                <a:latin typeface="Poppins"/>
                <a:ea typeface="Poppins"/>
                <a:cs typeface="Poppins"/>
                <a:sym typeface="Poppins"/>
              </a:rPr>
              <a:t>Encadrant Entreprise</a:t>
            </a:r>
            <a:r>
              <a:rPr lang="en-US" sz="2728" spc="-54" u="sng">
                <a:solidFill>
                  <a:srgbClr val="051D40"/>
                </a:solidFill>
                <a:latin typeface="Poppins"/>
                <a:ea typeface="Poppins"/>
                <a:cs typeface="Poppins"/>
                <a:sym typeface="Poppins"/>
              </a:rPr>
              <a:t>:</a:t>
            </a:r>
            <a:r>
              <a:rPr lang="en-US" sz="2728" spc="-54">
                <a:solidFill>
                  <a:srgbClr val="051D40"/>
                </a:solidFill>
                <a:latin typeface="Poppins"/>
                <a:ea typeface="Poppins"/>
                <a:cs typeface="Poppins"/>
                <a:sym typeface="Poppins"/>
              </a:rPr>
              <a:t> Mr. Enis El Kadri</a:t>
            </a:r>
          </a:p>
          <a:p>
            <a:pPr algn="l">
              <a:lnSpc>
                <a:spcPts val="3820"/>
              </a:lnSpc>
            </a:pPr>
            <a:r>
              <a:rPr lang="en-US" sz="2728" spc="-54" u="sng">
                <a:solidFill>
                  <a:srgbClr val="01237D"/>
                </a:solidFill>
                <a:latin typeface="Poppins"/>
                <a:ea typeface="Poppins"/>
                <a:cs typeface="Poppins"/>
                <a:sym typeface="Poppins"/>
              </a:rPr>
              <a:t>Encadrante Esprit</a:t>
            </a:r>
            <a:r>
              <a:rPr lang="en-US" sz="2728" spc="-54" u="sng">
                <a:solidFill>
                  <a:srgbClr val="051D40"/>
                </a:solidFill>
                <a:latin typeface="Poppins"/>
                <a:ea typeface="Poppins"/>
                <a:cs typeface="Poppins"/>
                <a:sym typeface="Poppins"/>
              </a:rPr>
              <a:t>:</a:t>
            </a:r>
            <a:r>
              <a:rPr lang="en-US" sz="2728" spc="-54">
                <a:solidFill>
                  <a:srgbClr val="051D40"/>
                </a:solidFill>
                <a:latin typeface="Poppins"/>
                <a:ea typeface="Poppins"/>
                <a:cs typeface="Poppins"/>
                <a:sym typeface="Poppins"/>
              </a:rPr>
              <a:t> Mme. FetenTebourbi</a:t>
            </a:r>
          </a:p>
          <a:p>
            <a:pPr algn="l">
              <a:lnSpc>
                <a:spcPts val="3820"/>
              </a:lnSpc>
            </a:pPr>
          </a:p>
          <a:p>
            <a:pPr algn="l">
              <a:lnSpc>
                <a:spcPts val="3820"/>
              </a:lnSpc>
            </a:pPr>
          </a:p>
          <a:p>
            <a:pPr algn="l">
              <a:lnSpc>
                <a:spcPts val="3820"/>
              </a:lnSpc>
            </a:pPr>
          </a:p>
        </p:txBody>
      </p:sp>
      <p:sp>
        <p:nvSpPr>
          <p:cNvPr name="Freeform 11" id="11"/>
          <p:cNvSpPr/>
          <p:nvPr/>
        </p:nvSpPr>
        <p:spPr>
          <a:xfrm flipH="false" flipV="false" rot="0">
            <a:off x="185641" y="3077"/>
            <a:ext cx="4258336" cy="2105352"/>
          </a:xfrm>
          <a:custGeom>
            <a:avLst/>
            <a:gdLst/>
            <a:ahLst/>
            <a:cxnLst/>
            <a:rect r="r" b="b" t="t" l="l"/>
            <a:pathLst>
              <a:path h="2105352" w="4258336">
                <a:moveTo>
                  <a:pt x="0" y="0"/>
                </a:moveTo>
                <a:lnTo>
                  <a:pt x="4258336" y="0"/>
                </a:lnTo>
                <a:lnTo>
                  <a:pt x="4258336" y="2105353"/>
                </a:lnTo>
                <a:lnTo>
                  <a:pt x="0" y="2105353"/>
                </a:lnTo>
                <a:lnTo>
                  <a:pt x="0" y="0"/>
                </a:lnTo>
                <a:close/>
              </a:path>
            </a:pathLst>
          </a:custGeom>
          <a:blipFill>
            <a:blip r:embed="rId3"/>
            <a:stretch>
              <a:fillRect l="-12518" t="0" r="-882" b="-1270"/>
            </a:stretch>
          </a:blipFill>
        </p:spPr>
      </p:sp>
      <p:sp>
        <p:nvSpPr>
          <p:cNvPr name="Freeform 12" id="12"/>
          <p:cNvSpPr/>
          <p:nvPr/>
        </p:nvSpPr>
        <p:spPr>
          <a:xfrm flipH="false" flipV="false" rot="0">
            <a:off x="12832713" y="3077"/>
            <a:ext cx="5455287" cy="2105352"/>
          </a:xfrm>
          <a:custGeom>
            <a:avLst/>
            <a:gdLst/>
            <a:ahLst/>
            <a:cxnLst/>
            <a:rect r="r" b="b" t="t" l="l"/>
            <a:pathLst>
              <a:path h="2105352" w="5455287">
                <a:moveTo>
                  <a:pt x="0" y="0"/>
                </a:moveTo>
                <a:lnTo>
                  <a:pt x="5455287" y="0"/>
                </a:lnTo>
                <a:lnTo>
                  <a:pt x="5455287" y="2105353"/>
                </a:lnTo>
                <a:lnTo>
                  <a:pt x="0" y="2105353"/>
                </a:lnTo>
                <a:lnTo>
                  <a:pt x="0" y="0"/>
                </a:lnTo>
                <a:close/>
              </a:path>
            </a:pathLst>
          </a:custGeom>
          <a:blipFill>
            <a:blip r:embed="rId4"/>
            <a:stretch>
              <a:fillRect l="0" t="-14971" r="0" b="-14971"/>
            </a:stretch>
          </a:blipFill>
        </p:spPr>
      </p:sp>
      <p:grpSp>
        <p:nvGrpSpPr>
          <p:cNvPr name="Group 13" id="13"/>
          <p:cNvGrpSpPr>
            <a:grpSpLocks noChangeAspect="true"/>
          </p:cNvGrpSpPr>
          <p:nvPr/>
        </p:nvGrpSpPr>
        <p:grpSpPr>
          <a:xfrm rot="0">
            <a:off x="12937111" y="3172387"/>
            <a:ext cx="4208361" cy="4208344"/>
            <a:chOff x="0" y="0"/>
            <a:chExt cx="6350000" cy="6349975"/>
          </a:xfrm>
        </p:grpSpPr>
        <p:sp>
          <p:nvSpPr>
            <p:cNvPr name="Freeform 14" id="14"/>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l="-25757" t="0" r="-25757"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4517814" y="-315404"/>
            <a:ext cx="3964281" cy="10917809"/>
            <a:chOff x="0" y="0"/>
            <a:chExt cx="1044090" cy="2875472"/>
          </a:xfrm>
        </p:grpSpPr>
        <p:sp>
          <p:nvSpPr>
            <p:cNvPr name="Freeform 3" id="3"/>
            <p:cNvSpPr/>
            <p:nvPr/>
          </p:nvSpPr>
          <p:spPr>
            <a:xfrm flipH="false" flipV="false" rot="0">
              <a:off x="0" y="0"/>
              <a:ext cx="1044090" cy="2875472"/>
            </a:xfrm>
            <a:custGeom>
              <a:avLst/>
              <a:gdLst/>
              <a:ahLst/>
              <a:cxnLst/>
              <a:rect r="r" b="b" t="t" l="l"/>
              <a:pathLst>
                <a:path h="2875472" w="1044090">
                  <a:moveTo>
                    <a:pt x="0" y="0"/>
                  </a:moveTo>
                  <a:lnTo>
                    <a:pt x="1044090" y="0"/>
                  </a:lnTo>
                  <a:lnTo>
                    <a:pt x="1044090" y="2875472"/>
                  </a:lnTo>
                  <a:lnTo>
                    <a:pt x="0" y="2875472"/>
                  </a:lnTo>
                  <a:close/>
                </a:path>
              </a:pathLst>
            </a:custGeom>
            <a:solidFill>
              <a:srgbClr val="145DA0"/>
            </a:solidFill>
            <a:ln cap="sq">
              <a:noFill/>
              <a:prstDash val="solid"/>
              <a:miter/>
            </a:ln>
          </p:spPr>
        </p:sp>
        <p:sp>
          <p:nvSpPr>
            <p:cNvPr name="TextBox 4" id="4"/>
            <p:cNvSpPr txBox="true"/>
            <p:nvPr/>
          </p:nvSpPr>
          <p:spPr>
            <a:xfrm>
              <a:off x="0" y="-38100"/>
              <a:ext cx="1044090" cy="291357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3663160" y="1641132"/>
            <a:ext cx="6760246" cy="1244690"/>
          </a:xfrm>
          <a:prstGeom prst="rect">
            <a:avLst/>
          </a:prstGeom>
        </p:spPr>
        <p:txBody>
          <a:bodyPr anchor="t" rtlCol="false" tIns="0" lIns="0" bIns="0" rIns="0">
            <a:spAutoFit/>
          </a:bodyPr>
          <a:lstStyle/>
          <a:p>
            <a:pPr algn="l">
              <a:lnSpc>
                <a:spcPts val="10248"/>
              </a:lnSpc>
              <a:spcBef>
                <a:spcPct val="0"/>
              </a:spcBef>
            </a:pPr>
            <a:r>
              <a:rPr lang="en-US" sz="7320">
                <a:solidFill>
                  <a:srgbClr val="051D40"/>
                </a:solidFill>
                <a:latin typeface="Open Sans Extra Bold"/>
                <a:ea typeface="Open Sans Extra Bold"/>
                <a:cs typeface="Open Sans Extra Bold"/>
                <a:sym typeface="Open Sans Extra Bold"/>
              </a:rPr>
              <a:t>Plan de projet</a:t>
            </a:r>
          </a:p>
        </p:txBody>
      </p:sp>
      <p:grpSp>
        <p:nvGrpSpPr>
          <p:cNvPr name="Group 6" id="6"/>
          <p:cNvGrpSpPr/>
          <p:nvPr/>
        </p:nvGrpSpPr>
        <p:grpSpPr>
          <a:xfrm rot="0">
            <a:off x="-1867766" y="-1614217"/>
            <a:ext cx="3735531" cy="37355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5400000">
            <a:off x="2912435" y="3472452"/>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1796731" y="447246"/>
            <a:ext cx="5972616" cy="9392508"/>
          </a:xfrm>
          <a:custGeom>
            <a:avLst/>
            <a:gdLst/>
            <a:ahLst/>
            <a:cxnLst/>
            <a:rect r="r" b="b" t="t" l="l"/>
            <a:pathLst>
              <a:path h="9392508" w="5972616">
                <a:moveTo>
                  <a:pt x="0" y="0"/>
                </a:moveTo>
                <a:lnTo>
                  <a:pt x="5972616" y="0"/>
                </a:lnTo>
                <a:lnTo>
                  <a:pt x="5972616" y="9392508"/>
                </a:lnTo>
                <a:lnTo>
                  <a:pt x="0" y="9392508"/>
                </a:lnTo>
                <a:lnTo>
                  <a:pt x="0" y="0"/>
                </a:lnTo>
                <a:close/>
              </a:path>
            </a:pathLst>
          </a:custGeom>
          <a:blipFill>
            <a:blip r:embed="rId4"/>
            <a:stretch>
              <a:fillRect l="-2387" t="0" r="-2387" b="0"/>
            </a:stretch>
          </a:blipFill>
        </p:spPr>
      </p:sp>
      <p:sp>
        <p:nvSpPr>
          <p:cNvPr name="TextBox 11" id="11"/>
          <p:cNvSpPr txBox="true"/>
          <p:nvPr/>
        </p:nvSpPr>
        <p:spPr>
          <a:xfrm rot="0">
            <a:off x="3663160" y="3397227"/>
            <a:ext cx="3773019"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Introduction</a:t>
            </a:r>
          </a:p>
        </p:txBody>
      </p:sp>
      <p:sp>
        <p:nvSpPr>
          <p:cNvPr name="TextBox 12" id="12"/>
          <p:cNvSpPr txBox="true"/>
          <p:nvPr/>
        </p:nvSpPr>
        <p:spPr>
          <a:xfrm rot="0">
            <a:off x="8483149" y="3397227"/>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01</a:t>
            </a:r>
          </a:p>
        </p:txBody>
      </p:sp>
      <p:sp>
        <p:nvSpPr>
          <p:cNvPr name="Freeform 13" id="13"/>
          <p:cNvSpPr/>
          <p:nvPr/>
        </p:nvSpPr>
        <p:spPr>
          <a:xfrm flipH="false" flipV="false" rot="5400000">
            <a:off x="2912435" y="4097959"/>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3663160" y="4022734"/>
            <a:ext cx="4819989"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Spécification des Besoins</a:t>
            </a:r>
          </a:p>
        </p:txBody>
      </p:sp>
      <p:sp>
        <p:nvSpPr>
          <p:cNvPr name="TextBox 15" id="15"/>
          <p:cNvSpPr txBox="true"/>
          <p:nvPr/>
        </p:nvSpPr>
        <p:spPr>
          <a:xfrm rot="0">
            <a:off x="8483149" y="4022734"/>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02</a:t>
            </a:r>
          </a:p>
        </p:txBody>
      </p:sp>
      <p:sp>
        <p:nvSpPr>
          <p:cNvPr name="Freeform 16" id="16"/>
          <p:cNvSpPr/>
          <p:nvPr/>
        </p:nvSpPr>
        <p:spPr>
          <a:xfrm flipH="false" flipV="false" rot="5400000">
            <a:off x="2912435" y="4723196"/>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3663160" y="4647971"/>
            <a:ext cx="4652520"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Conception</a:t>
            </a:r>
          </a:p>
        </p:txBody>
      </p:sp>
      <p:sp>
        <p:nvSpPr>
          <p:cNvPr name="TextBox 18" id="18"/>
          <p:cNvSpPr txBox="true"/>
          <p:nvPr/>
        </p:nvSpPr>
        <p:spPr>
          <a:xfrm rot="0">
            <a:off x="8483149" y="4647971"/>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03</a:t>
            </a:r>
          </a:p>
        </p:txBody>
      </p:sp>
      <p:sp>
        <p:nvSpPr>
          <p:cNvPr name="Freeform 19" id="19"/>
          <p:cNvSpPr/>
          <p:nvPr/>
        </p:nvSpPr>
        <p:spPr>
          <a:xfrm flipH="false" flipV="false" rot="5400000">
            <a:off x="2912435" y="5348703"/>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3663160" y="5273478"/>
            <a:ext cx="4397771"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Réalisation</a:t>
            </a:r>
          </a:p>
        </p:txBody>
      </p:sp>
      <p:sp>
        <p:nvSpPr>
          <p:cNvPr name="TextBox 21" id="21"/>
          <p:cNvSpPr txBox="true"/>
          <p:nvPr/>
        </p:nvSpPr>
        <p:spPr>
          <a:xfrm rot="0">
            <a:off x="8483149" y="5273478"/>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04</a:t>
            </a:r>
          </a:p>
        </p:txBody>
      </p:sp>
      <p:sp>
        <p:nvSpPr>
          <p:cNvPr name="Freeform 22" id="22"/>
          <p:cNvSpPr/>
          <p:nvPr/>
        </p:nvSpPr>
        <p:spPr>
          <a:xfrm flipH="false" flipV="false" rot="5400000">
            <a:off x="2912435" y="5973940"/>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3" id="23"/>
          <p:cNvSpPr txBox="true"/>
          <p:nvPr/>
        </p:nvSpPr>
        <p:spPr>
          <a:xfrm rot="0">
            <a:off x="3663160" y="5898715"/>
            <a:ext cx="5904932" cy="1022891"/>
          </a:xfrm>
          <a:prstGeom prst="rect">
            <a:avLst/>
          </a:prstGeom>
        </p:spPr>
        <p:txBody>
          <a:bodyPr anchor="t" rtlCol="false" tIns="0" lIns="0" bIns="0" rIns="0">
            <a:spAutoFit/>
          </a:bodyPr>
          <a:lstStyle/>
          <a:p>
            <a:pPr algn="l">
              <a:lnSpc>
                <a:spcPts val="3995"/>
              </a:lnSpc>
            </a:pPr>
            <a:r>
              <a:rPr lang="en-US" sz="2853" spc="-57">
                <a:solidFill>
                  <a:srgbClr val="051D40"/>
                </a:solidFill>
                <a:latin typeface="Poppins"/>
                <a:ea typeface="Poppins"/>
                <a:cs typeface="Poppins"/>
                <a:sym typeface="Poppins"/>
              </a:rPr>
              <a:t>Conclusion et perspectives</a:t>
            </a:r>
          </a:p>
          <a:p>
            <a:pPr algn="l">
              <a:lnSpc>
                <a:spcPts val="3995"/>
              </a:lnSpc>
              <a:spcBef>
                <a:spcPct val="0"/>
              </a:spcBef>
            </a:pPr>
          </a:p>
        </p:txBody>
      </p:sp>
      <p:sp>
        <p:nvSpPr>
          <p:cNvPr name="TextBox 24" id="24"/>
          <p:cNvSpPr txBox="true"/>
          <p:nvPr/>
        </p:nvSpPr>
        <p:spPr>
          <a:xfrm rot="0">
            <a:off x="8483149" y="5898715"/>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05</a:t>
            </a:r>
          </a:p>
        </p:txBody>
      </p:sp>
      <p:grpSp>
        <p:nvGrpSpPr>
          <p:cNvPr name="Group 25" id="25"/>
          <p:cNvGrpSpPr/>
          <p:nvPr/>
        </p:nvGrpSpPr>
        <p:grpSpPr>
          <a:xfrm rot="0">
            <a:off x="15967984" y="9020570"/>
            <a:ext cx="6793798" cy="679379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8" id="28"/>
          <p:cNvSpPr txBox="true"/>
          <p:nvPr/>
        </p:nvSpPr>
        <p:spPr>
          <a:xfrm rot="0">
            <a:off x="17769347" y="9356025"/>
            <a:ext cx="518653" cy="17598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21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656283"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007842"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8618101" y="1767991"/>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9144000" y="3541391"/>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9144000" y="5318072"/>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1" id="11"/>
          <p:cNvGrpSpPr/>
          <p:nvPr/>
        </p:nvGrpSpPr>
        <p:grpSpPr>
          <a:xfrm rot="0">
            <a:off x="7905455" y="2656032"/>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8315313" y="4180490"/>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8309460" y="576048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1028700" y="3029639"/>
            <a:ext cx="4463636" cy="5346553"/>
          </a:xfrm>
          <a:custGeom>
            <a:avLst/>
            <a:gdLst/>
            <a:ahLst/>
            <a:cxnLst/>
            <a:rect r="r" b="b" t="t" l="l"/>
            <a:pathLst>
              <a:path h="5346553" w="4463636">
                <a:moveTo>
                  <a:pt x="0" y="0"/>
                </a:moveTo>
                <a:lnTo>
                  <a:pt x="4463636" y="0"/>
                </a:lnTo>
                <a:lnTo>
                  <a:pt x="4463636" y="5346553"/>
                </a:lnTo>
                <a:lnTo>
                  <a:pt x="0" y="5346553"/>
                </a:lnTo>
                <a:lnTo>
                  <a:pt x="0" y="0"/>
                </a:lnTo>
                <a:close/>
              </a:path>
            </a:pathLst>
          </a:custGeom>
          <a:blipFill>
            <a:blip r:embed="rId4"/>
            <a:stretch>
              <a:fillRect l="0" t="0" r="0" b="0"/>
            </a:stretch>
          </a:blipFill>
        </p:spPr>
      </p:sp>
      <p:sp>
        <p:nvSpPr>
          <p:cNvPr name="TextBox 21" id="21"/>
          <p:cNvSpPr txBox="true"/>
          <p:nvPr/>
        </p:nvSpPr>
        <p:spPr>
          <a:xfrm rot="0">
            <a:off x="1028700" y="1814135"/>
            <a:ext cx="6033363" cy="1028700"/>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FDFDFD"/>
                </a:solidFill>
                <a:latin typeface="Open Sans Extra Bold"/>
                <a:ea typeface="Open Sans Extra Bold"/>
                <a:cs typeface="Open Sans Extra Bold"/>
                <a:sym typeface="Open Sans Extra Bold"/>
              </a:rPr>
              <a:t>Introduction</a:t>
            </a:r>
          </a:p>
        </p:txBody>
      </p:sp>
      <p:sp>
        <p:nvSpPr>
          <p:cNvPr name="TextBox 22" id="22"/>
          <p:cNvSpPr txBox="true"/>
          <p:nvPr/>
        </p:nvSpPr>
        <p:spPr>
          <a:xfrm rot="0">
            <a:off x="10423198" y="1938482"/>
            <a:ext cx="5768345" cy="717550"/>
          </a:xfrm>
          <a:prstGeom prst="rect">
            <a:avLst/>
          </a:prstGeom>
        </p:spPr>
        <p:txBody>
          <a:bodyPr anchor="t" rtlCol="false" tIns="0" lIns="0" bIns="0" rIns="0">
            <a:spAutoFit/>
          </a:bodyPr>
          <a:lstStyle/>
          <a:p>
            <a:pPr algn="l">
              <a:lnSpc>
                <a:spcPts val="5599"/>
              </a:lnSpc>
            </a:pPr>
            <a:r>
              <a:rPr lang="en-US" b="true" sz="3999" spc="-79">
                <a:solidFill>
                  <a:srgbClr val="01237D"/>
                </a:solidFill>
                <a:latin typeface="Poppins Bold"/>
                <a:ea typeface="Poppins Bold"/>
                <a:cs typeface="Poppins Bold"/>
                <a:sym typeface="Poppins Bold"/>
              </a:rPr>
              <a:t>Cadre de stage</a:t>
            </a:r>
          </a:p>
        </p:txBody>
      </p:sp>
      <p:sp>
        <p:nvSpPr>
          <p:cNvPr name="TextBox 23" id="23"/>
          <p:cNvSpPr txBox="true"/>
          <p:nvPr/>
        </p:nvSpPr>
        <p:spPr>
          <a:xfrm rot="0">
            <a:off x="8763159" y="2041203"/>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01</a:t>
            </a:r>
          </a:p>
        </p:txBody>
      </p:sp>
      <p:sp>
        <p:nvSpPr>
          <p:cNvPr name="TextBox 24" id="24"/>
          <p:cNvSpPr txBox="true"/>
          <p:nvPr/>
        </p:nvSpPr>
        <p:spPr>
          <a:xfrm rot="0">
            <a:off x="11006406" y="3540234"/>
            <a:ext cx="6570954" cy="2127250"/>
          </a:xfrm>
          <a:prstGeom prst="rect">
            <a:avLst/>
          </a:prstGeom>
        </p:spPr>
        <p:txBody>
          <a:bodyPr anchor="t" rtlCol="false" tIns="0" lIns="0" bIns="0" rIns="0">
            <a:spAutoFit/>
          </a:bodyPr>
          <a:lstStyle/>
          <a:p>
            <a:pPr algn="l">
              <a:lnSpc>
                <a:spcPts val="5599"/>
              </a:lnSpc>
            </a:pPr>
            <a:r>
              <a:rPr lang="en-US" sz="3999" spc="-79" b="true">
                <a:solidFill>
                  <a:srgbClr val="01237D"/>
                </a:solidFill>
                <a:latin typeface="Poppins Bold"/>
                <a:ea typeface="Poppins Bold"/>
                <a:cs typeface="Poppins Bold"/>
                <a:sym typeface="Poppins Bold"/>
              </a:rPr>
              <a:t>Etude de l’existant et Problématique </a:t>
            </a:r>
          </a:p>
          <a:p>
            <a:pPr algn="l">
              <a:lnSpc>
                <a:spcPts val="5599"/>
              </a:lnSpc>
            </a:pPr>
          </a:p>
        </p:txBody>
      </p:sp>
      <p:sp>
        <p:nvSpPr>
          <p:cNvPr name="TextBox 25" id="25"/>
          <p:cNvSpPr txBox="true"/>
          <p:nvPr/>
        </p:nvSpPr>
        <p:spPr>
          <a:xfrm rot="0">
            <a:off x="9289058" y="3814603"/>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02</a:t>
            </a:r>
          </a:p>
        </p:txBody>
      </p:sp>
      <p:sp>
        <p:nvSpPr>
          <p:cNvPr name="TextBox 26" id="26"/>
          <p:cNvSpPr txBox="true"/>
          <p:nvPr/>
        </p:nvSpPr>
        <p:spPr>
          <a:xfrm rot="0">
            <a:off x="11025456" y="5553184"/>
            <a:ext cx="5768345" cy="1422400"/>
          </a:xfrm>
          <a:prstGeom prst="rect">
            <a:avLst/>
          </a:prstGeom>
        </p:spPr>
        <p:txBody>
          <a:bodyPr anchor="t" rtlCol="false" tIns="0" lIns="0" bIns="0" rIns="0">
            <a:spAutoFit/>
          </a:bodyPr>
          <a:lstStyle/>
          <a:p>
            <a:pPr algn="l">
              <a:lnSpc>
                <a:spcPts val="5599"/>
              </a:lnSpc>
            </a:pPr>
            <a:r>
              <a:rPr lang="en-US" sz="3999" spc="-79" b="true">
                <a:solidFill>
                  <a:srgbClr val="01237D"/>
                </a:solidFill>
                <a:latin typeface="Poppins Bold"/>
                <a:ea typeface="Poppins Bold"/>
                <a:cs typeface="Poppins Bold"/>
                <a:sym typeface="Poppins Bold"/>
              </a:rPr>
              <a:t>Solution proposée</a:t>
            </a:r>
          </a:p>
          <a:p>
            <a:pPr algn="l">
              <a:lnSpc>
                <a:spcPts val="5599"/>
              </a:lnSpc>
            </a:pPr>
          </a:p>
        </p:txBody>
      </p:sp>
      <p:sp>
        <p:nvSpPr>
          <p:cNvPr name="TextBox 27" id="27"/>
          <p:cNvSpPr txBox="true"/>
          <p:nvPr/>
        </p:nvSpPr>
        <p:spPr>
          <a:xfrm rot="0">
            <a:off x="9289058" y="5591284"/>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03</a:t>
            </a:r>
          </a:p>
        </p:txBody>
      </p:sp>
      <p:grpSp>
        <p:nvGrpSpPr>
          <p:cNvPr name="Group 28" id="28"/>
          <p:cNvGrpSpPr/>
          <p:nvPr/>
        </p:nvGrpSpPr>
        <p:grpSpPr>
          <a:xfrm rot="0">
            <a:off x="15238003" y="8290589"/>
            <a:ext cx="7523780" cy="752378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1" id="31"/>
          <p:cNvSpPr txBox="true"/>
          <p:nvPr/>
        </p:nvSpPr>
        <p:spPr>
          <a:xfrm rot="0">
            <a:off x="17769347" y="9356025"/>
            <a:ext cx="518653"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8217" y="0"/>
            <a:ext cx="18476217" cy="1028700"/>
            <a:chOff x="0" y="0"/>
            <a:chExt cx="4866164" cy="270933"/>
          </a:xfrm>
        </p:grpSpPr>
        <p:sp>
          <p:nvSpPr>
            <p:cNvPr name="Freeform 3" id="3"/>
            <p:cNvSpPr/>
            <p:nvPr/>
          </p:nvSpPr>
          <p:spPr>
            <a:xfrm flipH="false" flipV="false" rot="0">
              <a:off x="0" y="0"/>
              <a:ext cx="4866164" cy="270933"/>
            </a:xfrm>
            <a:custGeom>
              <a:avLst/>
              <a:gdLst/>
              <a:ahLst/>
              <a:cxnLst/>
              <a:rect r="r" b="b" t="t" l="l"/>
              <a:pathLst>
                <a:path h="270933" w="4866164">
                  <a:moveTo>
                    <a:pt x="0" y="0"/>
                  </a:moveTo>
                  <a:lnTo>
                    <a:pt x="4866164" y="0"/>
                  </a:lnTo>
                  <a:lnTo>
                    <a:pt x="4866164" y="270933"/>
                  </a:lnTo>
                  <a:lnTo>
                    <a:pt x="0" y="270933"/>
                  </a:lnTo>
                  <a:close/>
                </a:path>
              </a:pathLst>
            </a:custGeom>
            <a:solidFill>
              <a:srgbClr val="145DA0"/>
            </a:solidFill>
            <a:ln cap="sq">
              <a:noFill/>
              <a:prstDash val="solid"/>
              <a:miter/>
            </a:ln>
          </p:spPr>
        </p:sp>
        <p:sp>
          <p:nvSpPr>
            <p:cNvPr name="TextBox 4" id="4"/>
            <p:cNvSpPr txBox="true"/>
            <p:nvPr/>
          </p:nvSpPr>
          <p:spPr>
            <a:xfrm>
              <a:off x="0" y="-38100"/>
              <a:ext cx="4866164" cy="3090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2306116" y="2988230"/>
            <a:ext cx="5712352" cy="2985919"/>
            <a:chOff x="0" y="0"/>
            <a:chExt cx="1554965" cy="812800"/>
          </a:xfrm>
        </p:grpSpPr>
        <p:sp>
          <p:nvSpPr>
            <p:cNvPr name="Freeform 6" id="6"/>
            <p:cNvSpPr/>
            <p:nvPr/>
          </p:nvSpPr>
          <p:spPr>
            <a:xfrm flipH="false" flipV="false" rot="0">
              <a:off x="0" y="0"/>
              <a:ext cx="1554965" cy="812800"/>
            </a:xfrm>
            <a:custGeom>
              <a:avLst/>
              <a:gdLst/>
              <a:ahLst/>
              <a:cxnLst/>
              <a:rect r="r" b="b" t="t" l="l"/>
              <a:pathLst>
                <a:path h="812800" w="1554965">
                  <a:moveTo>
                    <a:pt x="31172" y="0"/>
                  </a:moveTo>
                  <a:lnTo>
                    <a:pt x="1523793" y="0"/>
                  </a:lnTo>
                  <a:cubicBezTo>
                    <a:pt x="1532060" y="0"/>
                    <a:pt x="1539989" y="3284"/>
                    <a:pt x="1545835" y="9130"/>
                  </a:cubicBezTo>
                  <a:cubicBezTo>
                    <a:pt x="1551681" y="14976"/>
                    <a:pt x="1554965" y="22905"/>
                    <a:pt x="1554965" y="31172"/>
                  </a:cubicBezTo>
                  <a:lnTo>
                    <a:pt x="1554965" y="781628"/>
                  </a:lnTo>
                  <a:cubicBezTo>
                    <a:pt x="1554965" y="798844"/>
                    <a:pt x="1541009" y="812800"/>
                    <a:pt x="1523793" y="812800"/>
                  </a:cubicBezTo>
                  <a:lnTo>
                    <a:pt x="31172" y="812800"/>
                  </a:lnTo>
                  <a:cubicBezTo>
                    <a:pt x="13956" y="812800"/>
                    <a:pt x="0" y="798844"/>
                    <a:pt x="0" y="781628"/>
                  </a:cubicBezTo>
                  <a:lnTo>
                    <a:pt x="0" y="31172"/>
                  </a:lnTo>
                  <a:cubicBezTo>
                    <a:pt x="0" y="13956"/>
                    <a:pt x="13956" y="0"/>
                    <a:pt x="31172" y="0"/>
                  </a:cubicBezTo>
                  <a:close/>
                </a:path>
              </a:pathLst>
            </a:custGeom>
            <a:blipFill>
              <a:blip r:embed="rId2"/>
              <a:stretch>
                <a:fillRect l="-2271" t="0" r="-2271" b="0"/>
              </a:stretch>
            </a:blipFill>
          </p:spPr>
        </p:sp>
      </p:grpSp>
      <p:sp>
        <p:nvSpPr>
          <p:cNvPr name="TextBox 7" id="7"/>
          <p:cNvSpPr txBox="true"/>
          <p:nvPr/>
        </p:nvSpPr>
        <p:spPr>
          <a:xfrm rot="0">
            <a:off x="0" y="1387754"/>
            <a:ext cx="8369901" cy="1028700"/>
          </a:xfrm>
          <a:prstGeom prst="rect">
            <a:avLst/>
          </a:prstGeom>
        </p:spPr>
        <p:txBody>
          <a:bodyPr anchor="t" rtlCol="false" tIns="0" lIns="0" bIns="0" rIns="0">
            <a:spAutoFit/>
          </a:bodyPr>
          <a:lstStyle/>
          <a:p>
            <a:pPr algn="ctr" marL="0" indent="0" lvl="0">
              <a:lnSpc>
                <a:spcPts val="8400"/>
              </a:lnSpc>
              <a:spcBef>
                <a:spcPct val="0"/>
              </a:spcBef>
            </a:pPr>
            <a:r>
              <a:rPr lang="en-US" sz="6000">
                <a:solidFill>
                  <a:srgbClr val="01237D"/>
                </a:solidFill>
                <a:latin typeface="Open Sans Extra Bold"/>
                <a:ea typeface="Open Sans Extra Bold"/>
                <a:cs typeface="Open Sans Extra Bold"/>
                <a:sym typeface="Open Sans Extra Bold"/>
              </a:rPr>
              <a:t>Cadre de stage</a:t>
            </a:r>
          </a:p>
        </p:txBody>
      </p:sp>
      <p:sp>
        <p:nvSpPr>
          <p:cNvPr name="TextBox 8" id="8"/>
          <p:cNvSpPr txBox="true"/>
          <p:nvPr/>
        </p:nvSpPr>
        <p:spPr>
          <a:xfrm rot="0">
            <a:off x="500303" y="3625206"/>
            <a:ext cx="11528983" cy="2492375"/>
          </a:xfrm>
          <a:prstGeom prst="rect">
            <a:avLst/>
          </a:prstGeom>
        </p:spPr>
        <p:txBody>
          <a:bodyPr anchor="t" rtlCol="false" tIns="0" lIns="0" bIns="0" rIns="0">
            <a:spAutoFit/>
          </a:bodyPr>
          <a:lstStyle/>
          <a:p>
            <a:pPr algn="l">
              <a:lnSpc>
                <a:spcPts val="4900"/>
              </a:lnSpc>
            </a:pPr>
            <a:r>
              <a:rPr lang="en-US" sz="3500" spc="-70">
                <a:solidFill>
                  <a:srgbClr val="010101"/>
                </a:solidFill>
                <a:latin typeface="Poppins"/>
                <a:ea typeface="Poppins"/>
                <a:cs typeface="Poppins"/>
                <a:sym typeface="Poppins"/>
              </a:rPr>
              <a:t>•  Fondée en 1957</a:t>
            </a:r>
          </a:p>
          <a:p>
            <a:pPr algn="l">
              <a:lnSpc>
                <a:spcPts val="4900"/>
              </a:lnSpc>
            </a:pPr>
            <a:r>
              <a:rPr lang="en-US" sz="3500" spc="-70">
                <a:solidFill>
                  <a:srgbClr val="010101"/>
                </a:solidFill>
                <a:latin typeface="Poppins"/>
                <a:ea typeface="Poppins"/>
                <a:cs typeface="Poppins"/>
                <a:sym typeface="Poppins"/>
              </a:rPr>
              <a:t>•  Banque de premier plan en Tunisie</a:t>
            </a:r>
          </a:p>
          <a:p>
            <a:pPr algn="l">
              <a:lnSpc>
                <a:spcPts val="4900"/>
              </a:lnSpc>
            </a:pPr>
            <a:r>
              <a:rPr lang="en-US" sz="3500" spc="-70">
                <a:solidFill>
                  <a:srgbClr val="010101"/>
                </a:solidFill>
                <a:latin typeface="Poppins"/>
                <a:ea typeface="Poppins"/>
                <a:cs typeface="Poppins"/>
                <a:sym typeface="Poppins"/>
              </a:rPr>
              <a:t>•  Services bancaires : dépôts, crédits, gestion d'actifs</a:t>
            </a:r>
          </a:p>
          <a:p>
            <a:pPr algn="l">
              <a:lnSpc>
                <a:spcPts val="4900"/>
              </a:lnSpc>
            </a:pPr>
          </a:p>
        </p:txBody>
      </p:sp>
      <p:sp>
        <p:nvSpPr>
          <p:cNvPr name="TextBox 9" id="9"/>
          <p:cNvSpPr txBox="true"/>
          <p:nvPr/>
        </p:nvSpPr>
        <p:spPr>
          <a:xfrm rot="0">
            <a:off x="0" y="182563"/>
            <a:ext cx="7435606"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FDFDFD"/>
                </a:solidFill>
                <a:latin typeface="Open Sans Extra Bold"/>
                <a:ea typeface="Open Sans Extra Bold"/>
                <a:cs typeface="Open Sans Extra Bold"/>
                <a:sym typeface="Open Sans Extra Bold"/>
              </a:rPr>
              <a:t>Introduction | Cadre de stage</a:t>
            </a:r>
          </a:p>
        </p:txBody>
      </p:sp>
      <p:grpSp>
        <p:nvGrpSpPr>
          <p:cNvPr name="Group 10" id="10"/>
          <p:cNvGrpSpPr/>
          <p:nvPr/>
        </p:nvGrpSpPr>
        <p:grpSpPr>
          <a:xfrm rot="0">
            <a:off x="15238003" y="8290589"/>
            <a:ext cx="7523780" cy="752378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7769347" y="9356025"/>
            <a:ext cx="518653"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8217" y="0"/>
            <a:ext cx="18476217" cy="1028700"/>
            <a:chOff x="0" y="0"/>
            <a:chExt cx="4866164" cy="270933"/>
          </a:xfrm>
        </p:grpSpPr>
        <p:sp>
          <p:nvSpPr>
            <p:cNvPr name="Freeform 3" id="3"/>
            <p:cNvSpPr/>
            <p:nvPr/>
          </p:nvSpPr>
          <p:spPr>
            <a:xfrm flipH="false" flipV="false" rot="0">
              <a:off x="0" y="0"/>
              <a:ext cx="4866164" cy="270933"/>
            </a:xfrm>
            <a:custGeom>
              <a:avLst/>
              <a:gdLst/>
              <a:ahLst/>
              <a:cxnLst/>
              <a:rect r="r" b="b" t="t" l="l"/>
              <a:pathLst>
                <a:path h="270933" w="4866164">
                  <a:moveTo>
                    <a:pt x="0" y="0"/>
                  </a:moveTo>
                  <a:lnTo>
                    <a:pt x="4866164" y="0"/>
                  </a:lnTo>
                  <a:lnTo>
                    <a:pt x="4866164" y="270933"/>
                  </a:lnTo>
                  <a:lnTo>
                    <a:pt x="0" y="270933"/>
                  </a:lnTo>
                  <a:close/>
                </a:path>
              </a:pathLst>
            </a:custGeom>
            <a:solidFill>
              <a:srgbClr val="145DA0"/>
            </a:solidFill>
            <a:ln cap="sq">
              <a:noFill/>
              <a:prstDash val="solid"/>
              <a:miter/>
            </a:ln>
          </p:spPr>
        </p:sp>
        <p:sp>
          <p:nvSpPr>
            <p:cNvPr name="TextBox 4" id="4"/>
            <p:cNvSpPr txBox="true"/>
            <p:nvPr/>
          </p:nvSpPr>
          <p:spPr>
            <a:xfrm>
              <a:off x="0" y="-38100"/>
              <a:ext cx="4866164" cy="3090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5714041" y="8766627"/>
            <a:ext cx="7047741" cy="704774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3044257" y="9322331"/>
            <a:ext cx="11402164" cy="711357"/>
          </a:xfrm>
          <a:custGeom>
            <a:avLst/>
            <a:gdLst/>
            <a:ahLst/>
            <a:cxnLst/>
            <a:rect r="r" b="b" t="t" l="l"/>
            <a:pathLst>
              <a:path h="711357" w="11402164">
                <a:moveTo>
                  <a:pt x="0" y="0"/>
                </a:moveTo>
                <a:lnTo>
                  <a:pt x="11402164" y="0"/>
                </a:lnTo>
                <a:lnTo>
                  <a:pt x="11402164" y="711357"/>
                </a:lnTo>
                <a:lnTo>
                  <a:pt x="0" y="711357"/>
                </a:lnTo>
                <a:lnTo>
                  <a:pt x="0" y="0"/>
                </a:lnTo>
                <a:close/>
              </a:path>
            </a:pathLst>
          </a:custGeom>
          <a:blipFill>
            <a:blip r:embed="rId3"/>
            <a:stretch>
              <a:fillRect l="0" t="-216567" r="0" b="0"/>
            </a:stretch>
          </a:blipFill>
        </p:spPr>
      </p:sp>
      <p:grpSp>
        <p:nvGrpSpPr>
          <p:cNvPr name="Group 9" id="9"/>
          <p:cNvGrpSpPr/>
          <p:nvPr/>
        </p:nvGrpSpPr>
        <p:grpSpPr>
          <a:xfrm rot="0">
            <a:off x="1028700" y="2392320"/>
            <a:ext cx="16491792" cy="3298724"/>
            <a:chOff x="0" y="0"/>
            <a:chExt cx="4343517" cy="868800"/>
          </a:xfrm>
        </p:grpSpPr>
        <p:sp>
          <p:nvSpPr>
            <p:cNvPr name="Freeform 10" id="10"/>
            <p:cNvSpPr/>
            <p:nvPr/>
          </p:nvSpPr>
          <p:spPr>
            <a:xfrm flipH="false" flipV="false" rot="0">
              <a:off x="0" y="0"/>
              <a:ext cx="4343517" cy="868800"/>
            </a:xfrm>
            <a:custGeom>
              <a:avLst/>
              <a:gdLst/>
              <a:ahLst/>
              <a:cxnLst/>
              <a:rect r="r" b="b" t="t" l="l"/>
              <a:pathLst>
                <a:path h="868800" w="4343517">
                  <a:moveTo>
                    <a:pt x="6572" y="0"/>
                  </a:moveTo>
                  <a:lnTo>
                    <a:pt x="4336945" y="0"/>
                  </a:lnTo>
                  <a:cubicBezTo>
                    <a:pt x="4338688" y="0"/>
                    <a:pt x="4340359" y="692"/>
                    <a:pt x="4341592" y="1925"/>
                  </a:cubicBezTo>
                  <a:cubicBezTo>
                    <a:pt x="4342824" y="3157"/>
                    <a:pt x="4343517" y="4829"/>
                    <a:pt x="4343517" y="6572"/>
                  </a:cubicBezTo>
                  <a:lnTo>
                    <a:pt x="4343517" y="862228"/>
                  </a:lnTo>
                  <a:cubicBezTo>
                    <a:pt x="4343517" y="863971"/>
                    <a:pt x="4342824" y="865642"/>
                    <a:pt x="4341592" y="866875"/>
                  </a:cubicBezTo>
                  <a:cubicBezTo>
                    <a:pt x="4340359" y="868107"/>
                    <a:pt x="4338688" y="868800"/>
                    <a:pt x="4336945" y="868800"/>
                  </a:cubicBezTo>
                  <a:lnTo>
                    <a:pt x="6572" y="868800"/>
                  </a:lnTo>
                  <a:cubicBezTo>
                    <a:pt x="4829" y="868800"/>
                    <a:pt x="3157" y="868107"/>
                    <a:pt x="1925" y="866875"/>
                  </a:cubicBezTo>
                  <a:cubicBezTo>
                    <a:pt x="692" y="865642"/>
                    <a:pt x="0" y="863971"/>
                    <a:pt x="0" y="862228"/>
                  </a:cubicBezTo>
                  <a:lnTo>
                    <a:pt x="0" y="6572"/>
                  </a:lnTo>
                  <a:cubicBezTo>
                    <a:pt x="0" y="4829"/>
                    <a:pt x="692" y="3157"/>
                    <a:pt x="1925" y="1925"/>
                  </a:cubicBezTo>
                  <a:cubicBezTo>
                    <a:pt x="3157" y="692"/>
                    <a:pt x="4829" y="0"/>
                    <a:pt x="6572" y="0"/>
                  </a:cubicBezTo>
                  <a:close/>
                </a:path>
              </a:pathLst>
            </a:custGeom>
            <a:solidFill>
              <a:srgbClr val="00569E"/>
            </a:solidFill>
          </p:spPr>
        </p:sp>
        <p:sp>
          <p:nvSpPr>
            <p:cNvPr name="TextBox 11" id="11"/>
            <p:cNvSpPr txBox="true"/>
            <p:nvPr/>
          </p:nvSpPr>
          <p:spPr>
            <a:xfrm>
              <a:off x="0" y="-38100"/>
              <a:ext cx="4343517" cy="9069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294674" y="2474003"/>
            <a:ext cx="2772169" cy="685553"/>
            <a:chOff x="0" y="0"/>
            <a:chExt cx="1013291" cy="250585"/>
          </a:xfrm>
        </p:grpSpPr>
        <p:sp>
          <p:nvSpPr>
            <p:cNvPr name="Freeform 13" id="13"/>
            <p:cNvSpPr/>
            <p:nvPr/>
          </p:nvSpPr>
          <p:spPr>
            <a:xfrm flipH="false" flipV="false" rot="0">
              <a:off x="0" y="0"/>
              <a:ext cx="1013291" cy="250585"/>
            </a:xfrm>
            <a:custGeom>
              <a:avLst/>
              <a:gdLst/>
              <a:ahLst/>
              <a:cxnLst/>
              <a:rect r="r" b="b" t="t" l="l"/>
              <a:pathLst>
                <a:path h="250585" w="1013291">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14" id="14"/>
            <p:cNvSpPr txBox="true"/>
            <p:nvPr/>
          </p:nvSpPr>
          <p:spPr>
            <a:xfrm>
              <a:off x="0" y="-66675"/>
              <a:ext cx="1013291" cy="317260"/>
            </a:xfrm>
            <a:prstGeom prst="rect">
              <a:avLst/>
            </a:prstGeom>
          </p:spPr>
          <p:txBody>
            <a:bodyPr anchor="ctr" rtlCol="false" tIns="0" lIns="0" bIns="0" rIns="0"/>
            <a:lstStyle/>
            <a:p>
              <a:pPr algn="ctr" marL="0" indent="0" lvl="0">
                <a:lnSpc>
                  <a:spcPts val="3480"/>
                </a:lnSpc>
                <a:spcBef>
                  <a:spcPct val="0"/>
                </a:spcBef>
              </a:pPr>
              <a:r>
                <a:rPr lang="en-US" b="true" sz="2486" strike="noStrike" u="none">
                  <a:solidFill>
                    <a:srgbClr val="FFFFFF"/>
                  </a:solidFill>
                  <a:latin typeface="Poppins Bold"/>
                  <a:ea typeface="Poppins Bold"/>
                  <a:cs typeface="Poppins Bold"/>
                  <a:sym typeface="Poppins Bold"/>
                </a:rPr>
                <a:t>Problem 01</a:t>
              </a:r>
            </a:p>
          </p:txBody>
        </p:sp>
      </p:grpSp>
      <p:grpSp>
        <p:nvGrpSpPr>
          <p:cNvPr name="Group 15" id="15"/>
          <p:cNvGrpSpPr/>
          <p:nvPr/>
        </p:nvGrpSpPr>
        <p:grpSpPr>
          <a:xfrm rot="0">
            <a:off x="5498587" y="2392320"/>
            <a:ext cx="2772169" cy="685553"/>
            <a:chOff x="0" y="0"/>
            <a:chExt cx="1013291" cy="250585"/>
          </a:xfrm>
        </p:grpSpPr>
        <p:sp>
          <p:nvSpPr>
            <p:cNvPr name="Freeform 16" id="16"/>
            <p:cNvSpPr/>
            <p:nvPr/>
          </p:nvSpPr>
          <p:spPr>
            <a:xfrm flipH="false" flipV="false" rot="0">
              <a:off x="0" y="0"/>
              <a:ext cx="1013291" cy="250585"/>
            </a:xfrm>
            <a:custGeom>
              <a:avLst/>
              <a:gdLst/>
              <a:ahLst/>
              <a:cxnLst/>
              <a:rect r="r" b="b" t="t" l="l"/>
              <a:pathLst>
                <a:path h="250585" w="1013291">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17" id="17"/>
            <p:cNvSpPr txBox="true"/>
            <p:nvPr/>
          </p:nvSpPr>
          <p:spPr>
            <a:xfrm>
              <a:off x="0" y="-66675"/>
              <a:ext cx="1013291" cy="317260"/>
            </a:xfrm>
            <a:prstGeom prst="rect">
              <a:avLst/>
            </a:prstGeom>
          </p:spPr>
          <p:txBody>
            <a:bodyPr anchor="ctr" rtlCol="false" tIns="0" lIns="0" bIns="0" rIns="0"/>
            <a:lstStyle/>
            <a:p>
              <a:pPr algn="ctr" marL="0" indent="0" lvl="0">
                <a:lnSpc>
                  <a:spcPts val="3480"/>
                </a:lnSpc>
                <a:spcBef>
                  <a:spcPct val="0"/>
                </a:spcBef>
              </a:pPr>
              <a:r>
                <a:rPr lang="en-US" b="true" sz="2486" strike="noStrike" u="none">
                  <a:solidFill>
                    <a:srgbClr val="FFFFFF"/>
                  </a:solidFill>
                  <a:latin typeface="Poppins Bold"/>
                  <a:ea typeface="Poppins Bold"/>
                  <a:cs typeface="Poppins Bold"/>
                  <a:sym typeface="Poppins Bold"/>
                </a:rPr>
                <a:t>Problem 02</a:t>
              </a:r>
            </a:p>
          </p:txBody>
        </p:sp>
      </p:grpSp>
      <p:grpSp>
        <p:nvGrpSpPr>
          <p:cNvPr name="Group 18" id="18"/>
          <p:cNvGrpSpPr/>
          <p:nvPr/>
        </p:nvGrpSpPr>
        <p:grpSpPr>
          <a:xfrm rot="0">
            <a:off x="9702499" y="2392320"/>
            <a:ext cx="2670160" cy="685553"/>
            <a:chOff x="0" y="0"/>
            <a:chExt cx="976004" cy="250585"/>
          </a:xfrm>
        </p:grpSpPr>
        <p:sp>
          <p:nvSpPr>
            <p:cNvPr name="Freeform 19" id="19"/>
            <p:cNvSpPr/>
            <p:nvPr/>
          </p:nvSpPr>
          <p:spPr>
            <a:xfrm flipH="false" flipV="false" rot="0">
              <a:off x="0" y="0"/>
              <a:ext cx="976004" cy="250585"/>
            </a:xfrm>
            <a:custGeom>
              <a:avLst/>
              <a:gdLst/>
              <a:ahLst/>
              <a:cxnLst/>
              <a:rect r="r" b="b" t="t" l="l"/>
              <a:pathLst>
                <a:path h="250585" w="976004">
                  <a:moveTo>
                    <a:pt x="125293" y="0"/>
                  </a:moveTo>
                  <a:lnTo>
                    <a:pt x="850712" y="0"/>
                  </a:lnTo>
                  <a:cubicBezTo>
                    <a:pt x="883941" y="0"/>
                    <a:pt x="915810" y="13200"/>
                    <a:pt x="939307" y="36697"/>
                  </a:cubicBezTo>
                  <a:cubicBezTo>
                    <a:pt x="962804" y="60194"/>
                    <a:pt x="976004" y="92063"/>
                    <a:pt x="976004" y="125293"/>
                  </a:cubicBezTo>
                  <a:lnTo>
                    <a:pt x="976004" y="125293"/>
                  </a:lnTo>
                  <a:cubicBezTo>
                    <a:pt x="976004" y="158522"/>
                    <a:pt x="962804" y="190391"/>
                    <a:pt x="939307" y="213888"/>
                  </a:cubicBezTo>
                  <a:cubicBezTo>
                    <a:pt x="915810" y="237385"/>
                    <a:pt x="883941" y="250585"/>
                    <a:pt x="850712"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0" id="20"/>
            <p:cNvSpPr txBox="true"/>
            <p:nvPr/>
          </p:nvSpPr>
          <p:spPr>
            <a:xfrm>
              <a:off x="0" y="-66675"/>
              <a:ext cx="976004" cy="317260"/>
            </a:xfrm>
            <a:prstGeom prst="rect">
              <a:avLst/>
            </a:prstGeom>
          </p:spPr>
          <p:txBody>
            <a:bodyPr anchor="ctr" rtlCol="false" tIns="0" lIns="0" bIns="0" rIns="0"/>
            <a:lstStyle/>
            <a:p>
              <a:pPr algn="ctr" marL="0" indent="0" lvl="0">
                <a:lnSpc>
                  <a:spcPts val="3480"/>
                </a:lnSpc>
                <a:spcBef>
                  <a:spcPct val="0"/>
                </a:spcBef>
              </a:pPr>
              <a:r>
                <a:rPr lang="en-US" b="true" sz="2486" strike="noStrike" u="none">
                  <a:solidFill>
                    <a:srgbClr val="FFFFFF"/>
                  </a:solidFill>
                  <a:latin typeface="Poppins Bold"/>
                  <a:ea typeface="Poppins Bold"/>
                  <a:cs typeface="Poppins Bold"/>
                  <a:sym typeface="Poppins Bold"/>
                </a:rPr>
                <a:t>Problem 03</a:t>
              </a:r>
            </a:p>
          </p:txBody>
        </p:sp>
      </p:grpSp>
      <p:sp>
        <p:nvSpPr>
          <p:cNvPr name="Freeform 21" id="21"/>
          <p:cNvSpPr/>
          <p:nvPr/>
        </p:nvSpPr>
        <p:spPr>
          <a:xfrm flipH="false" flipV="false" rot="0">
            <a:off x="6930384" y="6888293"/>
            <a:ext cx="3629911" cy="2912513"/>
          </a:xfrm>
          <a:custGeom>
            <a:avLst/>
            <a:gdLst/>
            <a:ahLst/>
            <a:cxnLst/>
            <a:rect r="r" b="b" t="t" l="l"/>
            <a:pathLst>
              <a:path h="2912513" w="3629911">
                <a:moveTo>
                  <a:pt x="0" y="0"/>
                </a:moveTo>
                <a:lnTo>
                  <a:pt x="3629911" y="0"/>
                </a:lnTo>
                <a:lnTo>
                  <a:pt x="3629911" y="2912513"/>
                </a:lnTo>
                <a:lnTo>
                  <a:pt x="0" y="2912513"/>
                </a:lnTo>
                <a:lnTo>
                  <a:pt x="0" y="0"/>
                </a:lnTo>
                <a:close/>
              </a:path>
            </a:pathLst>
          </a:custGeom>
          <a:blipFill>
            <a:blip r:embed="rId4"/>
            <a:stretch>
              <a:fillRect l="0" t="0" r="0" b="0"/>
            </a:stretch>
          </a:blipFill>
        </p:spPr>
      </p:sp>
      <p:sp>
        <p:nvSpPr>
          <p:cNvPr name="TextBox 22" id="22"/>
          <p:cNvSpPr txBox="true"/>
          <p:nvPr/>
        </p:nvSpPr>
        <p:spPr>
          <a:xfrm rot="0">
            <a:off x="432920" y="1432480"/>
            <a:ext cx="15826941" cy="1384300"/>
          </a:xfrm>
          <a:prstGeom prst="rect">
            <a:avLst/>
          </a:prstGeom>
        </p:spPr>
        <p:txBody>
          <a:bodyPr anchor="t" rtlCol="false" tIns="0" lIns="0" bIns="0" rIns="0">
            <a:spAutoFit/>
          </a:bodyPr>
          <a:lstStyle/>
          <a:p>
            <a:pPr algn="l">
              <a:lnSpc>
                <a:spcPts val="5599"/>
              </a:lnSpc>
            </a:pPr>
            <a:r>
              <a:rPr lang="en-US" sz="3999">
                <a:solidFill>
                  <a:srgbClr val="01237D"/>
                </a:solidFill>
                <a:latin typeface="Open Sans Extra Bold"/>
                <a:ea typeface="Open Sans Extra Bold"/>
                <a:cs typeface="Open Sans Extra Bold"/>
                <a:sym typeface="Open Sans Extra Bold"/>
              </a:rPr>
              <a:t>Diagnostic de la solution actuelle </a:t>
            </a:r>
          </a:p>
          <a:p>
            <a:pPr algn="l" marL="0" indent="0" lvl="0">
              <a:lnSpc>
                <a:spcPts val="5599"/>
              </a:lnSpc>
              <a:spcBef>
                <a:spcPct val="0"/>
              </a:spcBef>
            </a:pPr>
          </a:p>
        </p:txBody>
      </p:sp>
      <p:grpSp>
        <p:nvGrpSpPr>
          <p:cNvPr name="Group 23" id="23"/>
          <p:cNvGrpSpPr/>
          <p:nvPr/>
        </p:nvGrpSpPr>
        <p:grpSpPr>
          <a:xfrm rot="0">
            <a:off x="14138833" y="2392320"/>
            <a:ext cx="2670160" cy="685553"/>
            <a:chOff x="0" y="0"/>
            <a:chExt cx="976004" cy="250585"/>
          </a:xfrm>
        </p:grpSpPr>
        <p:sp>
          <p:nvSpPr>
            <p:cNvPr name="Freeform 24" id="24"/>
            <p:cNvSpPr/>
            <p:nvPr/>
          </p:nvSpPr>
          <p:spPr>
            <a:xfrm flipH="false" flipV="false" rot="0">
              <a:off x="0" y="0"/>
              <a:ext cx="976004" cy="250585"/>
            </a:xfrm>
            <a:custGeom>
              <a:avLst/>
              <a:gdLst/>
              <a:ahLst/>
              <a:cxnLst/>
              <a:rect r="r" b="b" t="t" l="l"/>
              <a:pathLst>
                <a:path h="250585" w="976004">
                  <a:moveTo>
                    <a:pt x="125293" y="0"/>
                  </a:moveTo>
                  <a:lnTo>
                    <a:pt x="850712" y="0"/>
                  </a:lnTo>
                  <a:cubicBezTo>
                    <a:pt x="883941" y="0"/>
                    <a:pt x="915810" y="13200"/>
                    <a:pt x="939307" y="36697"/>
                  </a:cubicBezTo>
                  <a:cubicBezTo>
                    <a:pt x="962804" y="60194"/>
                    <a:pt x="976004" y="92063"/>
                    <a:pt x="976004" y="125293"/>
                  </a:cubicBezTo>
                  <a:lnTo>
                    <a:pt x="976004" y="125293"/>
                  </a:lnTo>
                  <a:cubicBezTo>
                    <a:pt x="976004" y="158522"/>
                    <a:pt x="962804" y="190391"/>
                    <a:pt x="939307" y="213888"/>
                  </a:cubicBezTo>
                  <a:cubicBezTo>
                    <a:pt x="915810" y="237385"/>
                    <a:pt x="883941" y="250585"/>
                    <a:pt x="850712"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5" id="25"/>
            <p:cNvSpPr txBox="true"/>
            <p:nvPr/>
          </p:nvSpPr>
          <p:spPr>
            <a:xfrm>
              <a:off x="0" y="-66675"/>
              <a:ext cx="976004" cy="317260"/>
            </a:xfrm>
            <a:prstGeom prst="rect">
              <a:avLst/>
            </a:prstGeom>
          </p:spPr>
          <p:txBody>
            <a:bodyPr anchor="ctr" rtlCol="false" tIns="0" lIns="0" bIns="0" rIns="0"/>
            <a:lstStyle/>
            <a:p>
              <a:pPr algn="ctr" marL="0" indent="0" lvl="0">
                <a:lnSpc>
                  <a:spcPts val="3480"/>
                </a:lnSpc>
                <a:spcBef>
                  <a:spcPct val="0"/>
                </a:spcBef>
              </a:pPr>
              <a:r>
                <a:rPr lang="en-US" b="true" sz="2486" strike="noStrike" u="none">
                  <a:solidFill>
                    <a:srgbClr val="FFFFFF"/>
                  </a:solidFill>
                  <a:latin typeface="Poppins Bold"/>
                  <a:ea typeface="Poppins Bold"/>
                  <a:cs typeface="Poppins Bold"/>
                  <a:sym typeface="Poppins Bold"/>
                </a:rPr>
                <a:t>Problem 04</a:t>
              </a:r>
            </a:p>
          </p:txBody>
        </p:sp>
      </p:grpSp>
      <p:sp>
        <p:nvSpPr>
          <p:cNvPr name="Freeform 26" id="26"/>
          <p:cNvSpPr/>
          <p:nvPr/>
        </p:nvSpPr>
        <p:spPr>
          <a:xfrm flipH="false" flipV="false" rot="0">
            <a:off x="10096952" y="4746541"/>
            <a:ext cx="2589194" cy="1797055"/>
          </a:xfrm>
          <a:custGeom>
            <a:avLst/>
            <a:gdLst/>
            <a:ahLst/>
            <a:cxnLst/>
            <a:rect r="r" b="b" t="t" l="l"/>
            <a:pathLst>
              <a:path h="1797055" w="2589194">
                <a:moveTo>
                  <a:pt x="0" y="0"/>
                </a:moveTo>
                <a:lnTo>
                  <a:pt x="2589194" y="0"/>
                </a:lnTo>
                <a:lnTo>
                  <a:pt x="2589194" y="1797055"/>
                </a:lnTo>
                <a:lnTo>
                  <a:pt x="0" y="1797055"/>
                </a:lnTo>
                <a:lnTo>
                  <a:pt x="0" y="0"/>
                </a:lnTo>
                <a:close/>
              </a:path>
            </a:pathLst>
          </a:custGeom>
          <a:blipFill>
            <a:blip r:embed="rId5"/>
            <a:stretch>
              <a:fillRect l="-3395" t="0" r="-3395" b="-2691"/>
            </a:stretch>
          </a:blipFill>
        </p:spPr>
      </p:sp>
      <p:sp>
        <p:nvSpPr>
          <p:cNvPr name="Freeform 27" id="27"/>
          <p:cNvSpPr/>
          <p:nvPr/>
        </p:nvSpPr>
        <p:spPr>
          <a:xfrm flipH="false" flipV="false" rot="0">
            <a:off x="14161021" y="4803683"/>
            <a:ext cx="2647971" cy="1682772"/>
          </a:xfrm>
          <a:custGeom>
            <a:avLst/>
            <a:gdLst/>
            <a:ahLst/>
            <a:cxnLst/>
            <a:rect r="r" b="b" t="t" l="l"/>
            <a:pathLst>
              <a:path h="1682772" w="2647971">
                <a:moveTo>
                  <a:pt x="0" y="0"/>
                </a:moveTo>
                <a:lnTo>
                  <a:pt x="2647971" y="0"/>
                </a:lnTo>
                <a:lnTo>
                  <a:pt x="2647971" y="1682771"/>
                </a:lnTo>
                <a:lnTo>
                  <a:pt x="0" y="1682771"/>
                </a:lnTo>
                <a:lnTo>
                  <a:pt x="0" y="0"/>
                </a:lnTo>
                <a:close/>
              </a:path>
            </a:pathLst>
          </a:custGeom>
          <a:blipFill>
            <a:blip r:embed="rId6"/>
            <a:stretch>
              <a:fillRect l="-7672" t="-10386" r="-2503" b="-14682"/>
            </a:stretch>
          </a:blipFill>
        </p:spPr>
      </p:sp>
      <p:sp>
        <p:nvSpPr>
          <p:cNvPr name="TextBox 28" id="28"/>
          <p:cNvSpPr txBox="true"/>
          <p:nvPr/>
        </p:nvSpPr>
        <p:spPr>
          <a:xfrm rot="0">
            <a:off x="5212781" y="3344574"/>
            <a:ext cx="3344560" cy="2096334"/>
          </a:xfrm>
          <a:prstGeom prst="rect">
            <a:avLst/>
          </a:prstGeom>
        </p:spPr>
        <p:txBody>
          <a:bodyPr anchor="t" rtlCol="false" tIns="0" lIns="0" bIns="0" rIns="0">
            <a:spAutoFit/>
          </a:bodyPr>
          <a:lstStyle/>
          <a:p>
            <a:pPr algn="ctr">
              <a:lnSpc>
                <a:spcPts val="4154"/>
              </a:lnSpc>
            </a:pPr>
            <a:r>
              <a:rPr lang="en-US" sz="2967" spc="-59">
                <a:solidFill>
                  <a:srgbClr val="FDFDFD"/>
                </a:solidFill>
                <a:latin typeface="Poppins"/>
                <a:ea typeface="Poppins"/>
                <a:cs typeface="Poppins"/>
                <a:sym typeface="Poppins"/>
              </a:rPr>
              <a:t> une architecture de bureau </a:t>
            </a:r>
          </a:p>
          <a:p>
            <a:pPr algn="ctr">
              <a:lnSpc>
                <a:spcPts val="4154"/>
              </a:lnSpc>
            </a:pPr>
          </a:p>
          <a:p>
            <a:pPr algn="ctr" marL="0" indent="0" lvl="0">
              <a:lnSpc>
                <a:spcPts val="4154"/>
              </a:lnSpc>
              <a:spcBef>
                <a:spcPct val="0"/>
              </a:spcBef>
            </a:pPr>
          </a:p>
        </p:txBody>
      </p:sp>
      <p:sp>
        <p:nvSpPr>
          <p:cNvPr name="Freeform 29" id="29"/>
          <p:cNvSpPr/>
          <p:nvPr/>
        </p:nvSpPr>
        <p:spPr>
          <a:xfrm flipH="false" flipV="false" rot="0">
            <a:off x="6136643" y="4922000"/>
            <a:ext cx="1803731" cy="1728302"/>
          </a:xfrm>
          <a:custGeom>
            <a:avLst/>
            <a:gdLst/>
            <a:ahLst/>
            <a:cxnLst/>
            <a:rect r="r" b="b" t="t" l="l"/>
            <a:pathLst>
              <a:path h="1728302" w="1803731">
                <a:moveTo>
                  <a:pt x="0" y="0"/>
                </a:moveTo>
                <a:lnTo>
                  <a:pt x="1803731" y="0"/>
                </a:lnTo>
                <a:lnTo>
                  <a:pt x="1803731" y="1728302"/>
                </a:lnTo>
                <a:lnTo>
                  <a:pt x="0" y="1728302"/>
                </a:lnTo>
                <a:lnTo>
                  <a:pt x="0" y="0"/>
                </a:lnTo>
                <a:close/>
              </a:path>
            </a:pathLst>
          </a:custGeom>
          <a:blipFill>
            <a:blip r:embed="rId7">
              <a:extLst>
                <a:ext uri="{96DAC541-7B7A-43D3-8B79-37D633B846F1}">
                  <asvg:svgBlip xmlns:asvg="http://schemas.microsoft.com/office/drawing/2016/SVG/main" r:embed="rId8"/>
                </a:ext>
              </a:extLst>
            </a:blip>
            <a:stretch>
              <a:fillRect l="-45" t="0" r="-45" b="0"/>
            </a:stretch>
          </a:blipFill>
        </p:spPr>
      </p:sp>
      <p:sp>
        <p:nvSpPr>
          <p:cNvPr name="Freeform 30" id="30"/>
          <p:cNvSpPr/>
          <p:nvPr/>
        </p:nvSpPr>
        <p:spPr>
          <a:xfrm flipH="false" flipV="false" rot="0">
            <a:off x="1957878" y="5110978"/>
            <a:ext cx="1715294" cy="1715294"/>
          </a:xfrm>
          <a:custGeom>
            <a:avLst/>
            <a:gdLst/>
            <a:ahLst/>
            <a:cxnLst/>
            <a:rect r="r" b="b" t="t" l="l"/>
            <a:pathLst>
              <a:path h="1715294" w="1715294">
                <a:moveTo>
                  <a:pt x="0" y="0"/>
                </a:moveTo>
                <a:lnTo>
                  <a:pt x="1715294" y="0"/>
                </a:lnTo>
                <a:lnTo>
                  <a:pt x="1715294" y="1715294"/>
                </a:lnTo>
                <a:lnTo>
                  <a:pt x="0" y="1715294"/>
                </a:lnTo>
                <a:lnTo>
                  <a:pt x="0" y="0"/>
                </a:lnTo>
                <a:close/>
              </a:path>
            </a:pathLst>
          </a:custGeom>
          <a:blipFill>
            <a:blip r:embed="rId9"/>
            <a:stretch>
              <a:fillRect l="0" t="0" r="0" b="0"/>
            </a:stretch>
          </a:blipFill>
        </p:spPr>
      </p:sp>
      <p:sp>
        <p:nvSpPr>
          <p:cNvPr name="TextBox 31" id="31"/>
          <p:cNvSpPr txBox="true"/>
          <p:nvPr/>
        </p:nvSpPr>
        <p:spPr>
          <a:xfrm rot="0">
            <a:off x="134766" y="117895"/>
            <a:ext cx="11391549" cy="1047631"/>
          </a:xfrm>
          <a:prstGeom prst="rect">
            <a:avLst/>
          </a:prstGeom>
        </p:spPr>
        <p:txBody>
          <a:bodyPr anchor="t" rtlCol="false" tIns="0" lIns="0" bIns="0" rIns="0">
            <a:spAutoFit/>
          </a:bodyPr>
          <a:lstStyle/>
          <a:p>
            <a:pPr algn="l">
              <a:lnSpc>
                <a:spcPts val="4206"/>
              </a:lnSpc>
              <a:spcBef>
                <a:spcPct val="0"/>
              </a:spcBef>
            </a:pPr>
            <a:r>
              <a:rPr lang="en-US" b="true" sz="3004">
                <a:solidFill>
                  <a:srgbClr val="FDFDFD"/>
                </a:solidFill>
                <a:latin typeface="Open Sans Extra Bold"/>
                <a:ea typeface="Open Sans Extra Bold"/>
                <a:cs typeface="Open Sans Extra Bold"/>
                <a:sym typeface="Open Sans Extra Bold"/>
              </a:rPr>
              <a:t>Introduction | Etude de l’existant et Problématique </a:t>
            </a:r>
          </a:p>
          <a:p>
            <a:pPr algn="l">
              <a:lnSpc>
                <a:spcPts val="4206"/>
              </a:lnSpc>
              <a:spcBef>
                <a:spcPct val="0"/>
              </a:spcBef>
            </a:pPr>
          </a:p>
        </p:txBody>
      </p:sp>
      <p:sp>
        <p:nvSpPr>
          <p:cNvPr name="TextBox 32" id="32"/>
          <p:cNvSpPr txBox="true"/>
          <p:nvPr/>
        </p:nvSpPr>
        <p:spPr>
          <a:xfrm rot="0">
            <a:off x="1013092" y="3132503"/>
            <a:ext cx="3335334" cy="5212046"/>
          </a:xfrm>
          <a:prstGeom prst="rect">
            <a:avLst/>
          </a:prstGeom>
        </p:spPr>
        <p:txBody>
          <a:bodyPr anchor="t" rtlCol="false" tIns="0" lIns="0" bIns="0" rIns="0">
            <a:spAutoFit/>
          </a:bodyPr>
          <a:lstStyle/>
          <a:p>
            <a:pPr algn="ctr">
              <a:lnSpc>
                <a:spcPts val="4898"/>
              </a:lnSpc>
            </a:pPr>
            <a:r>
              <a:rPr lang="en-US" sz="3499" spc="-69">
                <a:solidFill>
                  <a:srgbClr val="FDFDFD"/>
                </a:solidFill>
                <a:latin typeface="Poppins"/>
                <a:ea typeface="Poppins"/>
                <a:cs typeface="Poppins"/>
                <a:sym typeface="Poppins"/>
              </a:rPr>
              <a:t> Analyses manuelles</a:t>
            </a:r>
          </a:p>
          <a:p>
            <a:pPr algn="ctr">
              <a:lnSpc>
                <a:spcPts val="5263"/>
              </a:lnSpc>
            </a:pPr>
          </a:p>
          <a:p>
            <a:pPr algn="ctr">
              <a:lnSpc>
                <a:spcPts val="5263"/>
              </a:lnSpc>
            </a:pPr>
          </a:p>
          <a:p>
            <a:pPr algn="ctr">
              <a:lnSpc>
                <a:spcPts val="5263"/>
              </a:lnSpc>
            </a:pPr>
          </a:p>
          <a:p>
            <a:pPr algn="ctr">
              <a:lnSpc>
                <a:spcPts val="5263"/>
              </a:lnSpc>
            </a:pPr>
          </a:p>
          <a:p>
            <a:pPr algn="ctr">
              <a:lnSpc>
                <a:spcPts val="5263"/>
              </a:lnSpc>
            </a:pPr>
          </a:p>
          <a:p>
            <a:pPr algn="ctr" marL="0" indent="0" lvl="0">
              <a:lnSpc>
                <a:spcPts val="5263"/>
              </a:lnSpc>
              <a:spcBef>
                <a:spcPct val="0"/>
              </a:spcBef>
            </a:pPr>
          </a:p>
        </p:txBody>
      </p:sp>
      <p:sp>
        <p:nvSpPr>
          <p:cNvPr name="TextBox 33" id="33"/>
          <p:cNvSpPr txBox="true"/>
          <p:nvPr/>
        </p:nvSpPr>
        <p:spPr>
          <a:xfrm rot="0">
            <a:off x="9850782" y="3093053"/>
            <a:ext cx="2661498" cy="1609725"/>
          </a:xfrm>
          <a:prstGeom prst="rect">
            <a:avLst/>
          </a:prstGeom>
        </p:spPr>
        <p:txBody>
          <a:bodyPr anchor="t" rtlCol="false" tIns="0" lIns="0" bIns="0" rIns="0">
            <a:spAutoFit/>
          </a:bodyPr>
          <a:lstStyle/>
          <a:p>
            <a:pPr algn="ctr">
              <a:lnSpc>
                <a:spcPts val="4200"/>
              </a:lnSpc>
            </a:pPr>
            <a:r>
              <a:rPr lang="en-US" sz="3000" spc="-60">
                <a:solidFill>
                  <a:srgbClr val="FDFDFD"/>
                </a:solidFill>
                <a:latin typeface="Poppins"/>
                <a:ea typeface="Poppins"/>
                <a:cs typeface="Poppins"/>
                <a:sym typeface="Poppins"/>
              </a:rPr>
              <a:t>Temps de réponse </a:t>
            </a:r>
          </a:p>
          <a:p>
            <a:pPr algn="ctr" marL="0" indent="0" lvl="0">
              <a:lnSpc>
                <a:spcPts val="4200"/>
              </a:lnSpc>
              <a:spcBef>
                <a:spcPct val="0"/>
              </a:spcBef>
            </a:pPr>
          </a:p>
        </p:txBody>
      </p:sp>
      <p:sp>
        <p:nvSpPr>
          <p:cNvPr name="TextBox 34" id="34"/>
          <p:cNvSpPr txBox="true"/>
          <p:nvPr/>
        </p:nvSpPr>
        <p:spPr>
          <a:xfrm rot="0">
            <a:off x="14147495" y="3073832"/>
            <a:ext cx="2661498" cy="2143125"/>
          </a:xfrm>
          <a:prstGeom prst="rect">
            <a:avLst/>
          </a:prstGeom>
        </p:spPr>
        <p:txBody>
          <a:bodyPr anchor="t" rtlCol="false" tIns="0" lIns="0" bIns="0" rIns="0">
            <a:spAutoFit/>
          </a:bodyPr>
          <a:lstStyle/>
          <a:p>
            <a:pPr algn="ctr">
              <a:lnSpc>
                <a:spcPts val="4200"/>
              </a:lnSpc>
            </a:pPr>
            <a:r>
              <a:rPr lang="en-US" sz="3000" spc="-60">
                <a:solidFill>
                  <a:srgbClr val="FDFDFD"/>
                </a:solidFill>
                <a:latin typeface="Poppins"/>
                <a:ea typeface="Poppins"/>
                <a:cs typeface="Poppins"/>
                <a:sym typeface="Poppins"/>
              </a:rPr>
              <a:t>Coût d'analyse élevé</a:t>
            </a:r>
          </a:p>
          <a:p>
            <a:pPr algn="ctr" marL="0" indent="0" lvl="0">
              <a:lnSpc>
                <a:spcPts val="4200"/>
              </a:lnSpc>
              <a:spcBef>
                <a:spcPct val="0"/>
              </a:spcBef>
            </a:pPr>
          </a:p>
        </p:txBody>
      </p:sp>
      <p:sp>
        <p:nvSpPr>
          <p:cNvPr name="TextBox 35" id="35"/>
          <p:cNvSpPr txBox="true"/>
          <p:nvPr/>
        </p:nvSpPr>
        <p:spPr>
          <a:xfrm rot="0">
            <a:off x="17769347" y="9356025"/>
            <a:ext cx="518653"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52443" y="2305895"/>
            <a:ext cx="5533051" cy="7142057"/>
            <a:chOff x="0" y="0"/>
            <a:chExt cx="1549377" cy="1999935"/>
          </a:xfrm>
        </p:grpSpPr>
        <p:sp>
          <p:nvSpPr>
            <p:cNvPr name="Freeform 3" id="3"/>
            <p:cNvSpPr/>
            <p:nvPr/>
          </p:nvSpPr>
          <p:spPr>
            <a:xfrm flipH="false" flipV="false" rot="0">
              <a:off x="0" y="0"/>
              <a:ext cx="1549377" cy="1999935"/>
            </a:xfrm>
            <a:custGeom>
              <a:avLst/>
              <a:gdLst/>
              <a:ahLst/>
              <a:cxnLst/>
              <a:rect r="r" b="b" t="t" l="l"/>
              <a:pathLst>
                <a:path h="1999935" w="1549377">
                  <a:moveTo>
                    <a:pt x="0" y="0"/>
                  </a:moveTo>
                  <a:lnTo>
                    <a:pt x="1549377" y="0"/>
                  </a:lnTo>
                  <a:lnTo>
                    <a:pt x="1549377" y="1999935"/>
                  </a:lnTo>
                  <a:lnTo>
                    <a:pt x="0" y="1999935"/>
                  </a:lnTo>
                  <a:close/>
                </a:path>
              </a:pathLst>
            </a:custGeom>
            <a:solidFill>
              <a:srgbClr val="145DA0">
                <a:alpha val="95686"/>
              </a:srgbClr>
            </a:solidFill>
            <a:ln cap="sq">
              <a:noFill/>
              <a:prstDash val="solid"/>
              <a:miter/>
            </a:ln>
          </p:spPr>
        </p:sp>
        <p:sp>
          <p:nvSpPr>
            <p:cNvPr name="TextBox 4" id="4"/>
            <p:cNvSpPr txBox="true"/>
            <p:nvPr/>
          </p:nvSpPr>
          <p:spPr>
            <a:xfrm>
              <a:off x="0" y="-38100"/>
              <a:ext cx="1549377" cy="203803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97402" y="8829309"/>
            <a:ext cx="5582885" cy="428991"/>
            <a:chOff x="0" y="0"/>
            <a:chExt cx="1563332" cy="120127"/>
          </a:xfrm>
        </p:grpSpPr>
        <p:sp>
          <p:nvSpPr>
            <p:cNvPr name="Freeform 6" id="6"/>
            <p:cNvSpPr/>
            <p:nvPr/>
          </p:nvSpPr>
          <p:spPr>
            <a:xfrm flipH="false" flipV="false" rot="0">
              <a:off x="0" y="0"/>
              <a:ext cx="1563332" cy="120127"/>
            </a:xfrm>
            <a:custGeom>
              <a:avLst/>
              <a:gdLst/>
              <a:ahLst/>
              <a:cxnLst/>
              <a:rect r="r" b="b" t="t" l="l"/>
              <a:pathLst>
                <a:path h="120127" w="1563332">
                  <a:moveTo>
                    <a:pt x="0" y="0"/>
                  </a:moveTo>
                  <a:lnTo>
                    <a:pt x="1563332" y="0"/>
                  </a:lnTo>
                  <a:lnTo>
                    <a:pt x="1563332" y="120127"/>
                  </a:lnTo>
                  <a:lnTo>
                    <a:pt x="0" y="120127"/>
                  </a:lnTo>
                  <a:close/>
                </a:path>
              </a:pathLst>
            </a:custGeom>
            <a:solidFill>
              <a:srgbClr val="145DA0">
                <a:alpha val="48627"/>
              </a:srgbClr>
            </a:solidFill>
            <a:ln cap="sq">
              <a:noFill/>
              <a:prstDash val="solid"/>
              <a:miter/>
            </a:ln>
          </p:spPr>
        </p:sp>
        <p:sp>
          <p:nvSpPr>
            <p:cNvPr name="TextBox 7" id="7"/>
            <p:cNvSpPr txBox="true"/>
            <p:nvPr/>
          </p:nvSpPr>
          <p:spPr>
            <a:xfrm>
              <a:off x="0" y="-38100"/>
              <a:ext cx="1563332" cy="15822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5238003" y="8290589"/>
            <a:ext cx="7523780" cy="752378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r>
                <a:rPr lang="en-US" sz="1899">
                  <a:solidFill>
                    <a:srgbClr val="000000">
                      <a:alpha val="95686"/>
                    </a:srgbClr>
                  </a:solidFill>
                  <a:latin typeface="Open Sans Extra Bold"/>
                  <a:ea typeface="Open Sans Extra Bold"/>
                  <a:cs typeface="Open Sans Extra Bold"/>
                  <a:sym typeface="Open Sans Extra Bold"/>
                </a:rPr>
                <a:t>21</a:t>
              </a:r>
            </a:p>
            <a:p>
              <a:pPr algn="ctr" marL="0" indent="0" lvl="0">
                <a:lnSpc>
                  <a:spcPts val="2659"/>
                </a:lnSpc>
                <a:spcBef>
                  <a:spcPct val="0"/>
                </a:spcBef>
              </a:pPr>
            </a:p>
          </p:txBody>
        </p:sp>
      </p:grpSp>
      <p:sp>
        <p:nvSpPr>
          <p:cNvPr name="Freeform 11" id="11"/>
          <p:cNvSpPr/>
          <p:nvPr/>
        </p:nvSpPr>
        <p:spPr>
          <a:xfrm flipH="false" flipV="false" rot="0">
            <a:off x="6046429" y="2305895"/>
            <a:ext cx="12241571" cy="7314339"/>
          </a:xfrm>
          <a:custGeom>
            <a:avLst/>
            <a:gdLst/>
            <a:ahLst/>
            <a:cxnLst/>
            <a:rect r="r" b="b" t="t" l="l"/>
            <a:pathLst>
              <a:path h="7314339" w="12241571">
                <a:moveTo>
                  <a:pt x="0" y="0"/>
                </a:moveTo>
                <a:lnTo>
                  <a:pt x="12241571" y="0"/>
                </a:lnTo>
                <a:lnTo>
                  <a:pt x="12241571" y="7314338"/>
                </a:lnTo>
                <a:lnTo>
                  <a:pt x="0" y="7314338"/>
                </a:lnTo>
                <a:lnTo>
                  <a:pt x="0" y="0"/>
                </a:lnTo>
                <a:close/>
              </a:path>
            </a:pathLst>
          </a:custGeom>
          <a:blipFill>
            <a:blip r:embed="rId2"/>
            <a:stretch>
              <a:fillRect l="0" t="0" r="0" b="0"/>
            </a:stretch>
          </a:blipFill>
        </p:spPr>
      </p:sp>
      <p:grpSp>
        <p:nvGrpSpPr>
          <p:cNvPr name="Group 12" id="12"/>
          <p:cNvGrpSpPr/>
          <p:nvPr/>
        </p:nvGrpSpPr>
        <p:grpSpPr>
          <a:xfrm rot="0">
            <a:off x="0" y="0"/>
            <a:ext cx="18288000" cy="1028700"/>
            <a:chOff x="0" y="0"/>
            <a:chExt cx="4816593" cy="270933"/>
          </a:xfrm>
        </p:grpSpPr>
        <p:sp>
          <p:nvSpPr>
            <p:cNvPr name="Freeform 13" id="13"/>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145DA0"/>
            </a:solidFill>
            <a:ln cap="sq">
              <a:noFill/>
              <a:prstDash val="solid"/>
              <a:miter/>
            </a:ln>
          </p:spPr>
        </p:sp>
        <p:sp>
          <p:nvSpPr>
            <p:cNvPr name="TextBox 14" id="14"/>
            <p:cNvSpPr txBox="true"/>
            <p:nvPr/>
          </p:nvSpPr>
          <p:spPr>
            <a:xfrm>
              <a:off x="0" y="-57150"/>
              <a:ext cx="4816593" cy="328083"/>
            </a:xfrm>
            <a:prstGeom prst="rect">
              <a:avLst/>
            </a:prstGeom>
          </p:spPr>
          <p:txBody>
            <a:bodyPr anchor="ctr" rtlCol="false" tIns="50800" lIns="50800" bIns="50800" rIns="50800"/>
            <a:lstStyle/>
            <a:p>
              <a:pPr algn="l" marL="0" indent="0" lvl="0">
                <a:lnSpc>
                  <a:spcPts val="3779"/>
                </a:lnSpc>
                <a:spcBef>
                  <a:spcPct val="0"/>
                </a:spcBef>
              </a:pPr>
              <a:r>
                <a:rPr lang="en-US" sz="2699">
                  <a:solidFill>
                    <a:srgbClr val="FDFDFD"/>
                  </a:solidFill>
                  <a:latin typeface="Open Sans Extra Bold"/>
                  <a:ea typeface="Open Sans Extra Bold"/>
                  <a:cs typeface="Open Sans Extra Bold"/>
                  <a:sym typeface="Open Sans Extra Bold"/>
                </a:rPr>
                <a:t>  Introduction | Etude de l’existant et Problématique</a:t>
              </a:r>
              <a:r>
                <a:rPr lang="en-US" sz="2699">
                  <a:solidFill>
                    <a:srgbClr val="FDFDFD"/>
                  </a:solidFill>
                  <a:latin typeface="Open Sans Extra Bold"/>
                  <a:ea typeface="Open Sans Extra Bold"/>
                  <a:cs typeface="Open Sans Extra Bold"/>
                  <a:sym typeface="Open Sans Extra Bold"/>
                </a:rPr>
                <a:t> </a:t>
              </a:r>
            </a:p>
          </p:txBody>
        </p:sp>
      </p:grpSp>
      <p:graphicFrame>
        <p:nvGraphicFramePr>
          <p:cNvPr name="Table 15" id="15"/>
          <p:cNvGraphicFramePr>
            <a:graphicFrameLocks noGrp="true"/>
          </p:cNvGraphicFramePr>
          <p:nvPr/>
        </p:nvGraphicFramePr>
        <p:xfrm>
          <a:off x="415107" y="2680625"/>
          <a:ext cx="5122146" cy="6267070"/>
        </p:xfrm>
        <a:graphic>
          <a:graphicData uri="http://schemas.openxmlformats.org/drawingml/2006/table">
            <a:tbl>
              <a:tblPr/>
              <a:tblGrid>
                <a:gridCol w="1844029"/>
                <a:gridCol w="1092252"/>
                <a:gridCol w="1103364"/>
                <a:gridCol w="1082501"/>
              </a:tblGrid>
              <a:tr h="1262932">
                <a:tc>
                  <a:txBody>
                    <a:bodyPr anchor="t" rtlCol="false"/>
                    <a:lstStyle/>
                    <a:p>
                      <a:pPr algn="l">
                        <a:lnSpc>
                          <a:spcPts val="2800"/>
                        </a:lnSpc>
                        <a:defRPr/>
                      </a:pPr>
                      <a:r>
                        <a:rPr lang="en-US" sz="2000">
                          <a:solidFill>
                            <a:srgbClr val="FFFFFF"/>
                          </a:solidFill>
                          <a:latin typeface="Poppins"/>
                          <a:ea typeface="Poppins"/>
                          <a:cs typeface="Poppins"/>
                          <a:sym typeface="Poppins"/>
                        </a:rPr>
                        <a:t>Indicateur</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Poppins"/>
                          <a:ea typeface="Poppins"/>
                          <a:cs typeface="Poppins"/>
                          <a:sym typeface="Poppins"/>
                        </a:rPr>
                        <a:t>2021</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Poppins"/>
                          <a:ea typeface="Poppins"/>
                          <a:cs typeface="Poppins"/>
                          <a:sym typeface="Poppins"/>
                        </a:rPr>
                        <a:t>2022</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Poppins"/>
                          <a:ea typeface="Poppins"/>
                          <a:cs typeface="Poppins"/>
                          <a:sym typeface="Poppins"/>
                        </a:rPr>
                        <a:t>2023</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r>
              <a:tr h="2679089">
                <a:tc>
                  <a:txBody>
                    <a:bodyPr anchor="t" rtlCol="false"/>
                    <a:lstStyle/>
                    <a:p>
                      <a:pPr algn="l">
                        <a:lnSpc>
                          <a:spcPts val="2800"/>
                        </a:lnSpc>
                        <a:defRPr/>
                      </a:pPr>
                      <a:r>
                        <a:rPr lang="en-US" sz="2000">
                          <a:solidFill>
                            <a:srgbClr val="FFFFFF"/>
                          </a:solidFill>
                          <a:latin typeface="Poppins"/>
                          <a:ea typeface="Poppins"/>
                          <a:cs typeface="Poppins"/>
                          <a:sym typeface="Poppins"/>
                        </a:rPr>
                        <a:t>Ratio de créances douteuses</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Poppins"/>
                          <a:ea typeface="Poppins"/>
                          <a:cs typeface="Poppins"/>
                          <a:sym typeface="Poppins"/>
                        </a:rPr>
                        <a:t>13.5%</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Poppins"/>
                          <a:ea typeface="Poppins"/>
                          <a:cs typeface="Poppins"/>
                          <a:sym typeface="Poppins"/>
                        </a:rPr>
                        <a:t>14.9%</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c>
                  <a:txBody>
                    <a:bodyPr anchor="t" rtlCol="false"/>
                    <a:lstStyle/>
                    <a:p>
                      <a:pPr algn="l">
                        <a:lnSpc>
                          <a:spcPts val="2800"/>
                        </a:lnSpc>
                        <a:defRPr/>
                      </a:pPr>
                      <a:r>
                        <a:rPr lang="en-US" sz="2000">
                          <a:solidFill>
                            <a:srgbClr val="FDFDFE"/>
                          </a:solidFill>
                          <a:latin typeface="Poppins"/>
                          <a:ea typeface="Poppins"/>
                          <a:cs typeface="Poppins"/>
                          <a:sym typeface="Poppins"/>
                        </a:rPr>
                        <a:t>12.2%</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r>
              <a:tr h="2325049">
                <a:tc>
                  <a:txBody>
                    <a:bodyPr anchor="t" rtlCol="false"/>
                    <a:lstStyle/>
                    <a:p>
                      <a:pPr algn="l">
                        <a:lnSpc>
                          <a:spcPts val="2800"/>
                        </a:lnSpc>
                        <a:defRPr/>
                      </a:pPr>
                      <a:r>
                        <a:rPr lang="en-US" sz="2000">
                          <a:solidFill>
                            <a:srgbClr val="FFFFFF"/>
                          </a:solidFill>
                          <a:latin typeface="Poppins"/>
                          <a:ea typeface="Poppins"/>
                          <a:cs typeface="Poppins"/>
                          <a:sym typeface="Poppins"/>
                        </a:rPr>
                        <a:t>Coût du risque (M TND)</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Poppins"/>
                          <a:ea typeface="Poppins"/>
                          <a:cs typeface="Poppins"/>
                          <a:sym typeface="Poppins"/>
                        </a:rPr>
                        <a:t>146</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Poppins"/>
                          <a:ea typeface="Poppins"/>
                          <a:cs typeface="Poppins"/>
                          <a:sym typeface="Poppins"/>
                        </a:rPr>
                        <a:t>216.4</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Poppins"/>
                          <a:ea typeface="Poppins"/>
                          <a:cs typeface="Poppins"/>
                          <a:sym typeface="Poppins"/>
                        </a:rPr>
                        <a:t>98</a:t>
                      </a:r>
                      <a:endParaRPr lang="en-US" sz="1100"/>
                    </a:p>
                  </a:txBody>
                  <a:tcPr marL="190500" marR="190500" marT="190500" marB="190500" anchor="ctr">
                    <a:lnL cmpd="sng" algn="ctr" cap="flat" w="28575">
                      <a:solidFill>
                        <a:srgbClr val="FDFDFD"/>
                      </a:solidFill>
                      <a:prstDash val="solid"/>
                      <a:round/>
                      <a:headEnd type="none" w="med" len="med"/>
                      <a:tailEnd type="none" w="med" len="med"/>
                    </a:lnL>
                    <a:lnR cmpd="sng" algn="ctr" cap="flat" w="28575">
                      <a:solidFill>
                        <a:srgbClr val="FDFDFD"/>
                      </a:solidFill>
                      <a:prstDash val="solid"/>
                      <a:round/>
                      <a:headEnd type="none" w="med" len="med"/>
                      <a:tailEnd type="none" w="med" len="med"/>
                    </a:lnR>
                    <a:lnT cmpd="sng" algn="ctr" cap="flat" w="28575">
                      <a:solidFill>
                        <a:srgbClr val="FDFDFD"/>
                      </a:solidFill>
                      <a:prstDash val="solid"/>
                      <a:round/>
                      <a:headEnd type="none" w="med" len="med"/>
                      <a:tailEnd type="none" w="med" len="med"/>
                    </a:lnT>
                    <a:lnB cmpd="sng" algn="ctr" cap="flat" w="28575">
                      <a:solidFill>
                        <a:srgbClr val="FDFDFD"/>
                      </a:solidFill>
                      <a:prstDash val="solid"/>
                      <a:round/>
                      <a:headEnd type="none" w="med" len="med"/>
                      <a:tailEnd type="none" w="med" len="med"/>
                    </a:lnB>
                  </a:tcPr>
                </a:tc>
              </a:tr>
            </a:tbl>
          </a:graphicData>
        </a:graphic>
      </p:graphicFrame>
      <p:sp>
        <p:nvSpPr>
          <p:cNvPr name="TextBox 16" id="16"/>
          <p:cNvSpPr txBox="true"/>
          <p:nvPr/>
        </p:nvSpPr>
        <p:spPr>
          <a:xfrm rot="0">
            <a:off x="152443" y="1127927"/>
            <a:ext cx="15826941" cy="679450"/>
          </a:xfrm>
          <a:prstGeom prst="rect">
            <a:avLst/>
          </a:prstGeom>
        </p:spPr>
        <p:txBody>
          <a:bodyPr anchor="t" rtlCol="false" tIns="0" lIns="0" bIns="0" rIns="0">
            <a:spAutoFit/>
          </a:bodyPr>
          <a:lstStyle/>
          <a:p>
            <a:pPr algn="l" marL="0" indent="0" lvl="0">
              <a:lnSpc>
                <a:spcPts val="5599"/>
              </a:lnSpc>
              <a:spcBef>
                <a:spcPct val="0"/>
              </a:spcBef>
            </a:pPr>
            <a:r>
              <a:rPr lang="en-US" sz="3999">
                <a:solidFill>
                  <a:srgbClr val="01237D"/>
                </a:solidFill>
                <a:latin typeface="Open Sans Extra Bold"/>
                <a:ea typeface="Open Sans Extra Bold"/>
                <a:cs typeface="Open Sans Extra Bold"/>
                <a:sym typeface="Open Sans Extra Bold"/>
              </a:rPr>
              <a:t>Analyse des Indicateurs de Risque pour la STB</a:t>
            </a:r>
          </a:p>
        </p:txBody>
      </p:sp>
      <p:sp>
        <p:nvSpPr>
          <p:cNvPr name="TextBox 17" id="17"/>
          <p:cNvSpPr txBox="true"/>
          <p:nvPr/>
        </p:nvSpPr>
        <p:spPr>
          <a:xfrm rot="0">
            <a:off x="17769347" y="9356025"/>
            <a:ext cx="518653"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94705" y="1492960"/>
            <a:ext cx="14586028" cy="8794040"/>
            <a:chOff x="0" y="0"/>
            <a:chExt cx="3841588" cy="2316126"/>
          </a:xfrm>
        </p:grpSpPr>
        <p:sp>
          <p:nvSpPr>
            <p:cNvPr name="Freeform 3" id="3"/>
            <p:cNvSpPr/>
            <p:nvPr/>
          </p:nvSpPr>
          <p:spPr>
            <a:xfrm flipH="false" flipV="false" rot="0">
              <a:off x="0" y="0"/>
              <a:ext cx="3841588" cy="2316126"/>
            </a:xfrm>
            <a:custGeom>
              <a:avLst/>
              <a:gdLst/>
              <a:ahLst/>
              <a:cxnLst/>
              <a:rect r="r" b="b" t="t" l="l"/>
              <a:pathLst>
                <a:path h="2316126" w="3841588">
                  <a:moveTo>
                    <a:pt x="9023" y="0"/>
                  </a:moveTo>
                  <a:lnTo>
                    <a:pt x="3832565" y="0"/>
                  </a:lnTo>
                  <a:cubicBezTo>
                    <a:pt x="3837548" y="0"/>
                    <a:pt x="3841588" y="4040"/>
                    <a:pt x="3841588" y="9023"/>
                  </a:cubicBezTo>
                  <a:lnTo>
                    <a:pt x="3841588" y="2307102"/>
                  </a:lnTo>
                  <a:cubicBezTo>
                    <a:pt x="3841588" y="2312086"/>
                    <a:pt x="3837548" y="2316126"/>
                    <a:pt x="3832565" y="2316126"/>
                  </a:cubicBezTo>
                  <a:lnTo>
                    <a:pt x="9023" y="2316126"/>
                  </a:lnTo>
                  <a:cubicBezTo>
                    <a:pt x="4040" y="2316126"/>
                    <a:pt x="0" y="2312086"/>
                    <a:pt x="0" y="2307102"/>
                  </a:cubicBezTo>
                  <a:lnTo>
                    <a:pt x="0" y="9023"/>
                  </a:lnTo>
                  <a:cubicBezTo>
                    <a:pt x="0" y="4040"/>
                    <a:pt x="4040" y="0"/>
                    <a:pt x="9023" y="0"/>
                  </a:cubicBezTo>
                  <a:close/>
                </a:path>
              </a:pathLst>
            </a:custGeom>
            <a:solidFill>
              <a:srgbClr val="FDFDFD"/>
            </a:solidFill>
          </p:spPr>
        </p:sp>
        <p:sp>
          <p:nvSpPr>
            <p:cNvPr name="TextBox 4" id="4"/>
            <p:cNvSpPr txBox="true"/>
            <p:nvPr/>
          </p:nvSpPr>
          <p:spPr>
            <a:xfrm>
              <a:off x="0" y="-38100"/>
              <a:ext cx="3841588" cy="235422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0" y="0"/>
            <a:ext cx="18288000" cy="1028700"/>
            <a:chOff x="0" y="0"/>
            <a:chExt cx="4816593" cy="270933"/>
          </a:xfrm>
        </p:grpSpPr>
        <p:sp>
          <p:nvSpPr>
            <p:cNvPr name="Freeform 9" id="9"/>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145DA0"/>
            </a:solidFill>
            <a:ln cap="sq">
              <a:noFill/>
              <a:prstDash val="solid"/>
              <a:miter/>
            </a:ln>
          </p:spPr>
        </p:sp>
        <p:sp>
          <p:nvSpPr>
            <p:cNvPr name="TextBox 10" id="10"/>
            <p:cNvSpPr txBox="true"/>
            <p:nvPr/>
          </p:nvSpPr>
          <p:spPr>
            <a:xfrm>
              <a:off x="0" y="-57150"/>
              <a:ext cx="4816593" cy="328083"/>
            </a:xfrm>
            <a:prstGeom prst="rect">
              <a:avLst/>
            </a:prstGeom>
          </p:spPr>
          <p:txBody>
            <a:bodyPr anchor="ctr" rtlCol="false" tIns="50800" lIns="50800" bIns="50800" rIns="50800"/>
            <a:lstStyle/>
            <a:p>
              <a:pPr algn="l" marL="0" indent="0" lvl="0">
                <a:lnSpc>
                  <a:spcPts val="3779"/>
                </a:lnSpc>
                <a:spcBef>
                  <a:spcPct val="0"/>
                </a:spcBef>
              </a:pPr>
              <a:r>
                <a:rPr lang="en-US" sz="2699">
                  <a:solidFill>
                    <a:srgbClr val="FDFDFD"/>
                  </a:solidFill>
                  <a:latin typeface="Open Sans Extra Bold"/>
                  <a:ea typeface="Open Sans Extra Bold"/>
                  <a:cs typeface="Open Sans Extra Bold"/>
                  <a:sym typeface="Open Sans Extra Bold"/>
                </a:rPr>
                <a:t>  Introduction | Solution proposée</a:t>
              </a:r>
            </a:p>
          </p:txBody>
        </p:sp>
      </p:grpSp>
      <p:sp>
        <p:nvSpPr>
          <p:cNvPr name="Freeform 11" id="11"/>
          <p:cNvSpPr/>
          <p:nvPr/>
        </p:nvSpPr>
        <p:spPr>
          <a:xfrm flipH="false" flipV="false" rot="0">
            <a:off x="14120711" y="969907"/>
            <a:ext cx="4509315" cy="9226141"/>
          </a:xfrm>
          <a:custGeom>
            <a:avLst/>
            <a:gdLst/>
            <a:ahLst/>
            <a:cxnLst/>
            <a:rect r="r" b="b" t="t" l="l"/>
            <a:pathLst>
              <a:path h="9226141" w="4509315">
                <a:moveTo>
                  <a:pt x="0" y="0"/>
                </a:moveTo>
                <a:lnTo>
                  <a:pt x="4509314" y="0"/>
                </a:lnTo>
                <a:lnTo>
                  <a:pt x="4509314" y="9226141"/>
                </a:lnTo>
                <a:lnTo>
                  <a:pt x="0" y="9226141"/>
                </a:lnTo>
                <a:lnTo>
                  <a:pt x="0" y="0"/>
                </a:lnTo>
                <a:close/>
              </a:path>
            </a:pathLst>
          </a:custGeom>
          <a:blipFill>
            <a:blip r:embed="rId2"/>
            <a:stretch>
              <a:fillRect l="-75186" t="-17384" r="-63427" b="0"/>
            </a:stretch>
          </a:blipFill>
        </p:spPr>
      </p:sp>
      <p:sp>
        <p:nvSpPr>
          <p:cNvPr name="Freeform 12" id="12"/>
          <p:cNvSpPr/>
          <p:nvPr/>
        </p:nvSpPr>
        <p:spPr>
          <a:xfrm flipH="false" flipV="false" rot="0">
            <a:off x="449447" y="1804826"/>
            <a:ext cx="3047753" cy="2614667"/>
          </a:xfrm>
          <a:custGeom>
            <a:avLst/>
            <a:gdLst/>
            <a:ahLst/>
            <a:cxnLst/>
            <a:rect r="r" b="b" t="t" l="l"/>
            <a:pathLst>
              <a:path h="2614667" w="3047753">
                <a:moveTo>
                  <a:pt x="0" y="0"/>
                </a:moveTo>
                <a:lnTo>
                  <a:pt x="3047754" y="0"/>
                </a:lnTo>
                <a:lnTo>
                  <a:pt x="3047754" y="2614667"/>
                </a:lnTo>
                <a:lnTo>
                  <a:pt x="0" y="2614667"/>
                </a:lnTo>
                <a:lnTo>
                  <a:pt x="0" y="0"/>
                </a:lnTo>
                <a:close/>
              </a:path>
            </a:pathLst>
          </a:custGeom>
          <a:blipFill>
            <a:blip r:embed="rId3"/>
            <a:stretch>
              <a:fillRect l="0" t="-16563" r="0" b="0"/>
            </a:stretch>
          </a:blipFill>
        </p:spPr>
      </p:sp>
      <p:sp>
        <p:nvSpPr>
          <p:cNvPr name="Freeform 13" id="13"/>
          <p:cNvSpPr/>
          <p:nvPr/>
        </p:nvSpPr>
        <p:spPr>
          <a:xfrm flipH="false" flipV="false" rot="0">
            <a:off x="10617935" y="1652661"/>
            <a:ext cx="2821960" cy="2766833"/>
          </a:xfrm>
          <a:custGeom>
            <a:avLst/>
            <a:gdLst/>
            <a:ahLst/>
            <a:cxnLst/>
            <a:rect r="r" b="b" t="t" l="l"/>
            <a:pathLst>
              <a:path h="2766833" w="2821960">
                <a:moveTo>
                  <a:pt x="0" y="0"/>
                </a:moveTo>
                <a:lnTo>
                  <a:pt x="2821960" y="0"/>
                </a:lnTo>
                <a:lnTo>
                  <a:pt x="2821960" y="2766832"/>
                </a:lnTo>
                <a:lnTo>
                  <a:pt x="0" y="2766832"/>
                </a:lnTo>
                <a:lnTo>
                  <a:pt x="0" y="0"/>
                </a:lnTo>
                <a:close/>
              </a:path>
            </a:pathLst>
          </a:custGeom>
          <a:blipFill>
            <a:blip r:embed="rId4"/>
            <a:stretch>
              <a:fillRect l="0" t="0" r="0" b="-1992"/>
            </a:stretch>
          </a:blipFill>
        </p:spPr>
      </p:sp>
      <p:sp>
        <p:nvSpPr>
          <p:cNvPr name="Freeform 14" id="14"/>
          <p:cNvSpPr/>
          <p:nvPr/>
        </p:nvSpPr>
        <p:spPr>
          <a:xfrm flipH="false" flipV="false" rot="0">
            <a:off x="5736327" y="1778249"/>
            <a:ext cx="2923965" cy="2691626"/>
          </a:xfrm>
          <a:custGeom>
            <a:avLst/>
            <a:gdLst/>
            <a:ahLst/>
            <a:cxnLst/>
            <a:rect r="r" b="b" t="t" l="l"/>
            <a:pathLst>
              <a:path h="2691626" w="2923965">
                <a:moveTo>
                  <a:pt x="0" y="0"/>
                </a:moveTo>
                <a:lnTo>
                  <a:pt x="2923965" y="0"/>
                </a:lnTo>
                <a:lnTo>
                  <a:pt x="2923965" y="2691625"/>
                </a:lnTo>
                <a:lnTo>
                  <a:pt x="0" y="2691625"/>
                </a:lnTo>
                <a:lnTo>
                  <a:pt x="0" y="0"/>
                </a:lnTo>
                <a:close/>
              </a:path>
            </a:pathLst>
          </a:custGeom>
          <a:blipFill>
            <a:blip r:embed="rId5"/>
            <a:stretch>
              <a:fillRect l="-629" t="0" r="-629" b="0"/>
            </a:stretch>
          </a:blipFill>
        </p:spPr>
      </p:sp>
      <p:sp>
        <p:nvSpPr>
          <p:cNvPr name="TextBox 15" id="15"/>
          <p:cNvSpPr txBox="true"/>
          <p:nvPr/>
        </p:nvSpPr>
        <p:spPr>
          <a:xfrm rot="0">
            <a:off x="4684929" y="4641324"/>
            <a:ext cx="5026760" cy="941653"/>
          </a:xfrm>
          <a:prstGeom prst="rect">
            <a:avLst/>
          </a:prstGeom>
        </p:spPr>
        <p:txBody>
          <a:bodyPr anchor="t" rtlCol="false" tIns="0" lIns="0" bIns="0" rIns="0">
            <a:spAutoFit/>
          </a:bodyPr>
          <a:lstStyle/>
          <a:p>
            <a:pPr algn="ctr">
              <a:lnSpc>
                <a:spcPts val="3759"/>
              </a:lnSpc>
            </a:pPr>
            <a:r>
              <a:rPr lang="en-US" sz="2685">
                <a:solidFill>
                  <a:srgbClr val="145DA0"/>
                </a:solidFill>
                <a:latin typeface="Open Sans Extra Bold"/>
                <a:ea typeface="Open Sans Extra Bold"/>
                <a:cs typeface="Open Sans Extra Bold"/>
                <a:sym typeface="Open Sans Extra Bold"/>
              </a:rPr>
              <a:t>Modélisation prédictive</a:t>
            </a:r>
          </a:p>
          <a:p>
            <a:pPr algn="ctr">
              <a:lnSpc>
                <a:spcPts val="3759"/>
              </a:lnSpc>
              <a:spcBef>
                <a:spcPct val="0"/>
              </a:spcBef>
            </a:pPr>
          </a:p>
        </p:txBody>
      </p:sp>
      <p:sp>
        <p:nvSpPr>
          <p:cNvPr name="AutoShape 16" id="16"/>
          <p:cNvSpPr/>
          <p:nvPr/>
        </p:nvSpPr>
        <p:spPr>
          <a:xfrm>
            <a:off x="1527473" y="5031709"/>
            <a:ext cx="11102748" cy="111791"/>
          </a:xfrm>
          <a:prstGeom prst="line">
            <a:avLst/>
          </a:prstGeom>
          <a:ln cap="flat" w="38100">
            <a:solidFill>
              <a:srgbClr val="145DA0"/>
            </a:solidFill>
            <a:prstDash val="solid"/>
            <a:headEnd type="arrow" len="sm" w="med"/>
            <a:tailEnd type="arrow" len="sm" w="med"/>
          </a:ln>
        </p:spPr>
      </p:sp>
      <p:sp>
        <p:nvSpPr>
          <p:cNvPr name="AutoShape 17" id="17"/>
          <p:cNvSpPr/>
          <p:nvPr/>
        </p:nvSpPr>
        <p:spPr>
          <a:xfrm flipH="true">
            <a:off x="6853577" y="5143500"/>
            <a:ext cx="0" cy="2382749"/>
          </a:xfrm>
          <a:prstGeom prst="line">
            <a:avLst/>
          </a:prstGeom>
          <a:ln cap="flat" w="38100">
            <a:solidFill>
              <a:srgbClr val="145DA0"/>
            </a:solidFill>
            <a:prstDash val="solid"/>
            <a:headEnd type="arrow" len="sm" w="med"/>
            <a:tailEnd type="none" len="sm" w="sm"/>
          </a:ln>
        </p:spPr>
      </p:sp>
      <p:sp>
        <p:nvSpPr>
          <p:cNvPr name="Freeform 18" id="18"/>
          <p:cNvSpPr/>
          <p:nvPr/>
        </p:nvSpPr>
        <p:spPr>
          <a:xfrm flipH="false" flipV="false" rot="0">
            <a:off x="5962437" y="5814352"/>
            <a:ext cx="1782281" cy="2564433"/>
          </a:xfrm>
          <a:custGeom>
            <a:avLst/>
            <a:gdLst/>
            <a:ahLst/>
            <a:cxnLst/>
            <a:rect r="r" b="b" t="t" l="l"/>
            <a:pathLst>
              <a:path h="2564433" w="1782281">
                <a:moveTo>
                  <a:pt x="0" y="0"/>
                </a:moveTo>
                <a:lnTo>
                  <a:pt x="1782281" y="0"/>
                </a:lnTo>
                <a:lnTo>
                  <a:pt x="1782281" y="2564432"/>
                </a:lnTo>
                <a:lnTo>
                  <a:pt x="0" y="25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799079" y="4566415"/>
            <a:ext cx="2348490" cy="465294"/>
          </a:xfrm>
          <a:prstGeom prst="rect">
            <a:avLst/>
          </a:prstGeom>
        </p:spPr>
        <p:txBody>
          <a:bodyPr anchor="t" rtlCol="false" tIns="0" lIns="0" bIns="0" rIns="0">
            <a:spAutoFit/>
          </a:bodyPr>
          <a:lstStyle/>
          <a:p>
            <a:pPr algn="ctr">
              <a:lnSpc>
                <a:spcPts val="3759"/>
              </a:lnSpc>
              <a:spcBef>
                <a:spcPct val="0"/>
              </a:spcBef>
            </a:pPr>
            <a:r>
              <a:rPr lang="en-US" sz="2685">
                <a:solidFill>
                  <a:srgbClr val="145DA0"/>
                </a:solidFill>
                <a:latin typeface="Open Sans Extra Bold"/>
                <a:ea typeface="Open Sans Extra Bold"/>
                <a:cs typeface="Open Sans Extra Bold"/>
                <a:sym typeface="Open Sans Extra Bold"/>
              </a:rPr>
              <a:t>Automatiser</a:t>
            </a:r>
          </a:p>
        </p:txBody>
      </p:sp>
      <p:sp>
        <p:nvSpPr>
          <p:cNvPr name="TextBox 20" id="20"/>
          <p:cNvSpPr txBox="true"/>
          <p:nvPr/>
        </p:nvSpPr>
        <p:spPr>
          <a:xfrm rot="0">
            <a:off x="9867979" y="4566415"/>
            <a:ext cx="4664074" cy="465294"/>
          </a:xfrm>
          <a:prstGeom prst="rect">
            <a:avLst/>
          </a:prstGeom>
        </p:spPr>
        <p:txBody>
          <a:bodyPr anchor="t" rtlCol="false" tIns="0" lIns="0" bIns="0" rIns="0">
            <a:spAutoFit/>
          </a:bodyPr>
          <a:lstStyle/>
          <a:p>
            <a:pPr algn="ctr">
              <a:lnSpc>
                <a:spcPts val="3759"/>
              </a:lnSpc>
              <a:spcBef>
                <a:spcPct val="0"/>
              </a:spcBef>
            </a:pPr>
            <a:r>
              <a:rPr lang="en-US" sz="2685">
                <a:solidFill>
                  <a:srgbClr val="145DA0"/>
                </a:solidFill>
                <a:latin typeface="Open Sans Extra Bold"/>
                <a:ea typeface="Open Sans Extra Bold"/>
                <a:cs typeface="Open Sans Extra Bold"/>
                <a:sym typeface="Open Sans Extra Bold"/>
              </a:rPr>
              <a:t>améliorer les décisions</a:t>
            </a:r>
          </a:p>
        </p:txBody>
      </p:sp>
      <p:grpSp>
        <p:nvGrpSpPr>
          <p:cNvPr name="Group 21" id="21"/>
          <p:cNvGrpSpPr/>
          <p:nvPr/>
        </p:nvGrpSpPr>
        <p:grpSpPr>
          <a:xfrm rot="0">
            <a:off x="15979215" y="9031800"/>
            <a:ext cx="6782568" cy="678256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4" id="24"/>
          <p:cNvSpPr txBox="true"/>
          <p:nvPr/>
        </p:nvSpPr>
        <p:spPr>
          <a:xfrm rot="0">
            <a:off x="17769347" y="9356025"/>
            <a:ext cx="518653"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656283"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007842"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9144000" y="3541391"/>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9144000" y="5318072"/>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0" id="10"/>
          <p:cNvGrpSpPr/>
          <p:nvPr/>
        </p:nvGrpSpPr>
        <p:grpSpPr>
          <a:xfrm rot="0">
            <a:off x="8315313" y="4180490"/>
            <a:ext cx="373607" cy="37360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2" id="12"/>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3" id="13"/>
          <p:cNvGrpSpPr/>
          <p:nvPr/>
        </p:nvGrpSpPr>
        <p:grpSpPr>
          <a:xfrm rot="0">
            <a:off x="8309460" y="5760481"/>
            <a:ext cx="373607" cy="37360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5" id="15"/>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16" id="16"/>
          <p:cNvSpPr/>
          <p:nvPr/>
        </p:nvSpPr>
        <p:spPr>
          <a:xfrm flipH="false" flipV="false" rot="0">
            <a:off x="933118" y="3654534"/>
            <a:ext cx="4171925" cy="4997141"/>
          </a:xfrm>
          <a:custGeom>
            <a:avLst/>
            <a:gdLst/>
            <a:ahLst/>
            <a:cxnLst/>
            <a:rect r="r" b="b" t="t" l="l"/>
            <a:pathLst>
              <a:path h="4997141" w="4171925">
                <a:moveTo>
                  <a:pt x="0" y="0"/>
                </a:moveTo>
                <a:lnTo>
                  <a:pt x="4171925" y="0"/>
                </a:lnTo>
                <a:lnTo>
                  <a:pt x="4171925" y="4997141"/>
                </a:lnTo>
                <a:lnTo>
                  <a:pt x="0" y="4997141"/>
                </a:lnTo>
                <a:lnTo>
                  <a:pt x="0" y="0"/>
                </a:lnTo>
                <a:close/>
              </a:path>
            </a:pathLst>
          </a:custGeom>
          <a:blipFill>
            <a:blip r:embed="rId4"/>
            <a:stretch>
              <a:fillRect l="0" t="0" r="0" b="0"/>
            </a:stretch>
          </a:blipFill>
        </p:spPr>
      </p:sp>
      <p:sp>
        <p:nvSpPr>
          <p:cNvPr name="TextBox 17" id="17"/>
          <p:cNvSpPr txBox="true"/>
          <p:nvPr/>
        </p:nvSpPr>
        <p:spPr>
          <a:xfrm rot="0">
            <a:off x="256892" y="778112"/>
            <a:ext cx="7210413" cy="3775985"/>
          </a:xfrm>
          <a:prstGeom prst="rect">
            <a:avLst/>
          </a:prstGeom>
        </p:spPr>
        <p:txBody>
          <a:bodyPr anchor="t" rtlCol="false" tIns="0" lIns="0" bIns="0" rIns="0">
            <a:spAutoFit/>
          </a:bodyPr>
          <a:lstStyle/>
          <a:p>
            <a:pPr algn="just">
              <a:lnSpc>
                <a:spcPts val="10038"/>
              </a:lnSpc>
            </a:pPr>
            <a:r>
              <a:rPr lang="en-US" sz="7170">
                <a:solidFill>
                  <a:srgbClr val="FDFDFD"/>
                </a:solidFill>
                <a:latin typeface="Open Sans Extra Bold"/>
                <a:ea typeface="Open Sans Extra Bold"/>
                <a:cs typeface="Open Sans Extra Bold"/>
                <a:sym typeface="Open Sans Extra Bold"/>
              </a:rPr>
              <a:t>Spécification des Besoins</a:t>
            </a:r>
          </a:p>
          <a:p>
            <a:pPr algn="just" marL="0" indent="0" lvl="0">
              <a:lnSpc>
                <a:spcPts val="10038"/>
              </a:lnSpc>
              <a:spcBef>
                <a:spcPct val="0"/>
              </a:spcBef>
            </a:pPr>
          </a:p>
        </p:txBody>
      </p:sp>
      <p:sp>
        <p:nvSpPr>
          <p:cNvPr name="TextBox 18" id="18"/>
          <p:cNvSpPr txBox="true"/>
          <p:nvPr/>
        </p:nvSpPr>
        <p:spPr>
          <a:xfrm rot="0">
            <a:off x="11006406" y="3540234"/>
            <a:ext cx="6570954" cy="1422400"/>
          </a:xfrm>
          <a:prstGeom prst="rect">
            <a:avLst/>
          </a:prstGeom>
        </p:spPr>
        <p:txBody>
          <a:bodyPr anchor="t" rtlCol="false" tIns="0" lIns="0" bIns="0" rIns="0">
            <a:spAutoFit/>
          </a:bodyPr>
          <a:lstStyle/>
          <a:p>
            <a:pPr algn="l">
              <a:lnSpc>
                <a:spcPts val="5599"/>
              </a:lnSpc>
            </a:pPr>
            <a:r>
              <a:rPr lang="en-US" sz="3999" spc="-79" b="true">
                <a:solidFill>
                  <a:srgbClr val="01237D"/>
                </a:solidFill>
                <a:latin typeface="Poppins Bold"/>
                <a:ea typeface="Poppins Bold"/>
                <a:cs typeface="Poppins Bold"/>
                <a:sym typeface="Poppins Bold"/>
              </a:rPr>
              <a:t>Les Besoins Fonctionnels </a:t>
            </a:r>
          </a:p>
          <a:p>
            <a:pPr algn="l">
              <a:lnSpc>
                <a:spcPts val="5599"/>
              </a:lnSpc>
            </a:pPr>
          </a:p>
        </p:txBody>
      </p:sp>
      <p:sp>
        <p:nvSpPr>
          <p:cNvPr name="TextBox 19" id="19"/>
          <p:cNvSpPr txBox="true"/>
          <p:nvPr/>
        </p:nvSpPr>
        <p:spPr>
          <a:xfrm rot="0">
            <a:off x="9289058" y="3814603"/>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01</a:t>
            </a:r>
          </a:p>
        </p:txBody>
      </p:sp>
      <p:sp>
        <p:nvSpPr>
          <p:cNvPr name="TextBox 20" id="20"/>
          <p:cNvSpPr txBox="true"/>
          <p:nvPr/>
        </p:nvSpPr>
        <p:spPr>
          <a:xfrm rot="0">
            <a:off x="11025456" y="5553184"/>
            <a:ext cx="5768345" cy="1422400"/>
          </a:xfrm>
          <a:prstGeom prst="rect">
            <a:avLst/>
          </a:prstGeom>
        </p:spPr>
        <p:txBody>
          <a:bodyPr anchor="t" rtlCol="false" tIns="0" lIns="0" bIns="0" rIns="0">
            <a:spAutoFit/>
          </a:bodyPr>
          <a:lstStyle/>
          <a:p>
            <a:pPr algn="l">
              <a:lnSpc>
                <a:spcPts val="5599"/>
              </a:lnSpc>
            </a:pPr>
            <a:r>
              <a:rPr lang="en-US" b="true" sz="3999" spc="-79">
                <a:solidFill>
                  <a:srgbClr val="01237D"/>
                </a:solidFill>
                <a:latin typeface="Poppins Bold"/>
                <a:ea typeface="Poppins Bold"/>
                <a:cs typeface="Poppins Bold"/>
                <a:sym typeface="Poppins Bold"/>
              </a:rPr>
              <a:t>Les Besoins Non Fonctionnels</a:t>
            </a:r>
          </a:p>
        </p:txBody>
      </p:sp>
      <p:sp>
        <p:nvSpPr>
          <p:cNvPr name="TextBox 21" id="21"/>
          <p:cNvSpPr txBox="true"/>
          <p:nvPr/>
        </p:nvSpPr>
        <p:spPr>
          <a:xfrm rot="0">
            <a:off x="9289058" y="5591284"/>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02</a:t>
            </a:r>
          </a:p>
        </p:txBody>
      </p:sp>
      <p:grpSp>
        <p:nvGrpSpPr>
          <p:cNvPr name="Group 22" id="22"/>
          <p:cNvGrpSpPr/>
          <p:nvPr/>
        </p:nvGrpSpPr>
        <p:grpSpPr>
          <a:xfrm rot="0">
            <a:off x="15238003" y="8290589"/>
            <a:ext cx="7523780" cy="752378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5" id="25"/>
          <p:cNvSpPr txBox="true"/>
          <p:nvPr/>
        </p:nvSpPr>
        <p:spPr>
          <a:xfrm rot="0">
            <a:off x="17769347" y="9356025"/>
            <a:ext cx="518653"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4816593" cy="270933"/>
          </a:xfrm>
        </p:grpSpPr>
        <p:sp>
          <p:nvSpPr>
            <p:cNvPr name="Freeform 3" id="3"/>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145DA0"/>
            </a:solidFill>
            <a:ln cap="sq">
              <a:noFill/>
              <a:prstDash val="solid"/>
              <a:miter/>
            </a:ln>
          </p:spPr>
        </p:sp>
        <p:sp>
          <p:nvSpPr>
            <p:cNvPr name="TextBox 4" id="4"/>
            <p:cNvSpPr txBox="true"/>
            <p:nvPr/>
          </p:nvSpPr>
          <p:spPr>
            <a:xfrm>
              <a:off x="0" y="-57150"/>
              <a:ext cx="4816593" cy="328083"/>
            </a:xfrm>
            <a:prstGeom prst="rect">
              <a:avLst/>
            </a:prstGeom>
          </p:spPr>
          <p:txBody>
            <a:bodyPr anchor="ctr" rtlCol="false" tIns="50800" lIns="50800" bIns="50800" rIns="50800"/>
            <a:lstStyle/>
            <a:p>
              <a:pPr algn="l" marL="0" indent="0" lvl="0">
                <a:lnSpc>
                  <a:spcPts val="3779"/>
                </a:lnSpc>
                <a:spcBef>
                  <a:spcPct val="0"/>
                </a:spcBef>
              </a:pPr>
              <a:r>
                <a:rPr lang="en-US" sz="2699">
                  <a:solidFill>
                    <a:srgbClr val="FDFDFD"/>
                  </a:solidFill>
                  <a:latin typeface="Open Sans Extra Bold"/>
                  <a:ea typeface="Open Sans Extra Bold"/>
                  <a:cs typeface="Open Sans Extra Bold"/>
                  <a:sym typeface="Open Sans Extra Bold"/>
                </a:rPr>
                <a:t>  Spécification Des Besoins| Besoins Fonctionnels</a:t>
              </a:r>
            </a:p>
          </p:txBody>
        </p:sp>
      </p:grpSp>
      <p:sp>
        <p:nvSpPr>
          <p:cNvPr name="Freeform 5" id="5"/>
          <p:cNvSpPr/>
          <p:nvPr/>
        </p:nvSpPr>
        <p:spPr>
          <a:xfrm flipH="false" flipV="false" rot="1313163">
            <a:off x="-4261137" y="6573910"/>
            <a:ext cx="9085628" cy="5368780"/>
          </a:xfrm>
          <a:custGeom>
            <a:avLst/>
            <a:gdLst/>
            <a:ahLst/>
            <a:cxnLst/>
            <a:rect r="r" b="b" t="t" l="l"/>
            <a:pathLst>
              <a:path h="5368780" w="9085628">
                <a:moveTo>
                  <a:pt x="0" y="0"/>
                </a:moveTo>
                <a:lnTo>
                  <a:pt x="9085628" y="0"/>
                </a:lnTo>
                <a:lnTo>
                  <a:pt x="9085628" y="5368780"/>
                </a:lnTo>
                <a:lnTo>
                  <a:pt x="0" y="5368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51887" y="5944373"/>
            <a:ext cx="4319810" cy="426581"/>
          </a:xfrm>
          <a:custGeom>
            <a:avLst/>
            <a:gdLst/>
            <a:ahLst/>
            <a:cxnLst/>
            <a:rect r="r" b="b" t="t" l="l"/>
            <a:pathLst>
              <a:path h="426581" w="4319810">
                <a:moveTo>
                  <a:pt x="0" y="0"/>
                </a:moveTo>
                <a:lnTo>
                  <a:pt x="4319810" y="0"/>
                </a:lnTo>
                <a:lnTo>
                  <a:pt x="4319810" y="426581"/>
                </a:lnTo>
                <a:lnTo>
                  <a:pt x="0" y="426581"/>
                </a:lnTo>
                <a:lnTo>
                  <a:pt x="0" y="0"/>
                </a:lnTo>
                <a:close/>
              </a:path>
            </a:pathLst>
          </a:custGeom>
          <a:blipFill>
            <a:blip r:embed="rId4"/>
            <a:stretch>
              <a:fillRect l="0" t="-99999" r="0" b="0"/>
            </a:stretch>
          </a:blipFill>
        </p:spPr>
      </p:sp>
      <p:sp>
        <p:nvSpPr>
          <p:cNvPr name="Freeform 7" id="7"/>
          <p:cNvSpPr/>
          <p:nvPr/>
        </p:nvSpPr>
        <p:spPr>
          <a:xfrm flipH="false" flipV="false" rot="0">
            <a:off x="4817018" y="5965653"/>
            <a:ext cx="4104316" cy="405301"/>
          </a:xfrm>
          <a:custGeom>
            <a:avLst/>
            <a:gdLst/>
            <a:ahLst/>
            <a:cxnLst/>
            <a:rect r="r" b="b" t="t" l="l"/>
            <a:pathLst>
              <a:path h="405301" w="4104316">
                <a:moveTo>
                  <a:pt x="0" y="0"/>
                </a:moveTo>
                <a:lnTo>
                  <a:pt x="4104316" y="0"/>
                </a:lnTo>
                <a:lnTo>
                  <a:pt x="4104316" y="405301"/>
                </a:lnTo>
                <a:lnTo>
                  <a:pt x="0" y="405301"/>
                </a:lnTo>
                <a:lnTo>
                  <a:pt x="0" y="0"/>
                </a:lnTo>
                <a:close/>
              </a:path>
            </a:pathLst>
          </a:custGeom>
          <a:blipFill>
            <a:blip r:embed="rId4"/>
            <a:stretch>
              <a:fillRect l="0" t="-99999" r="0" b="0"/>
            </a:stretch>
          </a:blipFill>
        </p:spPr>
      </p:sp>
      <p:sp>
        <p:nvSpPr>
          <p:cNvPr name="Freeform 8" id="8"/>
          <p:cNvSpPr/>
          <p:nvPr/>
        </p:nvSpPr>
        <p:spPr>
          <a:xfrm flipH="false" flipV="false" rot="0">
            <a:off x="8477503" y="5998610"/>
            <a:ext cx="3770582" cy="372345"/>
          </a:xfrm>
          <a:custGeom>
            <a:avLst/>
            <a:gdLst/>
            <a:ahLst/>
            <a:cxnLst/>
            <a:rect r="r" b="b" t="t" l="l"/>
            <a:pathLst>
              <a:path h="372345" w="3770582">
                <a:moveTo>
                  <a:pt x="0" y="0"/>
                </a:moveTo>
                <a:lnTo>
                  <a:pt x="3770582" y="0"/>
                </a:lnTo>
                <a:lnTo>
                  <a:pt x="3770582" y="372344"/>
                </a:lnTo>
                <a:lnTo>
                  <a:pt x="0" y="372344"/>
                </a:lnTo>
                <a:lnTo>
                  <a:pt x="0" y="0"/>
                </a:lnTo>
                <a:close/>
              </a:path>
            </a:pathLst>
          </a:custGeom>
          <a:blipFill>
            <a:blip r:embed="rId4"/>
            <a:stretch>
              <a:fillRect l="0" t="-99999" r="0" b="0"/>
            </a:stretch>
          </a:blipFill>
        </p:spPr>
      </p:sp>
      <p:grpSp>
        <p:nvGrpSpPr>
          <p:cNvPr name="Group 9" id="9"/>
          <p:cNvGrpSpPr/>
          <p:nvPr/>
        </p:nvGrpSpPr>
        <p:grpSpPr>
          <a:xfrm rot="0">
            <a:off x="1050502" y="3285945"/>
            <a:ext cx="3322579" cy="2658428"/>
            <a:chOff x="0" y="0"/>
            <a:chExt cx="875083" cy="700162"/>
          </a:xfrm>
        </p:grpSpPr>
        <p:sp>
          <p:nvSpPr>
            <p:cNvPr name="Freeform 10" id="10"/>
            <p:cNvSpPr/>
            <p:nvPr/>
          </p:nvSpPr>
          <p:spPr>
            <a:xfrm flipH="false" flipV="false" rot="0">
              <a:off x="0" y="0"/>
              <a:ext cx="875083" cy="700162"/>
            </a:xfrm>
            <a:custGeom>
              <a:avLst/>
              <a:gdLst/>
              <a:ahLst/>
              <a:cxnLst/>
              <a:rect r="r" b="b" t="t" l="l"/>
              <a:pathLst>
                <a:path h="700162" w="875083">
                  <a:moveTo>
                    <a:pt x="0" y="0"/>
                  </a:moveTo>
                  <a:lnTo>
                    <a:pt x="875083" y="0"/>
                  </a:lnTo>
                  <a:lnTo>
                    <a:pt x="875083" y="700162"/>
                  </a:lnTo>
                  <a:lnTo>
                    <a:pt x="0" y="700162"/>
                  </a:lnTo>
                  <a:close/>
                </a:path>
              </a:pathLst>
            </a:custGeom>
            <a:solidFill>
              <a:srgbClr val="CFF4FF"/>
            </a:solidFill>
            <a:ln w="19050" cap="sq">
              <a:solidFill>
                <a:srgbClr val="FFFFFF"/>
              </a:solidFill>
              <a:prstDash val="solid"/>
              <a:miter/>
            </a:ln>
          </p:spPr>
        </p:sp>
        <p:sp>
          <p:nvSpPr>
            <p:cNvPr name="TextBox 11" id="11"/>
            <p:cNvSpPr txBox="true"/>
            <p:nvPr/>
          </p:nvSpPr>
          <p:spPr>
            <a:xfrm>
              <a:off x="0" y="-38100"/>
              <a:ext cx="875083" cy="738262"/>
            </a:xfrm>
            <a:prstGeom prst="rect">
              <a:avLst/>
            </a:prstGeom>
          </p:spPr>
          <p:txBody>
            <a:bodyPr anchor="ctr" rtlCol="false" tIns="50800" lIns="50800" bIns="50800" rIns="50800"/>
            <a:lstStyle/>
            <a:p>
              <a:pPr algn="ctr">
                <a:lnSpc>
                  <a:spcPts val="2605"/>
                </a:lnSpc>
              </a:pPr>
            </a:p>
          </p:txBody>
        </p:sp>
      </p:grpSp>
      <p:sp>
        <p:nvSpPr>
          <p:cNvPr name="Freeform 12" id="12"/>
          <p:cNvSpPr/>
          <p:nvPr/>
        </p:nvSpPr>
        <p:spPr>
          <a:xfrm flipH="false" flipV="false" rot="1313163">
            <a:off x="14330817" y="-1655690"/>
            <a:ext cx="9085628" cy="5368780"/>
          </a:xfrm>
          <a:custGeom>
            <a:avLst/>
            <a:gdLst/>
            <a:ahLst/>
            <a:cxnLst/>
            <a:rect r="r" b="b" t="t" l="l"/>
            <a:pathLst>
              <a:path h="5368780" w="9085628">
                <a:moveTo>
                  <a:pt x="0" y="0"/>
                </a:moveTo>
                <a:lnTo>
                  <a:pt x="9085629" y="0"/>
                </a:lnTo>
                <a:lnTo>
                  <a:pt x="9085629" y="5368780"/>
                </a:lnTo>
                <a:lnTo>
                  <a:pt x="0" y="53687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1050502" y="5035893"/>
            <a:ext cx="3432147" cy="785622"/>
          </a:xfrm>
          <a:prstGeom prst="rect">
            <a:avLst/>
          </a:prstGeom>
        </p:spPr>
        <p:txBody>
          <a:bodyPr anchor="t" rtlCol="false" tIns="0" lIns="0" bIns="0" rIns="0">
            <a:spAutoFit/>
          </a:bodyPr>
          <a:lstStyle/>
          <a:p>
            <a:pPr algn="ctr" marL="0" indent="0" lvl="0">
              <a:lnSpc>
                <a:spcPts val="3174"/>
              </a:lnSpc>
              <a:spcBef>
                <a:spcPct val="0"/>
              </a:spcBef>
            </a:pPr>
            <a:r>
              <a:rPr lang="en-US" b="true" sz="2300">
                <a:solidFill>
                  <a:srgbClr val="0071C9"/>
                </a:solidFill>
                <a:latin typeface="DM Sans Bold"/>
                <a:ea typeface="DM Sans Bold"/>
                <a:cs typeface="DM Sans Bold"/>
                <a:sym typeface="DM Sans Bold"/>
              </a:rPr>
              <a:t>Validation avancée des données</a:t>
            </a:r>
          </a:p>
        </p:txBody>
      </p:sp>
      <p:grpSp>
        <p:nvGrpSpPr>
          <p:cNvPr name="Group 14" id="14"/>
          <p:cNvGrpSpPr/>
          <p:nvPr/>
        </p:nvGrpSpPr>
        <p:grpSpPr>
          <a:xfrm rot="0">
            <a:off x="5045356" y="3285945"/>
            <a:ext cx="3322579" cy="2658428"/>
            <a:chOff x="0" y="0"/>
            <a:chExt cx="875083" cy="700162"/>
          </a:xfrm>
        </p:grpSpPr>
        <p:sp>
          <p:nvSpPr>
            <p:cNvPr name="Freeform 15" id="15"/>
            <p:cNvSpPr/>
            <p:nvPr/>
          </p:nvSpPr>
          <p:spPr>
            <a:xfrm flipH="false" flipV="false" rot="0">
              <a:off x="0" y="0"/>
              <a:ext cx="875083" cy="700162"/>
            </a:xfrm>
            <a:custGeom>
              <a:avLst/>
              <a:gdLst/>
              <a:ahLst/>
              <a:cxnLst/>
              <a:rect r="r" b="b" t="t" l="l"/>
              <a:pathLst>
                <a:path h="700162" w="875083">
                  <a:moveTo>
                    <a:pt x="0" y="0"/>
                  </a:moveTo>
                  <a:lnTo>
                    <a:pt x="875083" y="0"/>
                  </a:lnTo>
                  <a:lnTo>
                    <a:pt x="875083" y="700162"/>
                  </a:lnTo>
                  <a:lnTo>
                    <a:pt x="0" y="700162"/>
                  </a:lnTo>
                  <a:close/>
                </a:path>
              </a:pathLst>
            </a:custGeom>
            <a:solidFill>
              <a:srgbClr val="CFF4FF"/>
            </a:solidFill>
            <a:ln w="19050" cap="sq">
              <a:solidFill>
                <a:srgbClr val="FFFFFF"/>
              </a:solidFill>
              <a:prstDash val="solid"/>
              <a:miter/>
            </a:ln>
          </p:spPr>
        </p:sp>
        <p:sp>
          <p:nvSpPr>
            <p:cNvPr name="TextBox 16" id="16"/>
            <p:cNvSpPr txBox="true"/>
            <p:nvPr/>
          </p:nvSpPr>
          <p:spPr>
            <a:xfrm>
              <a:off x="0" y="-38100"/>
              <a:ext cx="875083" cy="738262"/>
            </a:xfrm>
            <a:prstGeom prst="rect">
              <a:avLst/>
            </a:prstGeom>
          </p:spPr>
          <p:txBody>
            <a:bodyPr anchor="ctr" rtlCol="false" tIns="50800" lIns="50800" bIns="50800" rIns="50800"/>
            <a:lstStyle/>
            <a:p>
              <a:pPr algn="ctr">
                <a:lnSpc>
                  <a:spcPts val="2605"/>
                </a:lnSpc>
              </a:pPr>
            </a:p>
          </p:txBody>
        </p:sp>
      </p:grpSp>
      <p:sp>
        <p:nvSpPr>
          <p:cNvPr name="TextBox 17" id="17"/>
          <p:cNvSpPr txBox="true"/>
          <p:nvPr/>
        </p:nvSpPr>
        <p:spPr>
          <a:xfrm rot="0">
            <a:off x="5045356" y="5035893"/>
            <a:ext cx="3432147" cy="785622"/>
          </a:xfrm>
          <a:prstGeom prst="rect">
            <a:avLst/>
          </a:prstGeom>
        </p:spPr>
        <p:txBody>
          <a:bodyPr anchor="t" rtlCol="false" tIns="0" lIns="0" bIns="0" rIns="0">
            <a:spAutoFit/>
          </a:bodyPr>
          <a:lstStyle/>
          <a:p>
            <a:pPr algn="ctr" marL="0" indent="0" lvl="0">
              <a:lnSpc>
                <a:spcPts val="3174"/>
              </a:lnSpc>
              <a:spcBef>
                <a:spcPct val="0"/>
              </a:spcBef>
            </a:pPr>
            <a:r>
              <a:rPr lang="en-US" b="true" sz="2300">
                <a:solidFill>
                  <a:srgbClr val="0071C9"/>
                </a:solidFill>
                <a:latin typeface="DM Sans Bold"/>
                <a:ea typeface="DM Sans Bold"/>
                <a:cs typeface="DM Sans Bold"/>
                <a:sym typeface="DM Sans Bold"/>
              </a:rPr>
              <a:t>Automatisation des workflows</a:t>
            </a:r>
          </a:p>
        </p:txBody>
      </p:sp>
      <p:grpSp>
        <p:nvGrpSpPr>
          <p:cNvPr name="Group 18" id="18"/>
          <p:cNvGrpSpPr/>
          <p:nvPr/>
        </p:nvGrpSpPr>
        <p:grpSpPr>
          <a:xfrm rot="0">
            <a:off x="8815938" y="3285945"/>
            <a:ext cx="3322579" cy="2658428"/>
            <a:chOff x="0" y="0"/>
            <a:chExt cx="875083" cy="700162"/>
          </a:xfrm>
        </p:grpSpPr>
        <p:sp>
          <p:nvSpPr>
            <p:cNvPr name="Freeform 19" id="19"/>
            <p:cNvSpPr/>
            <p:nvPr/>
          </p:nvSpPr>
          <p:spPr>
            <a:xfrm flipH="false" flipV="false" rot="0">
              <a:off x="0" y="0"/>
              <a:ext cx="875083" cy="700162"/>
            </a:xfrm>
            <a:custGeom>
              <a:avLst/>
              <a:gdLst/>
              <a:ahLst/>
              <a:cxnLst/>
              <a:rect r="r" b="b" t="t" l="l"/>
              <a:pathLst>
                <a:path h="700162" w="875083">
                  <a:moveTo>
                    <a:pt x="0" y="0"/>
                  </a:moveTo>
                  <a:lnTo>
                    <a:pt x="875083" y="0"/>
                  </a:lnTo>
                  <a:lnTo>
                    <a:pt x="875083" y="700162"/>
                  </a:lnTo>
                  <a:lnTo>
                    <a:pt x="0" y="700162"/>
                  </a:lnTo>
                  <a:close/>
                </a:path>
              </a:pathLst>
            </a:custGeom>
            <a:solidFill>
              <a:srgbClr val="CFF4FF"/>
            </a:solidFill>
            <a:ln w="19050" cap="sq">
              <a:solidFill>
                <a:srgbClr val="FFFFFF"/>
              </a:solidFill>
              <a:prstDash val="solid"/>
              <a:miter/>
            </a:ln>
          </p:spPr>
        </p:sp>
        <p:sp>
          <p:nvSpPr>
            <p:cNvPr name="TextBox 20" id="20"/>
            <p:cNvSpPr txBox="true"/>
            <p:nvPr/>
          </p:nvSpPr>
          <p:spPr>
            <a:xfrm>
              <a:off x="0" y="-38100"/>
              <a:ext cx="875083" cy="738262"/>
            </a:xfrm>
            <a:prstGeom prst="rect">
              <a:avLst/>
            </a:prstGeom>
          </p:spPr>
          <p:txBody>
            <a:bodyPr anchor="ctr" rtlCol="false" tIns="50800" lIns="50800" bIns="50800" rIns="50800"/>
            <a:lstStyle/>
            <a:p>
              <a:pPr algn="ctr">
                <a:lnSpc>
                  <a:spcPts val="2605"/>
                </a:lnSpc>
              </a:pPr>
            </a:p>
          </p:txBody>
        </p:sp>
      </p:grpSp>
      <p:sp>
        <p:nvSpPr>
          <p:cNvPr name="TextBox 21" id="21"/>
          <p:cNvSpPr txBox="true"/>
          <p:nvPr/>
        </p:nvSpPr>
        <p:spPr>
          <a:xfrm rot="0">
            <a:off x="8815938" y="5035893"/>
            <a:ext cx="3432147" cy="785622"/>
          </a:xfrm>
          <a:prstGeom prst="rect">
            <a:avLst/>
          </a:prstGeom>
        </p:spPr>
        <p:txBody>
          <a:bodyPr anchor="t" rtlCol="false" tIns="0" lIns="0" bIns="0" rIns="0">
            <a:spAutoFit/>
          </a:bodyPr>
          <a:lstStyle/>
          <a:p>
            <a:pPr algn="ctr" marL="0" indent="0" lvl="0">
              <a:lnSpc>
                <a:spcPts val="3174"/>
              </a:lnSpc>
              <a:spcBef>
                <a:spcPct val="0"/>
              </a:spcBef>
            </a:pPr>
            <a:r>
              <a:rPr lang="en-US" b="true" sz="2300">
                <a:solidFill>
                  <a:srgbClr val="0071C9"/>
                </a:solidFill>
                <a:latin typeface="DM Sans Bold"/>
                <a:ea typeface="DM Sans Bold"/>
                <a:cs typeface="DM Sans Bold"/>
                <a:sym typeface="DM Sans Bold"/>
              </a:rPr>
              <a:t>Surveillance continue des modèles</a:t>
            </a:r>
          </a:p>
        </p:txBody>
      </p:sp>
      <p:grpSp>
        <p:nvGrpSpPr>
          <p:cNvPr name="Group 22" id="22"/>
          <p:cNvGrpSpPr/>
          <p:nvPr/>
        </p:nvGrpSpPr>
        <p:grpSpPr>
          <a:xfrm rot="0">
            <a:off x="12810060" y="3285945"/>
            <a:ext cx="3406056" cy="2658428"/>
            <a:chOff x="0" y="0"/>
            <a:chExt cx="897068" cy="700162"/>
          </a:xfrm>
        </p:grpSpPr>
        <p:sp>
          <p:nvSpPr>
            <p:cNvPr name="Freeform 23" id="23"/>
            <p:cNvSpPr/>
            <p:nvPr/>
          </p:nvSpPr>
          <p:spPr>
            <a:xfrm flipH="false" flipV="false" rot="0">
              <a:off x="0" y="0"/>
              <a:ext cx="897068" cy="700162"/>
            </a:xfrm>
            <a:custGeom>
              <a:avLst/>
              <a:gdLst/>
              <a:ahLst/>
              <a:cxnLst/>
              <a:rect r="r" b="b" t="t" l="l"/>
              <a:pathLst>
                <a:path h="700162" w="897068">
                  <a:moveTo>
                    <a:pt x="0" y="0"/>
                  </a:moveTo>
                  <a:lnTo>
                    <a:pt x="897068" y="0"/>
                  </a:lnTo>
                  <a:lnTo>
                    <a:pt x="897068" y="700162"/>
                  </a:lnTo>
                  <a:lnTo>
                    <a:pt x="0" y="700162"/>
                  </a:lnTo>
                  <a:close/>
                </a:path>
              </a:pathLst>
            </a:custGeom>
            <a:solidFill>
              <a:srgbClr val="CFF4FF"/>
            </a:solidFill>
            <a:ln w="19050" cap="sq">
              <a:solidFill>
                <a:srgbClr val="FFFFFF"/>
              </a:solidFill>
              <a:prstDash val="solid"/>
              <a:miter/>
            </a:ln>
          </p:spPr>
        </p:sp>
        <p:sp>
          <p:nvSpPr>
            <p:cNvPr name="TextBox 24" id="24"/>
            <p:cNvSpPr txBox="true"/>
            <p:nvPr/>
          </p:nvSpPr>
          <p:spPr>
            <a:xfrm>
              <a:off x="0" y="-38100"/>
              <a:ext cx="897068" cy="738262"/>
            </a:xfrm>
            <a:prstGeom prst="rect">
              <a:avLst/>
            </a:prstGeom>
          </p:spPr>
          <p:txBody>
            <a:bodyPr anchor="ctr" rtlCol="false" tIns="50800" lIns="50800" bIns="50800" rIns="50800"/>
            <a:lstStyle/>
            <a:p>
              <a:pPr algn="ctr">
                <a:lnSpc>
                  <a:spcPts val="2605"/>
                </a:lnSpc>
              </a:pPr>
            </a:p>
          </p:txBody>
        </p:sp>
      </p:grpSp>
      <p:sp>
        <p:nvSpPr>
          <p:cNvPr name="TextBox 25" id="25"/>
          <p:cNvSpPr txBox="true"/>
          <p:nvPr/>
        </p:nvSpPr>
        <p:spPr>
          <a:xfrm rot="0">
            <a:off x="12810060" y="5035893"/>
            <a:ext cx="3406056" cy="779939"/>
          </a:xfrm>
          <a:prstGeom prst="rect">
            <a:avLst/>
          </a:prstGeom>
        </p:spPr>
        <p:txBody>
          <a:bodyPr anchor="t" rtlCol="false" tIns="0" lIns="0" bIns="0" rIns="0">
            <a:spAutoFit/>
          </a:bodyPr>
          <a:lstStyle/>
          <a:p>
            <a:pPr algn="ctr" marL="0" indent="0" lvl="0">
              <a:lnSpc>
                <a:spcPts val="3149"/>
              </a:lnSpc>
              <a:spcBef>
                <a:spcPct val="0"/>
              </a:spcBef>
            </a:pPr>
            <a:r>
              <a:rPr lang="en-US" b="true" sz="2282">
                <a:solidFill>
                  <a:srgbClr val="0071C9"/>
                </a:solidFill>
                <a:latin typeface="DM Sans Bold"/>
                <a:ea typeface="DM Sans Bold"/>
                <a:cs typeface="DM Sans Bold"/>
                <a:sym typeface="DM Sans Bold"/>
              </a:rPr>
              <a:t>Interface de prédiction  en temps réel</a:t>
            </a:r>
          </a:p>
        </p:txBody>
      </p:sp>
      <p:sp>
        <p:nvSpPr>
          <p:cNvPr name="Freeform 26" id="26"/>
          <p:cNvSpPr/>
          <p:nvPr/>
        </p:nvSpPr>
        <p:spPr>
          <a:xfrm flipH="false" flipV="false" rot="0">
            <a:off x="13771565" y="3506897"/>
            <a:ext cx="1399568" cy="1399568"/>
          </a:xfrm>
          <a:custGeom>
            <a:avLst/>
            <a:gdLst/>
            <a:ahLst/>
            <a:cxnLst/>
            <a:rect r="r" b="b" t="t" l="l"/>
            <a:pathLst>
              <a:path h="1399568" w="1399568">
                <a:moveTo>
                  <a:pt x="0" y="0"/>
                </a:moveTo>
                <a:lnTo>
                  <a:pt x="1399568" y="0"/>
                </a:lnTo>
                <a:lnTo>
                  <a:pt x="1399568" y="1399568"/>
                </a:lnTo>
                <a:lnTo>
                  <a:pt x="0" y="13995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7" id="27"/>
          <p:cNvSpPr/>
          <p:nvPr/>
        </p:nvSpPr>
        <p:spPr>
          <a:xfrm flipH="false" flipV="false" rot="0">
            <a:off x="2231304" y="3506897"/>
            <a:ext cx="960976" cy="1187723"/>
          </a:xfrm>
          <a:custGeom>
            <a:avLst/>
            <a:gdLst/>
            <a:ahLst/>
            <a:cxnLst/>
            <a:rect r="r" b="b" t="t" l="l"/>
            <a:pathLst>
              <a:path h="1187723" w="960976">
                <a:moveTo>
                  <a:pt x="0" y="0"/>
                </a:moveTo>
                <a:lnTo>
                  <a:pt x="960976" y="0"/>
                </a:lnTo>
                <a:lnTo>
                  <a:pt x="960976" y="1187723"/>
                </a:lnTo>
                <a:lnTo>
                  <a:pt x="0" y="11877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8" id="28"/>
          <p:cNvSpPr/>
          <p:nvPr/>
        </p:nvSpPr>
        <p:spPr>
          <a:xfrm flipH="false" flipV="false" rot="0">
            <a:off x="6098428" y="3612820"/>
            <a:ext cx="1203034" cy="1187723"/>
          </a:xfrm>
          <a:custGeom>
            <a:avLst/>
            <a:gdLst/>
            <a:ahLst/>
            <a:cxnLst/>
            <a:rect r="r" b="b" t="t" l="l"/>
            <a:pathLst>
              <a:path h="1187723" w="1203034">
                <a:moveTo>
                  <a:pt x="0" y="0"/>
                </a:moveTo>
                <a:lnTo>
                  <a:pt x="1203035" y="0"/>
                </a:lnTo>
                <a:lnTo>
                  <a:pt x="1203035" y="1187723"/>
                </a:lnTo>
                <a:lnTo>
                  <a:pt x="0" y="118772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9" id="29"/>
          <p:cNvSpPr/>
          <p:nvPr/>
        </p:nvSpPr>
        <p:spPr>
          <a:xfrm flipH="false" flipV="false" rot="0">
            <a:off x="9686501" y="3440442"/>
            <a:ext cx="1214199" cy="1360101"/>
          </a:xfrm>
          <a:custGeom>
            <a:avLst/>
            <a:gdLst/>
            <a:ahLst/>
            <a:cxnLst/>
            <a:rect r="r" b="b" t="t" l="l"/>
            <a:pathLst>
              <a:path h="1360101" w="1214199">
                <a:moveTo>
                  <a:pt x="0" y="0"/>
                </a:moveTo>
                <a:lnTo>
                  <a:pt x="1214199" y="0"/>
                </a:lnTo>
                <a:lnTo>
                  <a:pt x="1214199" y="1360101"/>
                </a:lnTo>
                <a:lnTo>
                  <a:pt x="0" y="136010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0" id="30"/>
          <p:cNvSpPr/>
          <p:nvPr/>
        </p:nvSpPr>
        <p:spPr>
          <a:xfrm flipH="false" flipV="false" rot="0">
            <a:off x="12797312" y="6009429"/>
            <a:ext cx="3661014" cy="361525"/>
          </a:xfrm>
          <a:custGeom>
            <a:avLst/>
            <a:gdLst/>
            <a:ahLst/>
            <a:cxnLst/>
            <a:rect r="r" b="b" t="t" l="l"/>
            <a:pathLst>
              <a:path h="361525" w="3661014">
                <a:moveTo>
                  <a:pt x="0" y="0"/>
                </a:moveTo>
                <a:lnTo>
                  <a:pt x="3661015" y="0"/>
                </a:lnTo>
                <a:lnTo>
                  <a:pt x="3661015" y="361525"/>
                </a:lnTo>
                <a:lnTo>
                  <a:pt x="0" y="361525"/>
                </a:lnTo>
                <a:lnTo>
                  <a:pt x="0" y="0"/>
                </a:lnTo>
                <a:close/>
              </a:path>
            </a:pathLst>
          </a:custGeom>
          <a:blipFill>
            <a:blip r:embed="rId4"/>
            <a:stretch>
              <a:fillRect l="0" t="-99999" r="0" b="0"/>
            </a:stretch>
          </a:blipFill>
        </p:spPr>
      </p:sp>
      <p:sp>
        <p:nvSpPr>
          <p:cNvPr name="TextBox 31" id="31"/>
          <p:cNvSpPr txBox="true"/>
          <p:nvPr/>
        </p:nvSpPr>
        <p:spPr>
          <a:xfrm rot="0">
            <a:off x="724961" y="1473154"/>
            <a:ext cx="8184115" cy="994350"/>
          </a:xfrm>
          <a:prstGeom prst="rect">
            <a:avLst/>
          </a:prstGeom>
        </p:spPr>
        <p:txBody>
          <a:bodyPr anchor="t" rtlCol="false" tIns="0" lIns="0" bIns="0" rIns="0">
            <a:spAutoFit/>
          </a:bodyPr>
          <a:lstStyle/>
          <a:p>
            <a:pPr algn="ctr">
              <a:lnSpc>
                <a:spcPts val="8299"/>
              </a:lnSpc>
              <a:spcBef>
                <a:spcPct val="0"/>
              </a:spcBef>
            </a:pPr>
            <a:r>
              <a:rPr lang="en-US" sz="5928">
                <a:solidFill>
                  <a:srgbClr val="0071C9"/>
                </a:solidFill>
                <a:latin typeface="Open Sans Extra Bold"/>
                <a:ea typeface="Open Sans Extra Bold"/>
                <a:cs typeface="Open Sans Extra Bold"/>
                <a:sym typeface="Open Sans Extra Bold"/>
              </a:rPr>
              <a:t>Besoins Fonctionnels</a:t>
            </a:r>
          </a:p>
        </p:txBody>
      </p:sp>
      <p:grpSp>
        <p:nvGrpSpPr>
          <p:cNvPr name="Group 32" id="32"/>
          <p:cNvGrpSpPr/>
          <p:nvPr/>
        </p:nvGrpSpPr>
        <p:grpSpPr>
          <a:xfrm rot="0">
            <a:off x="15238003" y="8290589"/>
            <a:ext cx="7523780" cy="752378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5" id="35"/>
          <p:cNvSpPr txBox="true"/>
          <p:nvPr/>
        </p:nvSpPr>
        <p:spPr>
          <a:xfrm rot="0">
            <a:off x="17769347" y="9356025"/>
            <a:ext cx="518653"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4816593" cy="270933"/>
          </a:xfrm>
        </p:grpSpPr>
        <p:sp>
          <p:nvSpPr>
            <p:cNvPr name="Freeform 3" id="3"/>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145DA0"/>
            </a:solidFill>
            <a:ln cap="sq">
              <a:noFill/>
              <a:prstDash val="solid"/>
              <a:miter/>
            </a:ln>
          </p:spPr>
        </p:sp>
        <p:sp>
          <p:nvSpPr>
            <p:cNvPr name="TextBox 4" id="4"/>
            <p:cNvSpPr txBox="true"/>
            <p:nvPr/>
          </p:nvSpPr>
          <p:spPr>
            <a:xfrm>
              <a:off x="0" y="-57150"/>
              <a:ext cx="4816593" cy="328083"/>
            </a:xfrm>
            <a:prstGeom prst="rect">
              <a:avLst/>
            </a:prstGeom>
          </p:spPr>
          <p:txBody>
            <a:bodyPr anchor="ctr" rtlCol="false" tIns="50800" lIns="50800" bIns="50800" rIns="50800"/>
            <a:lstStyle/>
            <a:p>
              <a:pPr algn="l" marL="0" indent="0" lvl="0">
                <a:lnSpc>
                  <a:spcPts val="3779"/>
                </a:lnSpc>
                <a:spcBef>
                  <a:spcPct val="0"/>
                </a:spcBef>
              </a:pPr>
              <a:r>
                <a:rPr lang="en-US" sz="2699">
                  <a:solidFill>
                    <a:srgbClr val="FDFDFD"/>
                  </a:solidFill>
                  <a:latin typeface="Open Sans Extra Bold"/>
                  <a:ea typeface="Open Sans Extra Bold"/>
                  <a:cs typeface="Open Sans Extra Bold"/>
                  <a:sym typeface="Open Sans Extra Bold"/>
                </a:rPr>
                <a:t>  Spécification Des Besoins| Besoins Fonctionnels</a:t>
              </a:r>
            </a:p>
          </p:txBody>
        </p:sp>
      </p:grpSp>
      <p:sp>
        <p:nvSpPr>
          <p:cNvPr name="Freeform 5" id="5"/>
          <p:cNvSpPr/>
          <p:nvPr/>
        </p:nvSpPr>
        <p:spPr>
          <a:xfrm flipH="false" flipV="false" rot="1313163">
            <a:off x="-4242087" y="6573910"/>
            <a:ext cx="9085628" cy="5368780"/>
          </a:xfrm>
          <a:custGeom>
            <a:avLst/>
            <a:gdLst/>
            <a:ahLst/>
            <a:cxnLst/>
            <a:rect r="r" b="b" t="t" l="l"/>
            <a:pathLst>
              <a:path h="5368780" w="9085628">
                <a:moveTo>
                  <a:pt x="0" y="0"/>
                </a:moveTo>
                <a:lnTo>
                  <a:pt x="9085628" y="0"/>
                </a:lnTo>
                <a:lnTo>
                  <a:pt x="9085628" y="5368780"/>
                </a:lnTo>
                <a:lnTo>
                  <a:pt x="0" y="5368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51887" y="5944373"/>
            <a:ext cx="4319810" cy="426581"/>
          </a:xfrm>
          <a:custGeom>
            <a:avLst/>
            <a:gdLst/>
            <a:ahLst/>
            <a:cxnLst/>
            <a:rect r="r" b="b" t="t" l="l"/>
            <a:pathLst>
              <a:path h="426581" w="4319810">
                <a:moveTo>
                  <a:pt x="0" y="0"/>
                </a:moveTo>
                <a:lnTo>
                  <a:pt x="4319810" y="0"/>
                </a:lnTo>
                <a:lnTo>
                  <a:pt x="4319810" y="426581"/>
                </a:lnTo>
                <a:lnTo>
                  <a:pt x="0" y="426581"/>
                </a:lnTo>
                <a:lnTo>
                  <a:pt x="0" y="0"/>
                </a:lnTo>
                <a:close/>
              </a:path>
            </a:pathLst>
          </a:custGeom>
          <a:blipFill>
            <a:blip r:embed="rId4"/>
            <a:stretch>
              <a:fillRect l="0" t="-99999" r="0" b="0"/>
            </a:stretch>
          </a:blipFill>
        </p:spPr>
      </p:sp>
      <p:sp>
        <p:nvSpPr>
          <p:cNvPr name="Freeform 7" id="7"/>
          <p:cNvSpPr/>
          <p:nvPr/>
        </p:nvSpPr>
        <p:spPr>
          <a:xfrm flipH="false" flipV="false" rot="0">
            <a:off x="4601524" y="5944373"/>
            <a:ext cx="4319810" cy="426581"/>
          </a:xfrm>
          <a:custGeom>
            <a:avLst/>
            <a:gdLst/>
            <a:ahLst/>
            <a:cxnLst/>
            <a:rect r="r" b="b" t="t" l="l"/>
            <a:pathLst>
              <a:path h="426581" w="4319810">
                <a:moveTo>
                  <a:pt x="0" y="0"/>
                </a:moveTo>
                <a:lnTo>
                  <a:pt x="4319810" y="0"/>
                </a:lnTo>
                <a:lnTo>
                  <a:pt x="4319810" y="426581"/>
                </a:lnTo>
                <a:lnTo>
                  <a:pt x="0" y="426581"/>
                </a:lnTo>
                <a:lnTo>
                  <a:pt x="0" y="0"/>
                </a:lnTo>
                <a:close/>
              </a:path>
            </a:pathLst>
          </a:custGeom>
          <a:blipFill>
            <a:blip r:embed="rId4"/>
            <a:stretch>
              <a:fillRect l="0" t="-99999" r="0" b="0"/>
            </a:stretch>
          </a:blipFill>
        </p:spPr>
      </p:sp>
      <p:sp>
        <p:nvSpPr>
          <p:cNvPr name="Freeform 8" id="8"/>
          <p:cNvSpPr/>
          <p:nvPr/>
        </p:nvSpPr>
        <p:spPr>
          <a:xfrm flipH="false" flipV="false" rot="0">
            <a:off x="8477503" y="5944373"/>
            <a:ext cx="4319810" cy="426581"/>
          </a:xfrm>
          <a:custGeom>
            <a:avLst/>
            <a:gdLst/>
            <a:ahLst/>
            <a:cxnLst/>
            <a:rect r="r" b="b" t="t" l="l"/>
            <a:pathLst>
              <a:path h="426581" w="4319810">
                <a:moveTo>
                  <a:pt x="0" y="0"/>
                </a:moveTo>
                <a:lnTo>
                  <a:pt x="4319809" y="0"/>
                </a:lnTo>
                <a:lnTo>
                  <a:pt x="4319809" y="426581"/>
                </a:lnTo>
                <a:lnTo>
                  <a:pt x="0" y="426581"/>
                </a:lnTo>
                <a:lnTo>
                  <a:pt x="0" y="0"/>
                </a:lnTo>
                <a:close/>
              </a:path>
            </a:pathLst>
          </a:custGeom>
          <a:blipFill>
            <a:blip r:embed="rId4"/>
            <a:stretch>
              <a:fillRect l="0" t="-99999" r="0" b="0"/>
            </a:stretch>
          </a:blipFill>
        </p:spPr>
      </p:sp>
      <p:grpSp>
        <p:nvGrpSpPr>
          <p:cNvPr name="Group 9" id="9"/>
          <p:cNvGrpSpPr/>
          <p:nvPr/>
        </p:nvGrpSpPr>
        <p:grpSpPr>
          <a:xfrm rot="0">
            <a:off x="1050502" y="3285945"/>
            <a:ext cx="3322579" cy="2658428"/>
            <a:chOff x="0" y="0"/>
            <a:chExt cx="875083" cy="700162"/>
          </a:xfrm>
        </p:grpSpPr>
        <p:sp>
          <p:nvSpPr>
            <p:cNvPr name="Freeform 10" id="10"/>
            <p:cNvSpPr/>
            <p:nvPr/>
          </p:nvSpPr>
          <p:spPr>
            <a:xfrm flipH="false" flipV="false" rot="0">
              <a:off x="0" y="0"/>
              <a:ext cx="875083" cy="700162"/>
            </a:xfrm>
            <a:custGeom>
              <a:avLst/>
              <a:gdLst/>
              <a:ahLst/>
              <a:cxnLst/>
              <a:rect r="r" b="b" t="t" l="l"/>
              <a:pathLst>
                <a:path h="700162" w="875083">
                  <a:moveTo>
                    <a:pt x="0" y="0"/>
                  </a:moveTo>
                  <a:lnTo>
                    <a:pt x="875083" y="0"/>
                  </a:lnTo>
                  <a:lnTo>
                    <a:pt x="875083" y="700162"/>
                  </a:lnTo>
                  <a:lnTo>
                    <a:pt x="0" y="700162"/>
                  </a:lnTo>
                  <a:close/>
                </a:path>
              </a:pathLst>
            </a:custGeom>
            <a:solidFill>
              <a:srgbClr val="CFF4FF"/>
            </a:solidFill>
            <a:ln w="19050" cap="sq">
              <a:solidFill>
                <a:srgbClr val="FFFFFF"/>
              </a:solidFill>
              <a:prstDash val="solid"/>
              <a:miter/>
            </a:ln>
          </p:spPr>
        </p:sp>
        <p:sp>
          <p:nvSpPr>
            <p:cNvPr name="TextBox 11" id="11"/>
            <p:cNvSpPr txBox="true"/>
            <p:nvPr/>
          </p:nvSpPr>
          <p:spPr>
            <a:xfrm>
              <a:off x="0" y="-38100"/>
              <a:ext cx="875083" cy="738262"/>
            </a:xfrm>
            <a:prstGeom prst="rect">
              <a:avLst/>
            </a:prstGeom>
          </p:spPr>
          <p:txBody>
            <a:bodyPr anchor="ctr" rtlCol="false" tIns="50800" lIns="50800" bIns="50800" rIns="50800"/>
            <a:lstStyle/>
            <a:p>
              <a:pPr algn="ctr">
                <a:lnSpc>
                  <a:spcPts val="2605"/>
                </a:lnSpc>
              </a:pPr>
            </a:p>
          </p:txBody>
        </p:sp>
      </p:grpSp>
      <p:sp>
        <p:nvSpPr>
          <p:cNvPr name="Freeform 12" id="12"/>
          <p:cNvSpPr/>
          <p:nvPr/>
        </p:nvSpPr>
        <p:spPr>
          <a:xfrm flipH="false" flipV="false" rot="1313163">
            <a:off x="14340534" y="-1655690"/>
            <a:ext cx="9085628" cy="5368780"/>
          </a:xfrm>
          <a:custGeom>
            <a:avLst/>
            <a:gdLst/>
            <a:ahLst/>
            <a:cxnLst/>
            <a:rect r="r" b="b" t="t" l="l"/>
            <a:pathLst>
              <a:path h="5368780" w="9085628">
                <a:moveTo>
                  <a:pt x="0" y="0"/>
                </a:moveTo>
                <a:lnTo>
                  <a:pt x="9085628" y="0"/>
                </a:lnTo>
                <a:lnTo>
                  <a:pt x="9085628" y="5368780"/>
                </a:lnTo>
                <a:lnTo>
                  <a:pt x="0" y="53687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5045356" y="3285945"/>
            <a:ext cx="3322579" cy="2658428"/>
            <a:chOff x="0" y="0"/>
            <a:chExt cx="875083" cy="700162"/>
          </a:xfrm>
        </p:grpSpPr>
        <p:sp>
          <p:nvSpPr>
            <p:cNvPr name="Freeform 14" id="14"/>
            <p:cNvSpPr/>
            <p:nvPr/>
          </p:nvSpPr>
          <p:spPr>
            <a:xfrm flipH="false" flipV="false" rot="0">
              <a:off x="0" y="0"/>
              <a:ext cx="875083" cy="700162"/>
            </a:xfrm>
            <a:custGeom>
              <a:avLst/>
              <a:gdLst/>
              <a:ahLst/>
              <a:cxnLst/>
              <a:rect r="r" b="b" t="t" l="l"/>
              <a:pathLst>
                <a:path h="700162" w="875083">
                  <a:moveTo>
                    <a:pt x="0" y="0"/>
                  </a:moveTo>
                  <a:lnTo>
                    <a:pt x="875083" y="0"/>
                  </a:lnTo>
                  <a:lnTo>
                    <a:pt x="875083" y="700162"/>
                  </a:lnTo>
                  <a:lnTo>
                    <a:pt x="0" y="700162"/>
                  </a:lnTo>
                  <a:close/>
                </a:path>
              </a:pathLst>
            </a:custGeom>
            <a:solidFill>
              <a:srgbClr val="CFF4FF"/>
            </a:solidFill>
            <a:ln w="19050" cap="sq">
              <a:solidFill>
                <a:srgbClr val="FFFFFF"/>
              </a:solidFill>
              <a:prstDash val="solid"/>
              <a:miter/>
            </a:ln>
          </p:spPr>
        </p:sp>
        <p:sp>
          <p:nvSpPr>
            <p:cNvPr name="TextBox 15" id="15"/>
            <p:cNvSpPr txBox="true"/>
            <p:nvPr/>
          </p:nvSpPr>
          <p:spPr>
            <a:xfrm>
              <a:off x="0" y="-38100"/>
              <a:ext cx="875083" cy="738262"/>
            </a:xfrm>
            <a:prstGeom prst="rect">
              <a:avLst/>
            </a:prstGeom>
          </p:spPr>
          <p:txBody>
            <a:bodyPr anchor="ctr" rtlCol="false" tIns="50800" lIns="50800" bIns="50800" rIns="50800"/>
            <a:lstStyle/>
            <a:p>
              <a:pPr algn="ctr">
                <a:lnSpc>
                  <a:spcPts val="2605"/>
                </a:lnSpc>
              </a:pPr>
            </a:p>
          </p:txBody>
        </p:sp>
      </p:grpSp>
      <p:grpSp>
        <p:nvGrpSpPr>
          <p:cNvPr name="Group 16" id="16"/>
          <p:cNvGrpSpPr/>
          <p:nvPr/>
        </p:nvGrpSpPr>
        <p:grpSpPr>
          <a:xfrm rot="0">
            <a:off x="8815938" y="3285945"/>
            <a:ext cx="3322579" cy="2658428"/>
            <a:chOff x="0" y="0"/>
            <a:chExt cx="875083" cy="700162"/>
          </a:xfrm>
        </p:grpSpPr>
        <p:sp>
          <p:nvSpPr>
            <p:cNvPr name="Freeform 17" id="17"/>
            <p:cNvSpPr/>
            <p:nvPr/>
          </p:nvSpPr>
          <p:spPr>
            <a:xfrm flipH="false" flipV="false" rot="0">
              <a:off x="0" y="0"/>
              <a:ext cx="875083" cy="700162"/>
            </a:xfrm>
            <a:custGeom>
              <a:avLst/>
              <a:gdLst/>
              <a:ahLst/>
              <a:cxnLst/>
              <a:rect r="r" b="b" t="t" l="l"/>
              <a:pathLst>
                <a:path h="700162" w="875083">
                  <a:moveTo>
                    <a:pt x="0" y="0"/>
                  </a:moveTo>
                  <a:lnTo>
                    <a:pt x="875083" y="0"/>
                  </a:lnTo>
                  <a:lnTo>
                    <a:pt x="875083" y="700162"/>
                  </a:lnTo>
                  <a:lnTo>
                    <a:pt x="0" y="700162"/>
                  </a:lnTo>
                  <a:close/>
                </a:path>
              </a:pathLst>
            </a:custGeom>
            <a:solidFill>
              <a:srgbClr val="CFF4FF"/>
            </a:solidFill>
            <a:ln w="19050" cap="sq">
              <a:solidFill>
                <a:srgbClr val="FFFFFF"/>
              </a:solidFill>
              <a:prstDash val="solid"/>
              <a:miter/>
            </a:ln>
          </p:spPr>
        </p:sp>
        <p:sp>
          <p:nvSpPr>
            <p:cNvPr name="TextBox 18" id="18"/>
            <p:cNvSpPr txBox="true"/>
            <p:nvPr/>
          </p:nvSpPr>
          <p:spPr>
            <a:xfrm>
              <a:off x="0" y="-38100"/>
              <a:ext cx="875083" cy="738262"/>
            </a:xfrm>
            <a:prstGeom prst="rect">
              <a:avLst/>
            </a:prstGeom>
          </p:spPr>
          <p:txBody>
            <a:bodyPr anchor="ctr" rtlCol="false" tIns="50800" lIns="50800" bIns="50800" rIns="50800"/>
            <a:lstStyle/>
            <a:p>
              <a:pPr algn="ctr">
                <a:lnSpc>
                  <a:spcPts val="2605"/>
                </a:lnSpc>
              </a:pPr>
            </a:p>
          </p:txBody>
        </p:sp>
      </p:grpSp>
      <p:grpSp>
        <p:nvGrpSpPr>
          <p:cNvPr name="Group 19" id="19"/>
          <p:cNvGrpSpPr/>
          <p:nvPr/>
        </p:nvGrpSpPr>
        <p:grpSpPr>
          <a:xfrm rot="0">
            <a:off x="12810060" y="3285945"/>
            <a:ext cx="3406056" cy="2658428"/>
            <a:chOff x="0" y="0"/>
            <a:chExt cx="897068" cy="700162"/>
          </a:xfrm>
        </p:grpSpPr>
        <p:sp>
          <p:nvSpPr>
            <p:cNvPr name="Freeform 20" id="20"/>
            <p:cNvSpPr/>
            <p:nvPr/>
          </p:nvSpPr>
          <p:spPr>
            <a:xfrm flipH="false" flipV="false" rot="0">
              <a:off x="0" y="0"/>
              <a:ext cx="897068" cy="700162"/>
            </a:xfrm>
            <a:custGeom>
              <a:avLst/>
              <a:gdLst/>
              <a:ahLst/>
              <a:cxnLst/>
              <a:rect r="r" b="b" t="t" l="l"/>
              <a:pathLst>
                <a:path h="700162" w="897068">
                  <a:moveTo>
                    <a:pt x="0" y="0"/>
                  </a:moveTo>
                  <a:lnTo>
                    <a:pt x="897068" y="0"/>
                  </a:lnTo>
                  <a:lnTo>
                    <a:pt x="897068" y="700162"/>
                  </a:lnTo>
                  <a:lnTo>
                    <a:pt x="0" y="700162"/>
                  </a:lnTo>
                  <a:close/>
                </a:path>
              </a:pathLst>
            </a:custGeom>
            <a:solidFill>
              <a:srgbClr val="CFF4FF"/>
            </a:solidFill>
            <a:ln w="19050" cap="sq">
              <a:solidFill>
                <a:srgbClr val="FFFFFF"/>
              </a:solidFill>
              <a:prstDash val="solid"/>
              <a:miter/>
            </a:ln>
          </p:spPr>
        </p:sp>
        <p:sp>
          <p:nvSpPr>
            <p:cNvPr name="TextBox 21" id="21"/>
            <p:cNvSpPr txBox="true"/>
            <p:nvPr/>
          </p:nvSpPr>
          <p:spPr>
            <a:xfrm>
              <a:off x="0" y="-38100"/>
              <a:ext cx="897068" cy="738262"/>
            </a:xfrm>
            <a:prstGeom prst="rect">
              <a:avLst/>
            </a:prstGeom>
          </p:spPr>
          <p:txBody>
            <a:bodyPr anchor="ctr" rtlCol="false" tIns="50800" lIns="50800" bIns="50800" rIns="50800"/>
            <a:lstStyle/>
            <a:p>
              <a:pPr algn="ctr">
                <a:lnSpc>
                  <a:spcPts val="2605"/>
                </a:lnSpc>
              </a:pPr>
            </a:p>
          </p:txBody>
        </p:sp>
      </p:grpSp>
      <p:sp>
        <p:nvSpPr>
          <p:cNvPr name="Freeform 22" id="22"/>
          <p:cNvSpPr/>
          <p:nvPr/>
        </p:nvSpPr>
        <p:spPr>
          <a:xfrm flipH="false" flipV="false" rot="0">
            <a:off x="12138517" y="5944373"/>
            <a:ext cx="4319810" cy="426581"/>
          </a:xfrm>
          <a:custGeom>
            <a:avLst/>
            <a:gdLst/>
            <a:ahLst/>
            <a:cxnLst/>
            <a:rect r="r" b="b" t="t" l="l"/>
            <a:pathLst>
              <a:path h="426581" w="4319810">
                <a:moveTo>
                  <a:pt x="0" y="0"/>
                </a:moveTo>
                <a:lnTo>
                  <a:pt x="4319810" y="0"/>
                </a:lnTo>
                <a:lnTo>
                  <a:pt x="4319810" y="426581"/>
                </a:lnTo>
                <a:lnTo>
                  <a:pt x="0" y="426581"/>
                </a:lnTo>
                <a:lnTo>
                  <a:pt x="0" y="0"/>
                </a:lnTo>
                <a:close/>
              </a:path>
            </a:pathLst>
          </a:custGeom>
          <a:blipFill>
            <a:blip r:embed="rId4"/>
            <a:stretch>
              <a:fillRect l="0" t="-99999" r="0" b="0"/>
            </a:stretch>
          </a:blipFill>
        </p:spPr>
      </p:sp>
      <p:sp>
        <p:nvSpPr>
          <p:cNvPr name="Freeform 23" id="23"/>
          <p:cNvSpPr/>
          <p:nvPr/>
        </p:nvSpPr>
        <p:spPr>
          <a:xfrm flipH="false" flipV="false" rot="0">
            <a:off x="13862542" y="3440442"/>
            <a:ext cx="1213242" cy="1456950"/>
          </a:xfrm>
          <a:custGeom>
            <a:avLst/>
            <a:gdLst/>
            <a:ahLst/>
            <a:cxnLst/>
            <a:rect r="r" b="b" t="t" l="l"/>
            <a:pathLst>
              <a:path h="1456950" w="1213242">
                <a:moveTo>
                  <a:pt x="0" y="0"/>
                </a:moveTo>
                <a:lnTo>
                  <a:pt x="1213242" y="0"/>
                </a:lnTo>
                <a:lnTo>
                  <a:pt x="1213242" y="1456950"/>
                </a:lnTo>
                <a:lnTo>
                  <a:pt x="0" y="14569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9899531" y="3386324"/>
            <a:ext cx="1155392" cy="1565186"/>
          </a:xfrm>
          <a:custGeom>
            <a:avLst/>
            <a:gdLst/>
            <a:ahLst/>
            <a:cxnLst/>
            <a:rect r="r" b="b" t="t" l="l"/>
            <a:pathLst>
              <a:path h="1565186" w="1155392">
                <a:moveTo>
                  <a:pt x="0" y="0"/>
                </a:moveTo>
                <a:lnTo>
                  <a:pt x="1155392" y="0"/>
                </a:lnTo>
                <a:lnTo>
                  <a:pt x="1155392" y="1565186"/>
                </a:lnTo>
                <a:lnTo>
                  <a:pt x="0" y="156518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5" id="25"/>
          <p:cNvSpPr/>
          <p:nvPr/>
        </p:nvSpPr>
        <p:spPr>
          <a:xfrm flipH="false" flipV="false" rot="0">
            <a:off x="5992211" y="3386324"/>
            <a:ext cx="1631802" cy="1631802"/>
          </a:xfrm>
          <a:custGeom>
            <a:avLst/>
            <a:gdLst/>
            <a:ahLst/>
            <a:cxnLst/>
            <a:rect r="r" b="b" t="t" l="l"/>
            <a:pathLst>
              <a:path h="1631802" w="1631802">
                <a:moveTo>
                  <a:pt x="0" y="0"/>
                </a:moveTo>
                <a:lnTo>
                  <a:pt x="1631801" y="0"/>
                </a:lnTo>
                <a:lnTo>
                  <a:pt x="1631801" y="1631802"/>
                </a:lnTo>
                <a:lnTo>
                  <a:pt x="0" y="163180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6" id="26"/>
          <p:cNvSpPr txBox="true"/>
          <p:nvPr/>
        </p:nvSpPr>
        <p:spPr>
          <a:xfrm rot="0">
            <a:off x="1050502" y="5035893"/>
            <a:ext cx="3432147" cy="385572"/>
          </a:xfrm>
          <a:prstGeom prst="rect">
            <a:avLst/>
          </a:prstGeom>
        </p:spPr>
        <p:txBody>
          <a:bodyPr anchor="t" rtlCol="false" tIns="0" lIns="0" bIns="0" rIns="0">
            <a:spAutoFit/>
          </a:bodyPr>
          <a:lstStyle/>
          <a:p>
            <a:pPr algn="ctr" marL="0" indent="0" lvl="0">
              <a:lnSpc>
                <a:spcPts val="3174"/>
              </a:lnSpc>
              <a:spcBef>
                <a:spcPct val="0"/>
              </a:spcBef>
            </a:pPr>
            <a:r>
              <a:rPr lang="en-US" b="true" sz="2300">
                <a:solidFill>
                  <a:srgbClr val="0071C9"/>
                </a:solidFill>
                <a:latin typeface="DM Sans Bold"/>
                <a:ea typeface="DM Sans Bold"/>
                <a:cs typeface="DM Sans Bold"/>
                <a:sym typeface="DM Sans Bold"/>
              </a:rPr>
              <a:t>Fiabilité</a:t>
            </a:r>
          </a:p>
        </p:txBody>
      </p:sp>
      <p:sp>
        <p:nvSpPr>
          <p:cNvPr name="TextBox 27" id="27"/>
          <p:cNvSpPr txBox="true"/>
          <p:nvPr/>
        </p:nvSpPr>
        <p:spPr>
          <a:xfrm rot="0">
            <a:off x="5045356" y="5035893"/>
            <a:ext cx="3432147" cy="385572"/>
          </a:xfrm>
          <a:prstGeom prst="rect">
            <a:avLst/>
          </a:prstGeom>
        </p:spPr>
        <p:txBody>
          <a:bodyPr anchor="t" rtlCol="false" tIns="0" lIns="0" bIns="0" rIns="0">
            <a:spAutoFit/>
          </a:bodyPr>
          <a:lstStyle/>
          <a:p>
            <a:pPr algn="ctr" marL="0" indent="0" lvl="0">
              <a:lnSpc>
                <a:spcPts val="3174"/>
              </a:lnSpc>
              <a:spcBef>
                <a:spcPct val="0"/>
              </a:spcBef>
            </a:pPr>
            <a:r>
              <a:rPr lang="en-US" b="true" sz="2300">
                <a:solidFill>
                  <a:srgbClr val="0071C9"/>
                </a:solidFill>
                <a:latin typeface="DM Sans Bold"/>
                <a:ea typeface="DM Sans Bold"/>
                <a:cs typeface="DM Sans Bold"/>
                <a:sym typeface="DM Sans Bold"/>
              </a:rPr>
              <a:t>Scalabilité</a:t>
            </a:r>
          </a:p>
        </p:txBody>
      </p:sp>
      <p:sp>
        <p:nvSpPr>
          <p:cNvPr name="TextBox 28" id="28"/>
          <p:cNvSpPr txBox="true"/>
          <p:nvPr/>
        </p:nvSpPr>
        <p:spPr>
          <a:xfrm rot="0">
            <a:off x="8815938" y="5035893"/>
            <a:ext cx="3432147" cy="385572"/>
          </a:xfrm>
          <a:prstGeom prst="rect">
            <a:avLst/>
          </a:prstGeom>
        </p:spPr>
        <p:txBody>
          <a:bodyPr anchor="t" rtlCol="false" tIns="0" lIns="0" bIns="0" rIns="0">
            <a:spAutoFit/>
          </a:bodyPr>
          <a:lstStyle/>
          <a:p>
            <a:pPr algn="ctr" marL="0" indent="0" lvl="0">
              <a:lnSpc>
                <a:spcPts val="3174"/>
              </a:lnSpc>
              <a:spcBef>
                <a:spcPct val="0"/>
              </a:spcBef>
            </a:pPr>
            <a:r>
              <a:rPr lang="en-US" b="true" sz="2300">
                <a:solidFill>
                  <a:srgbClr val="0071C9"/>
                </a:solidFill>
                <a:latin typeface="DM Sans Bold"/>
                <a:ea typeface="DM Sans Bold"/>
                <a:cs typeface="DM Sans Bold"/>
                <a:sym typeface="DM Sans Bold"/>
              </a:rPr>
              <a:t>Sécurité </a:t>
            </a:r>
          </a:p>
        </p:txBody>
      </p:sp>
      <p:sp>
        <p:nvSpPr>
          <p:cNvPr name="TextBox 29" id="29"/>
          <p:cNvSpPr txBox="true"/>
          <p:nvPr/>
        </p:nvSpPr>
        <p:spPr>
          <a:xfrm rot="0">
            <a:off x="12810060" y="5035893"/>
            <a:ext cx="3406056" cy="382931"/>
          </a:xfrm>
          <a:prstGeom prst="rect">
            <a:avLst/>
          </a:prstGeom>
        </p:spPr>
        <p:txBody>
          <a:bodyPr anchor="t" rtlCol="false" tIns="0" lIns="0" bIns="0" rIns="0">
            <a:spAutoFit/>
          </a:bodyPr>
          <a:lstStyle/>
          <a:p>
            <a:pPr algn="ctr" marL="0" indent="0" lvl="0">
              <a:lnSpc>
                <a:spcPts val="3149"/>
              </a:lnSpc>
              <a:spcBef>
                <a:spcPct val="0"/>
              </a:spcBef>
            </a:pPr>
            <a:r>
              <a:rPr lang="en-US" b="true" sz="2282">
                <a:solidFill>
                  <a:srgbClr val="0071C9"/>
                </a:solidFill>
                <a:latin typeface="DM Sans Bold"/>
                <a:ea typeface="DM Sans Bold"/>
                <a:cs typeface="DM Sans Bold"/>
                <a:sym typeface="DM Sans Bold"/>
              </a:rPr>
              <a:t>Performance et rapidité</a:t>
            </a:r>
          </a:p>
        </p:txBody>
      </p:sp>
      <p:sp>
        <p:nvSpPr>
          <p:cNvPr name="Freeform 30" id="30"/>
          <p:cNvSpPr/>
          <p:nvPr/>
        </p:nvSpPr>
        <p:spPr>
          <a:xfrm flipH="false" flipV="false" rot="0">
            <a:off x="2072860" y="3640844"/>
            <a:ext cx="1458021" cy="1256549"/>
          </a:xfrm>
          <a:custGeom>
            <a:avLst/>
            <a:gdLst/>
            <a:ahLst/>
            <a:cxnLst/>
            <a:rect r="r" b="b" t="t" l="l"/>
            <a:pathLst>
              <a:path h="1256549" w="1458021">
                <a:moveTo>
                  <a:pt x="0" y="0"/>
                </a:moveTo>
                <a:lnTo>
                  <a:pt x="1458021" y="0"/>
                </a:lnTo>
                <a:lnTo>
                  <a:pt x="1458021" y="1256548"/>
                </a:lnTo>
                <a:lnTo>
                  <a:pt x="0" y="125654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1" id="31"/>
          <p:cNvSpPr txBox="true"/>
          <p:nvPr/>
        </p:nvSpPr>
        <p:spPr>
          <a:xfrm rot="0">
            <a:off x="403759" y="1375712"/>
            <a:ext cx="10114359" cy="1028700"/>
          </a:xfrm>
          <a:prstGeom prst="rect">
            <a:avLst/>
          </a:prstGeom>
        </p:spPr>
        <p:txBody>
          <a:bodyPr anchor="t" rtlCol="false" tIns="0" lIns="0" bIns="0" rIns="0">
            <a:spAutoFit/>
          </a:bodyPr>
          <a:lstStyle/>
          <a:p>
            <a:pPr algn="ctr">
              <a:lnSpc>
                <a:spcPts val="8400"/>
              </a:lnSpc>
              <a:spcBef>
                <a:spcPct val="0"/>
              </a:spcBef>
            </a:pPr>
            <a:r>
              <a:rPr lang="en-US" b="true" sz="6000">
                <a:solidFill>
                  <a:srgbClr val="0071C9"/>
                </a:solidFill>
                <a:latin typeface="Open Sans Extra Bold"/>
                <a:ea typeface="Open Sans Extra Bold"/>
                <a:cs typeface="Open Sans Extra Bold"/>
                <a:sym typeface="Open Sans Extra Bold"/>
              </a:rPr>
              <a:t>Besoins Non Fonctionnels</a:t>
            </a:r>
          </a:p>
        </p:txBody>
      </p:sp>
      <p:grpSp>
        <p:nvGrpSpPr>
          <p:cNvPr name="Group 32" id="32"/>
          <p:cNvGrpSpPr/>
          <p:nvPr/>
        </p:nvGrpSpPr>
        <p:grpSpPr>
          <a:xfrm rot="0">
            <a:off x="15238003" y="8290589"/>
            <a:ext cx="7523780" cy="752378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5" id="35"/>
          <p:cNvSpPr txBox="true"/>
          <p:nvPr/>
        </p:nvSpPr>
        <p:spPr>
          <a:xfrm rot="0">
            <a:off x="17589660" y="9356025"/>
            <a:ext cx="698340"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656283"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007842"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8618101" y="1767991"/>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9144000" y="3541391"/>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9144000" y="5318072"/>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1" id="11"/>
          <p:cNvGrpSpPr/>
          <p:nvPr/>
        </p:nvGrpSpPr>
        <p:grpSpPr>
          <a:xfrm rot="0">
            <a:off x="7905455" y="2656032"/>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8315313" y="4180490"/>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8309460" y="576048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1038225" y="3360882"/>
            <a:ext cx="4463636" cy="5346553"/>
          </a:xfrm>
          <a:custGeom>
            <a:avLst/>
            <a:gdLst/>
            <a:ahLst/>
            <a:cxnLst/>
            <a:rect r="r" b="b" t="t" l="l"/>
            <a:pathLst>
              <a:path h="5346553" w="4463636">
                <a:moveTo>
                  <a:pt x="0" y="0"/>
                </a:moveTo>
                <a:lnTo>
                  <a:pt x="4463636" y="0"/>
                </a:lnTo>
                <a:lnTo>
                  <a:pt x="4463636" y="5346553"/>
                </a:lnTo>
                <a:lnTo>
                  <a:pt x="0" y="5346553"/>
                </a:lnTo>
                <a:lnTo>
                  <a:pt x="0" y="0"/>
                </a:lnTo>
                <a:close/>
              </a:path>
            </a:pathLst>
          </a:custGeom>
          <a:blipFill>
            <a:blip r:embed="rId4"/>
            <a:stretch>
              <a:fillRect l="0" t="0" r="0" b="0"/>
            </a:stretch>
          </a:blipFill>
        </p:spPr>
      </p:sp>
      <p:sp>
        <p:nvSpPr>
          <p:cNvPr name="TextBox 21" id="21"/>
          <p:cNvSpPr txBox="true"/>
          <p:nvPr/>
        </p:nvSpPr>
        <p:spPr>
          <a:xfrm rot="0">
            <a:off x="584191" y="397979"/>
            <a:ext cx="6033363" cy="2635249"/>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DFDFD"/>
                </a:solidFill>
                <a:latin typeface="Open Sans Extra Bold"/>
                <a:ea typeface="Open Sans Extra Bold"/>
                <a:cs typeface="Open Sans Extra Bold"/>
                <a:sym typeface="Open Sans Extra Bold"/>
              </a:rPr>
              <a:t>Méthodologies et Technologies de Mise en Œuvre</a:t>
            </a:r>
          </a:p>
        </p:txBody>
      </p:sp>
      <p:sp>
        <p:nvSpPr>
          <p:cNvPr name="TextBox 22" id="22"/>
          <p:cNvSpPr txBox="true"/>
          <p:nvPr/>
        </p:nvSpPr>
        <p:spPr>
          <a:xfrm rot="0">
            <a:off x="10423198" y="1938482"/>
            <a:ext cx="5768345" cy="1422400"/>
          </a:xfrm>
          <a:prstGeom prst="rect">
            <a:avLst/>
          </a:prstGeom>
        </p:spPr>
        <p:txBody>
          <a:bodyPr anchor="t" rtlCol="false" tIns="0" lIns="0" bIns="0" rIns="0">
            <a:spAutoFit/>
          </a:bodyPr>
          <a:lstStyle/>
          <a:p>
            <a:pPr algn="l">
              <a:lnSpc>
                <a:spcPts val="5599"/>
              </a:lnSpc>
            </a:pPr>
            <a:r>
              <a:rPr lang="en-US" sz="3999" spc="-79" b="true">
                <a:solidFill>
                  <a:srgbClr val="01237D"/>
                </a:solidFill>
                <a:latin typeface="Poppins Bold"/>
                <a:ea typeface="Poppins Bold"/>
                <a:cs typeface="Poppins Bold"/>
                <a:sym typeface="Poppins Bold"/>
              </a:rPr>
              <a:t>Méthodologie adoptée</a:t>
            </a:r>
          </a:p>
          <a:p>
            <a:pPr algn="l">
              <a:lnSpc>
                <a:spcPts val="5599"/>
              </a:lnSpc>
            </a:pPr>
          </a:p>
        </p:txBody>
      </p:sp>
      <p:sp>
        <p:nvSpPr>
          <p:cNvPr name="TextBox 23" id="23"/>
          <p:cNvSpPr txBox="true"/>
          <p:nvPr/>
        </p:nvSpPr>
        <p:spPr>
          <a:xfrm rot="0">
            <a:off x="8763159" y="2041203"/>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01</a:t>
            </a:r>
          </a:p>
        </p:txBody>
      </p:sp>
      <p:sp>
        <p:nvSpPr>
          <p:cNvPr name="TextBox 24" id="24"/>
          <p:cNvSpPr txBox="true"/>
          <p:nvPr/>
        </p:nvSpPr>
        <p:spPr>
          <a:xfrm rot="0">
            <a:off x="11168331" y="3764565"/>
            <a:ext cx="6570954" cy="717550"/>
          </a:xfrm>
          <a:prstGeom prst="rect">
            <a:avLst/>
          </a:prstGeom>
        </p:spPr>
        <p:txBody>
          <a:bodyPr anchor="t" rtlCol="false" tIns="0" lIns="0" bIns="0" rIns="0">
            <a:spAutoFit/>
          </a:bodyPr>
          <a:lstStyle/>
          <a:p>
            <a:pPr algn="l">
              <a:lnSpc>
                <a:spcPts val="5599"/>
              </a:lnSpc>
            </a:pPr>
            <a:r>
              <a:rPr lang="en-US" b="true" sz="3999" spc="-79">
                <a:solidFill>
                  <a:srgbClr val="01237D"/>
                </a:solidFill>
                <a:latin typeface="Poppins Bold"/>
                <a:ea typeface="Poppins Bold"/>
                <a:cs typeface="Poppins Bold"/>
                <a:sym typeface="Poppins Bold"/>
              </a:rPr>
              <a:t>approach adopteé</a:t>
            </a:r>
          </a:p>
        </p:txBody>
      </p:sp>
      <p:sp>
        <p:nvSpPr>
          <p:cNvPr name="TextBox 25" id="25"/>
          <p:cNvSpPr txBox="true"/>
          <p:nvPr/>
        </p:nvSpPr>
        <p:spPr>
          <a:xfrm rot="0">
            <a:off x="9289058" y="3814603"/>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02</a:t>
            </a:r>
          </a:p>
        </p:txBody>
      </p:sp>
      <p:sp>
        <p:nvSpPr>
          <p:cNvPr name="TextBox 26" id="26"/>
          <p:cNvSpPr txBox="true"/>
          <p:nvPr/>
        </p:nvSpPr>
        <p:spPr>
          <a:xfrm rot="0">
            <a:off x="11025456" y="5553184"/>
            <a:ext cx="5768345" cy="1422400"/>
          </a:xfrm>
          <a:prstGeom prst="rect">
            <a:avLst/>
          </a:prstGeom>
        </p:spPr>
        <p:txBody>
          <a:bodyPr anchor="t" rtlCol="false" tIns="0" lIns="0" bIns="0" rIns="0">
            <a:spAutoFit/>
          </a:bodyPr>
          <a:lstStyle/>
          <a:p>
            <a:pPr algn="l">
              <a:lnSpc>
                <a:spcPts val="5599"/>
              </a:lnSpc>
            </a:pPr>
            <a:r>
              <a:rPr lang="en-US" sz="3999" spc="-79" b="true">
                <a:solidFill>
                  <a:srgbClr val="01237D"/>
                </a:solidFill>
                <a:latin typeface="Poppins Bold"/>
                <a:ea typeface="Poppins Bold"/>
                <a:cs typeface="Poppins Bold"/>
                <a:sym typeface="Poppins Bold"/>
              </a:rPr>
              <a:t>Technologies Utilisées</a:t>
            </a:r>
          </a:p>
          <a:p>
            <a:pPr algn="l">
              <a:lnSpc>
                <a:spcPts val="5599"/>
              </a:lnSpc>
            </a:pPr>
          </a:p>
        </p:txBody>
      </p:sp>
      <p:sp>
        <p:nvSpPr>
          <p:cNvPr name="TextBox 27" id="27"/>
          <p:cNvSpPr txBox="true"/>
          <p:nvPr/>
        </p:nvSpPr>
        <p:spPr>
          <a:xfrm rot="0">
            <a:off x="9289058" y="5591284"/>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03</a:t>
            </a:r>
          </a:p>
        </p:txBody>
      </p:sp>
      <p:grpSp>
        <p:nvGrpSpPr>
          <p:cNvPr name="Group 28" id="28"/>
          <p:cNvGrpSpPr/>
          <p:nvPr/>
        </p:nvGrpSpPr>
        <p:grpSpPr>
          <a:xfrm rot="0">
            <a:off x="15238003" y="8290589"/>
            <a:ext cx="7523780" cy="752378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1" id="31"/>
          <p:cNvSpPr txBox="true"/>
          <p:nvPr/>
        </p:nvSpPr>
        <p:spPr>
          <a:xfrm rot="0">
            <a:off x="17589660" y="9356025"/>
            <a:ext cx="698340"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4816593" cy="270933"/>
          </a:xfrm>
        </p:grpSpPr>
        <p:sp>
          <p:nvSpPr>
            <p:cNvPr name="Freeform 3" id="3"/>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145DA0"/>
            </a:solidFill>
            <a:ln cap="sq">
              <a:noFill/>
              <a:prstDash val="solid"/>
              <a:miter/>
            </a:ln>
          </p:spPr>
        </p:sp>
        <p:sp>
          <p:nvSpPr>
            <p:cNvPr name="TextBox 4" id="4"/>
            <p:cNvSpPr txBox="true"/>
            <p:nvPr/>
          </p:nvSpPr>
          <p:spPr>
            <a:xfrm>
              <a:off x="0" y="-57150"/>
              <a:ext cx="4816593" cy="328083"/>
            </a:xfrm>
            <a:prstGeom prst="rect">
              <a:avLst/>
            </a:prstGeom>
          </p:spPr>
          <p:txBody>
            <a:bodyPr anchor="ctr" rtlCol="false" tIns="50800" lIns="50800" bIns="50800" rIns="50800"/>
            <a:lstStyle/>
            <a:p>
              <a:pPr algn="l" marL="0" indent="0" lvl="0">
                <a:lnSpc>
                  <a:spcPts val="3779"/>
                </a:lnSpc>
                <a:spcBef>
                  <a:spcPct val="0"/>
                </a:spcBef>
              </a:pPr>
              <a:r>
                <a:rPr lang="en-US" sz="2699">
                  <a:solidFill>
                    <a:srgbClr val="FDFDFD"/>
                  </a:solidFill>
                  <a:latin typeface="Open Sans Extra Bold"/>
                  <a:ea typeface="Open Sans Extra Bold"/>
                  <a:cs typeface="Open Sans Extra Bold"/>
                  <a:sym typeface="Open Sans Extra Bold"/>
                </a:rPr>
                <a:t>  Méthodologies et Technologies de Mise en Œuvre| Méthodologie adoptée</a:t>
              </a:r>
            </a:p>
          </p:txBody>
        </p:sp>
      </p:grpSp>
      <p:sp>
        <p:nvSpPr>
          <p:cNvPr name="Freeform 5" id="5"/>
          <p:cNvSpPr/>
          <p:nvPr/>
        </p:nvSpPr>
        <p:spPr>
          <a:xfrm flipH="false" flipV="false" rot="0">
            <a:off x="4801314" y="1489137"/>
            <a:ext cx="8685372" cy="8797863"/>
          </a:xfrm>
          <a:custGeom>
            <a:avLst/>
            <a:gdLst/>
            <a:ahLst/>
            <a:cxnLst/>
            <a:rect r="r" b="b" t="t" l="l"/>
            <a:pathLst>
              <a:path h="8797863" w="8685372">
                <a:moveTo>
                  <a:pt x="0" y="0"/>
                </a:moveTo>
                <a:lnTo>
                  <a:pt x="8685372" y="0"/>
                </a:lnTo>
                <a:lnTo>
                  <a:pt x="8685372" y="8797863"/>
                </a:lnTo>
                <a:lnTo>
                  <a:pt x="0" y="8797863"/>
                </a:lnTo>
                <a:lnTo>
                  <a:pt x="0" y="0"/>
                </a:lnTo>
                <a:close/>
              </a:path>
            </a:pathLst>
          </a:custGeom>
          <a:blipFill>
            <a:blip r:embed="rId2"/>
            <a:stretch>
              <a:fillRect l="-1097" t="0" r="0" b="0"/>
            </a:stretch>
          </a:blipFill>
        </p:spPr>
      </p:sp>
      <p:sp>
        <p:nvSpPr>
          <p:cNvPr name="TextBox 6" id="6"/>
          <p:cNvSpPr txBox="true"/>
          <p:nvPr/>
        </p:nvSpPr>
        <p:spPr>
          <a:xfrm rot="0">
            <a:off x="653389" y="1456705"/>
            <a:ext cx="3362444" cy="1028700"/>
          </a:xfrm>
          <a:prstGeom prst="rect">
            <a:avLst/>
          </a:prstGeom>
        </p:spPr>
        <p:txBody>
          <a:bodyPr anchor="t" rtlCol="false" tIns="0" lIns="0" bIns="0" rIns="0">
            <a:spAutoFit/>
          </a:bodyPr>
          <a:lstStyle/>
          <a:p>
            <a:pPr algn="ctr">
              <a:lnSpc>
                <a:spcPts val="8400"/>
              </a:lnSpc>
              <a:spcBef>
                <a:spcPct val="0"/>
              </a:spcBef>
            </a:pPr>
            <a:r>
              <a:rPr lang="en-US" sz="6000">
                <a:solidFill>
                  <a:srgbClr val="0071C9"/>
                </a:solidFill>
                <a:latin typeface="Open Sans Extra Bold"/>
                <a:ea typeface="Open Sans Extra Bold"/>
                <a:cs typeface="Open Sans Extra Bold"/>
                <a:sym typeface="Open Sans Extra Bold"/>
              </a:rPr>
              <a:t>crisp dm</a:t>
            </a:r>
          </a:p>
        </p:txBody>
      </p:sp>
      <p:grpSp>
        <p:nvGrpSpPr>
          <p:cNvPr name="Group 7" id="7"/>
          <p:cNvGrpSpPr/>
          <p:nvPr/>
        </p:nvGrpSpPr>
        <p:grpSpPr>
          <a:xfrm rot="0">
            <a:off x="15238003" y="8290589"/>
            <a:ext cx="7523780" cy="752378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1313163">
            <a:off x="-4261137" y="6573910"/>
            <a:ext cx="9085628" cy="5368780"/>
          </a:xfrm>
          <a:custGeom>
            <a:avLst/>
            <a:gdLst/>
            <a:ahLst/>
            <a:cxnLst/>
            <a:rect r="r" b="b" t="t" l="l"/>
            <a:pathLst>
              <a:path h="5368780" w="9085628">
                <a:moveTo>
                  <a:pt x="0" y="0"/>
                </a:moveTo>
                <a:lnTo>
                  <a:pt x="9085628" y="0"/>
                </a:lnTo>
                <a:lnTo>
                  <a:pt x="9085628" y="5368780"/>
                </a:lnTo>
                <a:lnTo>
                  <a:pt x="0" y="53687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1313163">
            <a:off x="14330817" y="-1655690"/>
            <a:ext cx="9085628" cy="5368780"/>
          </a:xfrm>
          <a:custGeom>
            <a:avLst/>
            <a:gdLst/>
            <a:ahLst/>
            <a:cxnLst/>
            <a:rect r="r" b="b" t="t" l="l"/>
            <a:pathLst>
              <a:path h="5368780" w="9085628">
                <a:moveTo>
                  <a:pt x="0" y="0"/>
                </a:moveTo>
                <a:lnTo>
                  <a:pt x="9085629" y="0"/>
                </a:lnTo>
                <a:lnTo>
                  <a:pt x="9085629" y="5368780"/>
                </a:lnTo>
                <a:lnTo>
                  <a:pt x="0" y="53687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7589660" y="9356025"/>
            <a:ext cx="698340"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4816593" cy="270933"/>
          </a:xfrm>
        </p:grpSpPr>
        <p:sp>
          <p:nvSpPr>
            <p:cNvPr name="Freeform 3" id="3"/>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145DA0"/>
            </a:solidFill>
            <a:ln cap="sq">
              <a:noFill/>
              <a:prstDash val="solid"/>
              <a:miter/>
            </a:ln>
          </p:spPr>
        </p:sp>
        <p:sp>
          <p:nvSpPr>
            <p:cNvPr name="TextBox 4" id="4"/>
            <p:cNvSpPr txBox="true"/>
            <p:nvPr/>
          </p:nvSpPr>
          <p:spPr>
            <a:xfrm>
              <a:off x="0" y="-57150"/>
              <a:ext cx="4816593" cy="328083"/>
            </a:xfrm>
            <a:prstGeom prst="rect">
              <a:avLst/>
            </a:prstGeom>
          </p:spPr>
          <p:txBody>
            <a:bodyPr anchor="ctr" rtlCol="false" tIns="50800" lIns="50800" bIns="50800" rIns="50800"/>
            <a:lstStyle/>
            <a:p>
              <a:pPr algn="l" marL="0" indent="0" lvl="0">
                <a:lnSpc>
                  <a:spcPts val="3779"/>
                </a:lnSpc>
                <a:spcBef>
                  <a:spcPct val="0"/>
                </a:spcBef>
              </a:pPr>
              <a:r>
                <a:rPr lang="en-US" sz="2699">
                  <a:solidFill>
                    <a:srgbClr val="FDFDFD"/>
                  </a:solidFill>
                  <a:latin typeface="Open Sans Extra Bold"/>
                  <a:ea typeface="Open Sans Extra Bold"/>
                  <a:cs typeface="Open Sans Extra Bold"/>
                  <a:sym typeface="Open Sans Extra Bold"/>
                </a:rPr>
                <a:t>  Méthodologies et Technologies de Mise en Œuvre| approache adopteé</a:t>
              </a:r>
            </a:p>
          </p:txBody>
        </p:sp>
      </p:grpSp>
      <p:sp>
        <p:nvSpPr>
          <p:cNvPr name="Freeform 5" id="5"/>
          <p:cNvSpPr/>
          <p:nvPr/>
        </p:nvSpPr>
        <p:spPr>
          <a:xfrm flipH="false" flipV="false" rot="0">
            <a:off x="7383965" y="2331103"/>
            <a:ext cx="11050885" cy="5624794"/>
          </a:xfrm>
          <a:custGeom>
            <a:avLst/>
            <a:gdLst/>
            <a:ahLst/>
            <a:cxnLst/>
            <a:rect r="r" b="b" t="t" l="l"/>
            <a:pathLst>
              <a:path h="5624794" w="11050885">
                <a:moveTo>
                  <a:pt x="0" y="0"/>
                </a:moveTo>
                <a:lnTo>
                  <a:pt x="11050885" y="0"/>
                </a:lnTo>
                <a:lnTo>
                  <a:pt x="11050885" y="5624794"/>
                </a:lnTo>
                <a:lnTo>
                  <a:pt x="0" y="5624794"/>
                </a:lnTo>
                <a:lnTo>
                  <a:pt x="0" y="0"/>
                </a:lnTo>
                <a:close/>
              </a:path>
            </a:pathLst>
          </a:custGeom>
          <a:blipFill>
            <a:blip r:embed="rId2"/>
            <a:stretch>
              <a:fillRect l="0" t="0" r="0" b="0"/>
            </a:stretch>
          </a:blipFill>
        </p:spPr>
      </p:sp>
      <p:sp>
        <p:nvSpPr>
          <p:cNvPr name="TextBox 6" id="6"/>
          <p:cNvSpPr txBox="true"/>
          <p:nvPr/>
        </p:nvSpPr>
        <p:spPr>
          <a:xfrm rot="0">
            <a:off x="980276" y="1456705"/>
            <a:ext cx="2708672" cy="1028700"/>
          </a:xfrm>
          <a:prstGeom prst="rect">
            <a:avLst/>
          </a:prstGeom>
        </p:spPr>
        <p:txBody>
          <a:bodyPr anchor="t" rtlCol="false" tIns="0" lIns="0" bIns="0" rIns="0">
            <a:spAutoFit/>
          </a:bodyPr>
          <a:lstStyle/>
          <a:p>
            <a:pPr algn="ctr">
              <a:lnSpc>
                <a:spcPts val="8400"/>
              </a:lnSpc>
              <a:spcBef>
                <a:spcPct val="0"/>
              </a:spcBef>
            </a:pPr>
            <a:r>
              <a:rPr lang="en-US" sz="6000">
                <a:solidFill>
                  <a:srgbClr val="01237D"/>
                </a:solidFill>
                <a:latin typeface="Open Sans Extra Bold"/>
                <a:ea typeface="Open Sans Extra Bold"/>
                <a:cs typeface="Open Sans Extra Bold"/>
                <a:sym typeface="Open Sans Extra Bold"/>
              </a:rPr>
              <a:t>MLOPS</a:t>
            </a:r>
          </a:p>
        </p:txBody>
      </p:sp>
      <p:grpSp>
        <p:nvGrpSpPr>
          <p:cNvPr name="Group 7" id="7"/>
          <p:cNvGrpSpPr/>
          <p:nvPr/>
        </p:nvGrpSpPr>
        <p:grpSpPr>
          <a:xfrm rot="0">
            <a:off x="15238003" y="8290589"/>
            <a:ext cx="7523780" cy="752378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79066" y="3652894"/>
            <a:ext cx="7565589" cy="1934441"/>
          </a:xfrm>
          <a:prstGeom prst="rect">
            <a:avLst/>
          </a:prstGeom>
        </p:spPr>
        <p:txBody>
          <a:bodyPr anchor="t" rtlCol="false" tIns="0" lIns="0" bIns="0" rIns="0">
            <a:spAutoFit/>
          </a:bodyPr>
          <a:lstStyle/>
          <a:p>
            <a:pPr algn="l" marL="791470" indent="-395735" lvl="1">
              <a:lnSpc>
                <a:spcPts val="5132"/>
              </a:lnSpc>
              <a:buFont typeface="Arial"/>
              <a:buChar char="•"/>
            </a:pPr>
            <a:r>
              <a:rPr lang="en-US" b="true" sz="3665">
                <a:solidFill>
                  <a:srgbClr val="01237D"/>
                </a:solidFill>
                <a:latin typeface="Open Sans Extra Bold"/>
                <a:ea typeface="Open Sans Extra Bold"/>
                <a:cs typeface="Open Sans Extra Bold"/>
                <a:sym typeface="Open Sans Extra Bold"/>
              </a:rPr>
              <a:t>Automatisation et Efficacité</a:t>
            </a:r>
          </a:p>
          <a:p>
            <a:pPr algn="l" marL="791470" indent="-395735" lvl="1">
              <a:lnSpc>
                <a:spcPts val="5132"/>
              </a:lnSpc>
              <a:buFont typeface="Arial"/>
              <a:buChar char="•"/>
            </a:pPr>
            <a:r>
              <a:rPr lang="en-US" b="true" sz="3665">
                <a:solidFill>
                  <a:srgbClr val="01237D"/>
                </a:solidFill>
                <a:latin typeface="Open Sans Extra Bold"/>
                <a:ea typeface="Open Sans Extra Bold"/>
                <a:cs typeface="Open Sans Extra Bold"/>
                <a:sym typeface="Open Sans Extra Bold"/>
              </a:rPr>
              <a:t>Traçabilité </a:t>
            </a:r>
          </a:p>
          <a:p>
            <a:pPr algn="l" marL="813059" indent="-406530" lvl="1">
              <a:lnSpc>
                <a:spcPts val="5272"/>
              </a:lnSpc>
              <a:buFont typeface="Arial"/>
              <a:buChar char="•"/>
            </a:pPr>
            <a:r>
              <a:rPr lang="en-US" b="true" sz="3765">
                <a:solidFill>
                  <a:srgbClr val="01237D"/>
                </a:solidFill>
                <a:latin typeface="Open Sans Extra Bold"/>
                <a:ea typeface="Open Sans Extra Bold"/>
                <a:cs typeface="Open Sans Extra Bold"/>
                <a:sym typeface="Open Sans Extra Bold"/>
              </a:rPr>
              <a:t>Collaboration </a:t>
            </a:r>
          </a:p>
        </p:txBody>
      </p:sp>
      <p:sp>
        <p:nvSpPr>
          <p:cNvPr name="Freeform 11" id="11"/>
          <p:cNvSpPr/>
          <p:nvPr/>
        </p:nvSpPr>
        <p:spPr>
          <a:xfrm flipH="false" flipV="false" rot="1313163">
            <a:off x="-4261137" y="6573910"/>
            <a:ext cx="9085628" cy="5368780"/>
          </a:xfrm>
          <a:custGeom>
            <a:avLst/>
            <a:gdLst/>
            <a:ahLst/>
            <a:cxnLst/>
            <a:rect r="r" b="b" t="t" l="l"/>
            <a:pathLst>
              <a:path h="5368780" w="9085628">
                <a:moveTo>
                  <a:pt x="0" y="0"/>
                </a:moveTo>
                <a:lnTo>
                  <a:pt x="9085628" y="0"/>
                </a:lnTo>
                <a:lnTo>
                  <a:pt x="9085628" y="5368780"/>
                </a:lnTo>
                <a:lnTo>
                  <a:pt x="0" y="53687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7589660" y="9356025"/>
            <a:ext cx="698340"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4816593" cy="270933"/>
          </a:xfrm>
        </p:grpSpPr>
        <p:sp>
          <p:nvSpPr>
            <p:cNvPr name="Freeform 3" id="3"/>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145DA0"/>
            </a:solidFill>
            <a:ln cap="sq">
              <a:noFill/>
              <a:prstDash val="solid"/>
              <a:miter/>
            </a:ln>
          </p:spPr>
        </p:sp>
        <p:sp>
          <p:nvSpPr>
            <p:cNvPr name="TextBox 4" id="4"/>
            <p:cNvSpPr txBox="true"/>
            <p:nvPr/>
          </p:nvSpPr>
          <p:spPr>
            <a:xfrm>
              <a:off x="0" y="-57150"/>
              <a:ext cx="4816593" cy="328083"/>
            </a:xfrm>
            <a:prstGeom prst="rect">
              <a:avLst/>
            </a:prstGeom>
          </p:spPr>
          <p:txBody>
            <a:bodyPr anchor="ctr" rtlCol="false" tIns="50800" lIns="50800" bIns="50800" rIns="50800"/>
            <a:lstStyle/>
            <a:p>
              <a:pPr algn="l" marL="0" indent="0" lvl="0">
                <a:lnSpc>
                  <a:spcPts val="3779"/>
                </a:lnSpc>
                <a:spcBef>
                  <a:spcPct val="0"/>
                </a:spcBef>
              </a:pPr>
              <a:r>
                <a:rPr lang="en-US" sz="2699">
                  <a:solidFill>
                    <a:srgbClr val="FDFDFD"/>
                  </a:solidFill>
                  <a:latin typeface="Open Sans Extra Bold"/>
                  <a:ea typeface="Open Sans Extra Bold"/>
                  <a:cs typeface="Open Sans Extra Bold"/>
                  <a:sym typeface="Open Sans Extra Bold"/>
                </a:rPr>
                <a:t>  Méthodologies et Technologies de Mise en Œuvre| Technologies Utilisées</a:t>
              </a:r>
            </a:p>
          </p:txBody>
        </p:sp>
      </p:grpSp>
      <p:sp>
        <p:nvSpPr>
          <p:cNvPr name="Freeform 5" id="5"/>
          <p:cNvSpPr/>
          <p:nvPr/>
        </p:nvSpPr>
        <p:spPr>
          <a:xfrm flipH="false" flipV="false" rot="0">
            <a:off x="551887" y="5944373"/>
            <a:ext cx="4319810" cy="426581"/>
          </a:xfrm>
          <a:custGeom>
            <a:avLst/>
            <a:gdLst/>
            <a:ahLst/>
            <a:cxnLst/>
            <a:rect r="r" b="b" t="t" l="l"/>
            <a:pathLst>
              <a:path h="426581" w="4319810">
                <a:moveTo>
                  <a:pt x="0" y="0"/>
                </a:moveTo>
                <a:lnTo>
                  <a:pt x="4319810" y="0"/>
                </a:lnTo>
                <a:lnTo>
                  <a:pt x="4319810" y="426581"/>
                </a:lnTo>
                <a:lnTo>
                  <a:pt x="0" y="426581"/>
                </a:lnTo>
                <a:lnTo>
                  <a:pt x="0" y="0"/>
                </a:lnTo>
                <a:close/>
              </a:path>
            </a:pathLst>
          </a:custGeom>
          <a:blipFill>
            <a:blip r:embed="rId2"/>
            <a:stretch>
              <a:fillRect l="0" t="-99999" r="0" b="0"/>
            </a:stretch>
          </a:blipFill>
        </p:spPr>
      </p:sp>
      <p:sp>
        <p:nvSpPr>
          <p:cNvPr name="Freeform 6" id="6"/>
          <p:cNvSpPr/>
          <p:nvPr/>
        </p:nvSpPr>
        <p:spPr>
          <a:xfrm flipH="false" flipV="false" rot="0">
            <a:off x="4601524" y="5741658"/>
            <a:ext cx="6372618" cy="629296"/>
          </a:xfrm>
          <a:custGeom>
            <a:avLst/>
            <a:gdLst/>
            <a:ahLst/>
            <a:cxnLst/>
            <a:rect r="r" b="b" t="t" l="l"/>
            <a:pathLst>
              <a:path h="629296" w="6372618">
                <a:moveTo>
                  <a:pt x="0" y="0"/>
                </a:moveTo>
                <a:lnTo>
                  <a:pt x="6372618" y="0"/>
                </a:lnTo>
                <a:lnTo>
                  <a:pt x="6372618" y="629296"/>
                </a:lnTo>
                <a:lnTo>
                  <a:pt x="0" y="629296"/>
                </a:lnTo>
                <a:lnTo>
                  <a:pt x="0" y="0"/>
                </a:lnTo>
                <a:close/>
              </a:path>
            </a:pathLst>
          </a:custGeom>
          <a:blipFill>
            <a:blip r:embed="rId2"/>
            <a:stretch>
              <a:fillRect l="0" t="-99999" r="0" b="0"/>
            </a:stretch>
          </a:blipFill>
        </p:spPr>
      </p:sp>
      <p:sp>
        <p:nvSpPr>
          <p:cNvPr name="Freeform 7" id="7"/>
          <p:cNvSpPr/>
          <p:nvPr/>
        </p:nvSpPr>
        <p:spPr>
          <a:xfrm flipH="false" flipV="false" rot="0">
            <a:off x="589077" y="9338945"/>
            <a:ext cx="5962929" cy="588839"/>
          </a:xfrm>
          <a:custGeom>
            <a:avLst/>
            <a:gdLst/>
            <a:ahLst/>
            <a:cxnLst/>
            <a:rect r="r" b="b" t="t" l="l"/>
            <a:pathLst>
              <a:path h="588839" w="5962929">
                <a:moveTo>
                  <a:pt x="0" y="0"/>
                </a:moveTo>
                <a:lnTo>
                  <a:pt x="5962929" y="0"/>
                </a:lnTo>
                <a:lnTo>
                  <a:pt x="5962929" y="588839"/>
                </a:lnTo>
                <a:lnTo>
                  <a:pt x="0" y="588839"/>
                </a:lnTo>
                <a:lnTo>
                  <a:pt x="0" y="0"/>
                </a:lnTo>
                <a:close/>
              </a:path>
            </a:pathLst>
          </a:custGeom>
          <a:blipFill>
            <a:blip r:embed="rId2"/>
            <a:stretch>
              <a:fillRect l="0" t="-99999" r="0" b="0"/>
            </a:stretch>
          </a:blipFill>
        </p:spPr>
      </p:sp>
      <p:grpSp>
        <p:nvGrpSpPr>
          <p:cNvPr name="Group 8" id="8"/>
          <p:cNvGrpSpPr/>
          <p:nvPr/>
        </p:nvGrpSpPr>
        <p:grpSpPr>
          <a:xfrm rot="0">
            <a:off x="328394" y="2587530"/>
            <a:ext cx="4044687" cy="3356843"/>
            <a:chOff x="0" y="0"/>
            <a:chExt cx="1065267" cy="884107"/>
          </a:xfrm>
        </p:grpSpPr>
        <p:sp>
          <p:nvSpPr>
            <p:cNvPr name="Freeform 9" id="9"/>
            <p:cNvSpPr/>
            <p:nvPr/>
          </p:nvSpPr>
          <p:spPr>
            <a:xfrm flipH="false" flipV="false" rot="0">
              <a:off x="0" y="0"/>
              <a:ext cx="1065267" cy="884107"/>
            </a:xfrm>
            <a:custGeom>
              <a:avLst/>
              <a:gdLst/>
              <a:ahLst/>
              <a:cxnLst/>
              <a:rect r="r" b="b" t="t" l="l"/>
              <a:pathLst>
                <a:path h="884107" w="1065267">
                  <a:moveTo>
                    <a:pt x="0" y="0"/>
                  </a:moveTo>
                  <a:lnTo>
                    <a:pt x="1065267" y="0"/>
                  </a:lnTo>
                  <a:lnTo>
                    <a:pt x="1065267" y="884107"/>
                  </a:lnTo>
                  <a:lnTo>
                    <a:pt x="0" y="884107"/>
                  </a:lnTo>
                  <a:close/>
                </a:path>
              </a:pathLst>
            </a:custGeom>
            <a:solidFill>
              <a:srgbClr val="CFF4FF"/>
            </a:solidFill>
            <a:ln w="19050" cap="sq">
              <a:solidFill>
                <a:srgbClr val="FFFFFF"/>
              </a:solidFill>
              <a:prstDash val="solid"/>
              <a:miter/>
            </a:ln>
          </p:spPr>
        </p:sp>
        <p:sp>
          <p:nvSpPr>
            <p:cNvPr name="TextBox 10" id="10"/>
            <p:cNvSpPr txBox="true"/>
            <p:nvPr/>
          </p:nvSpPr>
          <p:spPr>
            <a:xfrm>
              <a:off x="0" y="-38100"/>
              <a:ext cx="1065267" cy="922207"/>
            </a:xfrm>
            <a:prstGeom prst="rect">
              <a:avLst/>
            </a:prstGeom>
          </p:spPr>
          <p:txBody>
            <a:bodyPr anchor="ctr" rtlCol="false" tIns="50800" lIns="50800" bIns="50800" rIns="50800"/>
            <a:lstStyle/>
            <a:p>
              <a:pPr algn="ctr">
                <a:lnSpc>
                  <a:spcPts val="2605"/>
                </a:lnSpc>
              </a:pPr>
            </a:p>
          </p:txBody>
        </p:sp>
      </p:grpSp>
      <p:grpSp>
        <p:nvGrpSpPr>
          <p:cNvPr name="Group 11" id="11"/>
          <p:cNvGrpSpPr/>
          <p:nvPr/>
        </p:nvGrpSpPr>
        <p:grpSpPr>
          <a:xfrm rot="0">
            <a:off x="4871697" y="2639644"/>
            <a:ext cx="5765711" cy="3304729"/>
            <a:chOff x="0" y="0"/>
            <a:chExt cx="1518541" cy="870381"/>
          </a:xfrm>
        </p:grpSpPr>
        <p:sp>
          <p:nvSpPr>
            <p:cNvPr name="Freeform 12" id="12"/>
            <p:cNvSpPr/>
            <p:nvPr/>
          </p:nvSpPr>
          <p:spPr>
            <a:xfrm flipH="false" flipV="false" rot="0">
              <a:off x="0" y="0"/>
              <a:ext cx="1518541" cy="870381"/>
            </a:xfrm>
            <a:custGeom>
              <a:avLst/>
              <a:gdLst/>
              <a:ahLst/>
              <a:cxnLst/>
              <a:rect r="r" b="b" t="t" l="l"/>
              <a:pathLst>
                <a:path h="870381" w="1518541">
                  <a:moveTo>
                    <a:pt x="0" y="0"/>
                  </a:moveTo>
                  <a:lnTo>
                    <a:pt x="1518541" y="0"/>
                  </a:lnTo>
                  <a:lnTo>
                    <a:pt x="1518541" y="870381"/>
                  </a:lnTo>
                  <a:lnTo>
                    <a:pt x="0" y="870381"/>
                  </a:lnTo>
                  <a:close/>
                </a:path>
              </a:pathLst>
            </a:custGeom>
            <a:solidFill>
              <a:srgbClr val="CFF4FF"/>
            </a:solidFill>
            <a:ln w="19050" cap="sq">
              <a:solidFill>
                <a:srgbClr val="FFFFFF"/>
              </a:solidFill>
              <a:prstDash val="solid"/>
              <a:miter/>
            </a:ln>
          </p:spPr>
        </p:sp>
        <p:sp>
          <p:nvSpPr>
            <p:cNvPr name="TextBox 13" id="13"/>
            <p:cNvSpPr txBox="true"/>
            <p:nvPr/>
          </p:nvSpPr>
          <p:spPr>
            <a:xfrm>
              <a:off x="0" y="-38100"/>
              <a:ext cx="1518541" cy="908481"/>
            </a:xfrm>
            <a:prstGeom prst="rect">
              <a:avLst/>
            </a:prstGeom>
          </p:spPr>
          <p:txBody>
            <a:bodyPr anchor="ctr" rtlCol="false" tIns="50800" lIns="50800" bIns="50800" rIns="50800"/>
            <a:lstStyle/>
            <a:p>
              <a:pPr algn="ctr">
                <a:lnSpc>
                  <a:spcPts val="2605"/>
                </a:lnSpc>
              </a:pPr>
            </a:p>
          </p:txBody>
        </p:sp>
      </p:grpSp>
      <p:grpSp>
        <p:nvGrpSpPr>
          <p:cNvPr name="Group 14" id="14"/>
          <p:cNvGrpSpPr/>
          <p:nvPr/>
        </p:nvGrpSpPr>
        <p:grpSpPr>
          <a:xfrm rot="0">
            <a:off x="551887" y="6346673"/>
            <a:ext cx="6000119" cy="3105414"/>
            <a:chOff x="0" y="0"/>
            <a:chExt cx="1580278" cy="817887"/>
          </a:xfrm>
        </p:grpSpPr>
        <p:sp>
          <p:nvSpPr>
            <p:cNvPr name="Freeform 15" id="15"/>
            <p:cNvSpPr/>
            <p:nvPr/>
          </p:nvSpPr>
          <p:spPr>
            <a:xfrm flipH="false" flipV="false" rot="0">
              <a:off x="0" y="0"/>
              <a:ext cx="1580278" cy="817887"/>
            </a:xfrm>
            <a:custGeom>
              <a:avLst/>
              <a:gdLst/>
              <a:ahLst/>
              <a:cxnLst/>
              <a:rect r="r" b="b" t="t" l="l"/>
              <a:pathLst>
                <a:path h="817887" w="1580278">
                  <a:moveTo>
                    <a:pt x="0" y="0"/>
                  </a:moveTo>
                  <a:lnTo>
                    <a:pt x="1580278" y="0"/>
                  </a:lnTo>
                  <a:lnTo>
                    <a:pt x="1580278" y="817887"/>
                  </a:lnTo>
                  <a:lnTo>
                    <a:pt x="0" y="817887"/>
                  </a:lnTo>
                  <a:close/>
                </a:path>
              </a:pathLst>
            </a:custGeom>
            <a:solidFill>
              <a:srgbClr val="CFF4FF"/>
            </a:solidFill>
            <a:ln w="19050" cap="sq">
              <a:solidFill>
                <a:srgbClr val="FFFFFF"/>
              </a:solidFill>
              <a:prstDash val="solid"/>
              <a:miter/>
            </a:ln>
          </p:spPr>
        </p:sp>
        <p:sp>
          <p:nvSpPr>
            <p:cNvPr name="TextBox 16" id="16"/>
            <p:cNvSpPr txBox="true"/>
            <p:nvPr/>
          </p:nvSpPr>
          <p:spPr>
            <a:xfrm>
              <a:off x="0" y="-38100"/>
              <a:ext cx="1580278" cy="855987"/>
            </a:xfrm>
            <a:prstGeom prst="rect">
              <a:avLst/>
            </a:prstGeom>
          </p:spPr>
          <p:txBody>
            <a:bodyPr anchor="ctr" rtlCol="false" tIns="50800" lIns="50800" bIns="50800" rIns="50800"/>
            <a:lstStyle/>
            <a:p>
              <a:pPr algn="ctr">
                <a:lnSpc>
                  <a:spcPts val="2605"/>
                </a:lnSpc>
              </a:pPr>
            </a:p>
          </p:txBody>
        </p:sp>
      </p:grpSp>
      <p:grpSp>
        <p:nvGrpSpPr>
          <p:cNvPr name="Group 17" id="17"/>
          <p:cNvGrpSpPr/>
          <p:nvPr/>
        </p:nvGrpSpPr>
        <p:grpSpPr>
          <a:xfrm rot="0">
            <a:off x="11469442" y="2613587"/>
            <a:ext cx="5241974" cy="3304729"/>
            <a:chOff x="0" y="0"/>
            <a:chExt cx="1380602" cy="870381"/>
          </a:xfrm>
        </p:grpSpPr>
        <p:sp>
          <p:nvSpPr>
            <p:cNvPr name="Freeform 18" id="18"/>
            <p:cNvSpPr/>
            <p:nvPr/>
          </p:nvSpPr>
          <p:spPr>
            <a:xfrm flipH="false" flipV="false" rot="0">
              <a:off x="0" y="0"/>
              <a:ext cx="1380602" cy="870381"/>
            </a:xfrm>
            <a:custGeom>
              <a:avLst/>
              <a:gdLst/>
              <a:ahLst/>
              <a:cxnLst/>
              <a:rect r="r" b="b" t="t" l="l"/>
              <a:pathLst>
                <a:path h="870381" w="1380602">
                  <a:moveTo>
                    <a:pt x="0" y="0"/>
                  </a:moveTo>
                  <a:lnTo>
                    <a:pt x="1380602" y="0"/>
                  </a:lnTo>
                  <a:lnTo>
                    <a:pt x="1380602" y="870381"/>
                  </a:lnTo>
                  <a:lnTo>
                    <a:pt x="0" y="870381"/>
                  </a:lnTo>
                  <a:close/>
                </a:path>
              </a:pathLst>
            </a:custGeom>
            <a:solidFill>
              <a:srgbClr val="CFF4FF"/>
            </a:solidFill>
            <a:ln w="19050" cap="sq">
              <a:solidFill>
                <a:srgbClr val="FFFFFF"/>
              </a:solidFill>
              <a:prstDash val="solid"/>
              <a:miter/>
            </a:ln>
          </p:spPr>
        </p:sp>
        <p:sp>
          <p:nvSpPr>
            <p:cNvPr name="TextBox 19" id="19"/>
            <p:cNvSpPr txBox="true"/>
            <p:nvPr/>
          </p:nvSpPr>
          <p:spPr>
            <a:xfrm>
              <a:off x="0" y="-38100"/>
              <a:ext cx="1380602" cy="908481"/>
            </a:xfrm>
            <a:prstGeom prst="rect">
              <a:avLst/>
            </a:prstGeom>
          </p:spPr>
          <p:txBody>
            <a:bodyPr anchor="ctr" rtlCol="false" tIns="50800" lIns="50800" bIns="50800" rIns="50800"/>
            <a:lstStyle/>
            <a:p>
              <a:pPr algn="ctr">
                <a:lnSpc>
                  <a:spcPts val="2605"/>
                </a:lnSpc>
              </a:pPr>
            </a:p>
          </p:txBody>
        </p:sp>
      </p:grpSp>
      <p:sp>
        <p:nvSpPr>
          <p:cNvPr name="Freeform 20" id="20"/>
          <p:cNvSpPr/>
          <p:nvPr/>
        </p:nvSpPr>
        <p:spPr>
          <a:xfrm flipH="false" flipV="false" rot="0">
            <a:off x="11469442" y="5918316"/>
            <a:ext cx="5484184" cy="541563"/>
          </a:xfrm>
          <a:custGeom>
            <a:avLst/>
            <a:gdLst/>
            <a:ahLst/>
            <a:cxnLst/>
            <a:rect r="r" b="b" t="t" l="l"/>
            <a:pathLst>
              <a:path h="541563" w="5484184">
                <a:moveTo>
                  <a:pt x="0" y="0"/>
                </a:moveTo>
                <a:lnTo>
                  <a:pt x="5484185" y="0"/>
                </a:lnTo>
                <a:lnTo>
                  <a:pt x="5484185" y="541563"/>
                </a:lnTo>
                <a:lnTo>
                  <a:pt x="0" y="541563"/>
                </a:lnTo>
                <a:lnTo>
                  <a:pt x="0" y="0"/>
                </a:lnTo>
                <a:close/>
              </a:path>
            </a:pathLst>
          </a:custGeom>
          <a:blipFill>
            <a:blip r:embed="rId2"/>
            <a:stretch>
              <a:fillRect l="0" t="-99999" r="0" b="0"/>
            </a:stretch>
          </a:blipFill>
        </p:spPr>
      </p:sp>
      <p:grpSp>
        <p:nvGrpSpPr>
          <p:cNvPr name="Group 21" id="21"/>
          <p:cNvGrpSpPr/>
          <p:nvPr/>
        </p:nvGrpSpPr>
        <p:grpSpPr>
          <a:xfrm rot="0">
            <a:off x="15238003" y="8290589"/>
            <a:ext cx="7523780" cy="752378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4" id="24"/>
          <p:cNvSpPr/>
          <p:nvPr/>
        </p:nvSpPr>
        <p:spPr>
          <a:xfrm flipH="false" flipV="false" rot="0">
            <a:off x="2235481" y="2739025"/>
            <a:ext cx="1912556" cy="1975515"/>
          </a:xfrm>
          <a:custGeom>
            <a:avLst/>
            <a:gdLst/>
            <a:ahLst/>
            <a:cxnLst/>
            <a:rect r="r" b="b" t="t" l="l"/>
            <a:pathLst>
              <a:path h="1975515" w="1912556">
                <a:moveTo>
                  <a:pt x="0" y="0"/>
                </a:moveTo>
                <a:lnTo>
                  <a:pt x="1912556" y="0"/>
                </a:lnTo>
                <a:lnTo>
                  <a:pt x="1912556" y="1975515"/>
                </a:lnTo>
                <a:lnTo>
                  <a:pt x="0" y="1975515"/>
                </a:lnTo>
                <a:lnTo>
                  <a:pt x="0" y="0"/>
                </a:lnTo>
                <a:close/>
              </a:path>
            </a:pathLst>
          </a:custGeom>
          <a:blipFill>
            <a:blip r:embed="rId3"/>
            <a:stretch>
              <a:fillRect l="0" t="-3102" r="0" b="-3102"/>
            </a:stretch>
          </a:blipFill>
        </p:spPr>
      </p:sp>
      <p:sp>
        <p:nvSpPr>
          <p:cNvPr name="Freeform 25" id="25"/>
          <p:cNvSpPr/>
          <p:nvPr/>
        </p:nvSpPr>
        <p:spPr>
          <a:xfrm flipH="false" flipV="false" rot="0">
            <a:off x="5045356" y="2998307"/>
            <a:ext cx="2342822" cy="1456950"/>
          </a:xfrm>
          <a:custGeom>
            <a:avLst/>
            <a:gdLst/>
            <a:ahLst/>
            <a:cxnLst/>
            <a:rect r="r" b="b" t="t" l="l"/>
            <a:pathLst>
              <a:path h="1456950" w="2342822">
                <a:moveTo>
                  <a:pt x="0" y="0"/>
                </a:moveTo>
                <a:lnTo>
                  <a:pt x="2342822" y="0"/>
                </a:lnTo>
                <a:lnTo>
                  <a:pt x="2342822" y="1456951"/>
                </a:lnTo>
                <a:lnTo>
                  <a:pt x="0" y="1456951"/>
                </a:lnTo>
                <a:lnTo>
                  <a:pt x="0" y="0"/>
                </a:lnTo>
                <a:close/>
              </a:path>
            </a:pathLst>
          </a:custGeom>
          <a:blipFill>
            <a:blip r:embed="rId4"/>
            <a:stretch>
              <a:fillRect l="0" t="0" r="-14309" b="-122204"/>
            </a:stretch>
          </a:blipFill>
        </p:spPr>
      </p:sp>
      <p:sp>
        <p:nvSpPr>
          <p:cNvPr name="Freeform 26" id="26"/>
          <p:cNvSpPr/>
          <p:nvPr/>
        </p:nvSpPr>
        <p:spPr>
          <a:xfrm flipH="false" flipV="false" rot="0">
            <a:off x="7427927" y="3064418"/>
            <a:ext cx="3102693" cy="1293701"/>
          </a:xfrm>
          <a:custGeom>
            <a:avLst/>
            <a:gdLst/>
            <a:ahLst/>
            <a:cxnLst/>
            <a:rect r="r" b="b" t="t" l="l"/>
            <a:pathLst>
              <a:path h="1293701" w="3102693">
                <a:moveTo>
                  <a:pt x="0" y="0"/>
                </a:moveTo>
                <a:lnTo>
                  <a:pt x="3102693" y="0"/>
                </a:lnTo>
                <a:lnTo>
                  <a:pt x="3102693" y="1293702"/>
                </a:lnTo>
                <a:lnTo>
                  <a:pt x="0" y="1293702"/>
                </a:lnTo>
                <a:lnTo>
                  <a:pt x="0" y="0"/>
                </a:lnTo>
                <a:close/>
              </a:path>
            </a:pathLst>
          </a:custGeom>
          <a:blipFill>
            <a:blip r:embed="rId5"/>
            <a:stretch>
              <a:fillRect l="0" t="-2068" r="0" b="-2068"/>
            </a:stretch>
          </a:blipFill>
        </p:spPr>
      </p:sp>
      <p:sp>
        <p:nvSpPr>
          <p:cNvPr name="Freeform 27" id="27"/>
          <p:cNvSpPr/>
          <p:nvPr/>
        </p:nvSpPr>
        <p:spPr>
          <a:xfrm flipH="false" flipV="false" rot="0">
            <a:off x="11812342" y="2769543"/>
            <a:ext cx="2241740" cy="1914478"/>
          </a:xfrm>
          <a:custGeom>
            <a:avLst/>
            <a:gdLst/>
            <a:ahLst/>
            <a:cxnLst/>
            <a:rect r="r" b="b" t="t" l="l"/>
            <a:pathLst>
              <a:path h="1914478" w="2241740">
                <a:moveTo>
                  <a:pt x="0" y="0"/>
                </a:moveTo>
                <a:lnTo>
                  <a:pt x="2241740" y="0"/>
                </a:lnTo>
                <a:lnTo>
                  <a:pt x="2241740" y="1914479"/>
                </a:lnTo>
                <a:lnTo>
                  <a:pt x="0" y="1914479"/>
                </a:lnTo>
                <a:lnTo>
                  <a:pt x="0" y="0"/>
                </a:lnTo>
                <a:close/>
              </a:path>
            </a:pathLst>
          </a:custGeom>
          <a:blipFill>
            <a:blip r:embed="rId6"/>
            <a:stretch>
              <a:fillRect l="0" t="0" r="0" b="0"/>
            </a:stretch>
          </a:blipFill>
        </p:spPr>
      </p:sp>
      <p:sp>
        <p:nvSpPr>
          <p:cNvPr name="Freeform 28" id="28"/>
          <p:cNvSpPr/>
          <p:nvPr/>
        </p:nvSpPr>
        <p:spPr>
          <a:xfrm flipH="false" flipV="false" rot="0">
            <a:off x="14269797" y="2798381"/>
            <a:ext cx="2257170" cy="1916159"/>
          </a:xfrm>
          <a:custGeom>
            <a:avLst/>
            <a:gdLst/>
            <a:ahLst/>
            <a:cxnLst/>
            <a:rect r="r" b="b" t="t" l="l"/>
            <a:pathLst>
              <a:path h="1916159" w="2257170">
                <a:moveTo>
                  <a:pt x="0" y="0"/>
                </a:moveTo>
                <a:lnTo>
                  <a:pt x="2257170" y="0"/>
                </a:lnTo>
                <a:lnTo>
                  <a:pt x="2257170" y="1916159"/>
                </a:lnTo>
                <a:lnTo>
                  <a:pt x="0" y="1916159"/>
                </a:lnTo>
                <a:lnTo>
                  <a:pt x="0" y="0"/>
                </a:lnTo>
                <a:close/>
              </a:path>
            </a:pathLst>
          </a:custGeom>
          <a:blipFill>
            <a:blip r:embed="rId7"/>
            <a:stretch>
              <a:fillRect l="0" t="0" r="0" b="0"/>
            </a:stretch>
          </a:blipFill>
        </p:spPr>
      </p:sp>
      <p:sp>
        <p:nvSpPr>
          <p:cNvPr name="Freeform 29" id="29"/>
          <p:cNvSpPr/>
          <p:nvPr/>
        </p:nvSpPr>
        <p:spPr>
          <a:xfrm flipH="false" flipV="false" rot="0">
            <a:off x="765006" y="6675754"/>
            <a:ext cx="2591790" cy="1466672"/>
          </a:xfrm>
          <a:custGeom>
            <a:avLst/>
            <a:gdLst/>
            <a:ahLst/>
            <a:cxnLst/>
            <a:rect r="r" b="b" t="t" l="l"/>
            <a:pathLst>
              <a:path h="1466672" w="2591790">
                <a:moveTo>
                  <a:pt x="0" y="0"/>
                </a:moveTo>
                <a:lnTo>
                  <a:pt x="2591790" y="0"/>
                </a:lnTo>
                <a:lnTo>
                  <a:pt x="2591790" y="1466673"/>
                </a:lnTo>
                <a:lnTo>
                  <a:pt x="0" y="1466673"/>
                </a:lnTo>
                <a:lnTo>
                  <a:pt x="0" y="0"/>
                </a:lnTo>
                <a:close/>
              </a:path>
            </a:pathLst>
          </a:custGeom>
          <a:blipFill>
            <a:blip r:embed="rId8"/>
            <a:stretch>
              <a:fillRect l="0" t="0" r="0" b="0"/>
            </a:stretch>
          </a:blipFill>
        </p:spPr>
      </p:sp>
      <p:sp>
        <p:nvSpPr>
          <p:cNvPr name="Freeform 30" id="30"/>
          <p:cNvSpPr/>
          <p:nvPr/>
        </p:nvSpPr>
        <p:spPr>
          <a:xfrm flipH="false" flipV="false" rot="0">
            <a:off x="3191759" y="6551929"/>
            <a:ext cx="3185012" cy="1775252"/>
          </a:xfrm>
          <a:custGeom>
            <a:avLst/>
            <a:gdLst/>
            <a:ahLst/>
            <a:cxnLst/>
            <a:rect r="r" b="b" t="t" l="l"/>
            <a:pathLst>
              <a:path h="1775252" w="3185012">
                <a:moveTo>
                  <a:pt x="0" y="0"/>
                </a:moveTo>
                <a:lnTo>
                  <a:pt x="3185011" y="0"/>
                </a:lnTo>
                <a:lnTo>
                  <a:pt x="3185011" y="1775253"/>
                </a:lnTo>
                <a:lnTo>
                  <a:pt x="0" y="1775253"/>
                </a:lnTo>
                <a:lnTo>
                  <a:pt x="0" y="0"/>
                </a:lnTo>
                <a:close/>
              </a:path>
            </a:pathLst>
          </a:custGeom>
          <a:blipFill>
            <a:blip r:embed="rId9"/>
            <a:stretch>
              <a:fillRect l="0" t="0" r="0" b="0"/>
            </a:stretch>
          </a:blipFill>
        </p:spPr>
      </p:sp>
      <p:grpSp>
        <p:nvGrpSpPr>
          <p:cNvPr name="Group 31" id="31"/>
          <p:cNvGrpSpPr/>
          <p:nvPr/>
        </p:nvGrpSpPr>
        <p:grpSpPr>
          <a:xfrm rot="0">
            <a:off x="9544204" y="6422300"/>
            <a:ext cx="5241974" cy="2916645"/>
            <a:chOff x="0" y="0"/>
            <a:chExt cx="1380602" cy="768170"/>
          </a:xfrm>
        </p:grpSpPr>
        <p:sp>
          <p:nvSpPr>
            <p:cNvPr name="Freeform 32" id="32"/>
            <p:cNvSpPr/>
            <p:nvPr/>
          </p:nvSpPr>
          <p:spPr>
            <a:xfrm flipH="false" flipV="false" rot="0">
              <a:off x="0" y="0"/>
              <a:ext cx="1380602" cy="768170"/>
            </a:xfrm>
            <a:custGeom>
              <a:avLst/>
              <a:gdLst/>
              <a:ahLst/>
              <a:cxnLst/>
              <a:rect r="r" b="b" t="t" l="l"/>
              <a:pathLst>
                <a:path h="768170" w="1380602">
                  <a:moveTo>
                    <a:pt x="0" y="0"/>
                  </a:moveTo>
                  <a:lnTo>
                    <a:pt x="1380602" y="0"/>
                  </a:lnTo>
                  <a:lnTo>
                    <a:pt x="1380602" y="768170"/>
                  </a:lnTo>
                  <a:lnTo>
                    <a:pt x="0" y="768170"/>
                  </a:lnTo>
                  <a:close/>
                </a:path>
              </a:pathLst>
            </a:custGeom>
            <a:solidFill>
              <a:srgbClr val="CFF4FF"/>
            </a:solidFill>
            <a:ln w="19050" cap="sq">
              <a:solidFill>
                <a:srgbClr val="FFFFFF"/>
              </a:solidFill>
              <a:prstDash val="solid"/>
              <a:miter/>
            </a:ln>
          </p:spPr>
        </p:sp>
        <p:sp>
          <p:nvSpPr>
            <p:cNvPr name="TextBox 33" id="33"/>
            <p:cNvSpPr txBox="true"/>
            <p:nvPr/>
          </p:nvSpPr>
          <p:spPr>
            <a:xfrm>
              <a:off x="0" y="-38100"/>
              <a:ext cx="1380602" cy="806270"/>
            </a:xfrm>
            <a:prstGeom prst="rect">
              <a:avLst/>
            </a:prstGeom>
          </p:spPr>
          <p:txBody>
            <a:bodyPr anchor="ctr" rtlCol="false" tIns="50800" lIns="50800" bIns="50800" rIns="50800"/>
            <a:lstStyle/>
            <a:p>
              <a:pPr algn="ctr">
                <a:lnSpc>
                  <a:spcPts val="2605"/>
                </a:lnSpc>
              </a:pPr>
            </a:p>
          </p:txBody>
        </p:sp>
      </p:grpSp>
      <p:sp>
        <p:nvSpPr>
          <p:cNvPr name="Freeform 34" id="34"/>
          <p:cNvSpPr/>
          <p:nvPr/>
        </p:nvSpPr>
        <p:spPr>
          <a:xfrm flipH="false" flipV="false" rot="0">
            <a:off x="10483909" y="6757287"/>
            <a:ext cx="3362564" cy="1569894"/>
          </a:xfrm>
          <a:custGeom>
            <a:avLst/>
            <a:gdLst/>
            <a:ahLst/>
            <a:cxnLst/>
            <a:rect r="r" b="b" t="t" l="l"/>
            <a:pathLst>
              <a:path h="1569894" w="3362564">
                <a:moveTo>
                  <a:pt x="0" y="0"/>
                </a:moveTo>
                <a:lnTo>
                  <a:pt x="3362564" y="0"/>
                </a:lnTo>
                <a:lnTo>
                  <a:pt x="3362564" y="1569895"/>
                </a:lnTo>
                <a:lnTo>
                  <a:pt x="0" y="1569895"/>
                </a:lnTo>
                <a:lnTo>
                  <a:pt x="0" y="0"/>
                </a:lnTo>
                <a:close/>
              </a:path>
            </a:pathLst>
          </a:custGeom>
          <a:blipFill>
            <a:blip r:embed="rId10"/>
            <a:stretch>
              <a:fillRect l="0" t="-18076" r="0" b="-34613"/>
            </a:stretch>
          </a:blipFill>
        </p:spPr>
      </p:sp>
      <p:sp>
        <p:nvSpPr>
          <p:cNvPr name="TextBox 35" id="35"/>
          <p:cNvSpPr txBox="true"/>
          <p:nvPr/>
        </p:nvSpPr>
        <p:spPr>
          <a:xfrm rot="0">
            <a:off x="9992740" y="8508157"/>
            <a:ext cx="4521675" cy="1000506"/>
          </a:xfrm>
          <a:prstGeom prst="rect">
            <a:avLst/>
          </a:prstGeom>
        </p:spPr>
        <p:txBody>
          <a:bodyPr anchor="t" rtlCol="false" tIns="0" lIns="0" bIns="0" rIns="0">
            <a:spAutoFit/>
          </a:bodyPr>
          <a:lstStyle/>
          <a:p>
            <a:pPr algn="ctr">
              <a:lnSpc>
                <a:spcPts val="4001"/>
              </a:lnSpc>
            </a:pPr>
            <a:r>
              <a:rPr lang="en-US" sz="2899" b="true">
                <a:solidFill>
                  <a:srgbClr val="01237D"/>
                </a:solidFill>
                <a:latin typeface="DM Sans Bold"/>
                <a:ea typeface="DM Sans Bold"/>
                <a:cs typeface="DM Sans Bold"/>
                <a:sym typeface="DM Sans Bold"/>
              </a:rPr>
              <a:t>Front-end et API</a:t>
            </a:r>
          </a:p>
          <a:p>
            <a:pPr algn="ctr" marL="0" indent="0" lvl="0">
              <a:lnSpc>
                <a:spcPts val="4001"/>
              </a:lnSpc>
              <a:spcBef>
                <a:spcPct val="0"/>
              </a:spcBef>
            </a:pPr>
          </a:p>
        </p:txBody>
      </p:sp>
      <p:sp>
        <p:nvSpPr>
          <p:cNvPr name="Freeform 36" id="36"/>
          <p:cNvSpPr/>
          <p:nvPr/>
        </p:nvSpPr>
        <p:spPr>
          <a:xfrm flipH="false" flipV="false" rot="0">
            <a:off x="9423099" y="9203482"/>
            <a:ext cx="5484184" cy="541563"/>
          </a:xfrm>
          <a:custGeom>
            <a:avLst/>
            <a:gdLst/>
            <a:ahLst/>
            <a:cxnLst/>
            <a:rect r="r" b="b" t="t" l="l"/>
            <a:pathLst>
              <a:path h="541563" w="5484184">
                <a:moveTo>
                  <a:pt x="0" y="0"/>
                </a:moveTo>
                <a:lnTo>
                  <a:pt x="5484184" y="0"/>
                </a:lnTo>
                <a:lnTo>
                  <a:pt x="5484184" y="541563"/>
                </a:lnTo>
                <a:lnTo>
                  <a:pt x="0" y="541563"/>
                </a:lnTo>
                <a:lnTo>
                  <a:pt x="0" y="0"/>
                </a:lnTo>
                <a:close/>
              </a:path>
            </a:pathLst>
          </a:custGeom>
          <a:blipFill>
            <a:blip r:embed="rId2"/>
            <a:stretch>
              <a:fillRect l="0" t="-99999" r="0" b="0"/>
            </a:stretch>
          </a:blipFill>
        </p:spPr>
      </p:sp>
      <p:sp>
        <p:nvSpPr>
          <p:cNvPr name="Freeform 37" id="37"/>
          <p:cNvSpPr/>
          <p:nvPr/>
        </p:nvSpPr>
        <p:spPr>
          <a:xfrm flipH="false" flipV="false" rot="0">
            <a:off x="408350" y="2798381"/>
            <a:ext cx="1789031" cy="1916159"/>
          </a:xfrm>
          <a:custGeom>
            <a:avLst/>
            <a:gdLst/>
            <a:ahLst/>
            <a:cxnLst/>
            <a:rect r="r" b="b" t="t" l="l"/>
            <a:pathLst>
              <a:path h="1916159" w="1789031">
                <a:moveTo>
                  <a:pt x="0" y="0"/>
                </a:moveTo>
                <a:lnTo>
                  <a:pt x="1789031" y="0"/>
                </a:lnTo>
                <a:lnTo>
                  <a:pt x="1789031" y="1916159"/>
                </a:lnTo>
                <a:lnTo>
                  <a:pt x="0" y="1916159"/>
                </a:lnTo>
                <a:lnTo>
                  <a:pt x="0" y="0"/>
                </a:lnTo>
                <a:close/>
              </a:path>
            </a:pathLst>
          </a:custGeom>
          <a:blipFill>
            <a:blip r:embed="rId11"/>
            <a:stretch>
              <a:fillRect l="-3552" t="0" r="-3552" b="0"/>
            </a:stretch>
          </a:blipFill>
        </p:spPr>
      </p:sp>
      <p:sp>
        <p:nvSpPr>
          <p:cNvPr name="TextBox 38" id="38"/>
          <p:cNvSpPr txBox="true"/>
          <p:nvPr/>
        </p:nvSpPr>
        <p:spPr>
          <a:xfrm rot="0">
            <a:off x="765006" y="4980026"/>
            <a:ext cx="3432147" cy="1321689"/>
          </a:xfrm>
          <a:prstGeom prst="rect">
            <a:avLst/>
          </a:prstGeom>
        </p:spPr>
        <p:txBody>
          <a:bodyPr anchor="t" rtlCol="false" tIns="0" lIns="0" bIns="0" rIns="0">
            <a:spAutoFit/>
          </a:bodyPr>
          <a:lstStyle/>
          <a:p>
            <a:pPr algn="ctr">
              <a:lnSpc>
                <a:spcPts val="3587"/>
              </a:lnSpc>
            </a:pPr>
            <a:r>
              <a:rPr lang="en-US" sz="2599" b="true">
                <a:solidFill>
                  <a:srgbClr val="01237D"/>
                </a:solidFill>
                <a:latin typeface="DM Sans Bold"/>
                <a:ea typeface="DM Sans Bold"/>
                <a:cs typeface="DM Sans Bold"/>
                <a:sym typeface="DM Sans Bold"/>
              </a:rPr>
              <a:t>Environnement de développement</a:t>
            </a:r>
          </a:p>
          <a:p>
            <a:pPr algn="ctr" marL="0" indent="0" lvl="0">
              <a:lnSpc>
                <a:spcPts val="3587"/>
              </a:lnSpc>
              <a:spcBef>
                <a:spcPct val="0"/>
              </a:spcBef>
            </a:pPr>
          </a:p>
        </p:txBody>
      </p:sp>
      <p:sp>
        <p:nvSpPr>
          <p:cNvPr name="TextBox 39" id="39"/>
          <p:cNvSpPr txBox="true"/>
          <p:nvPr/>
        </p:nvSpPr>
        <p:spPr>
          <a:xfrm rot="0">
            <a:off x="5711853" y="4980026"/>
            <a:ext cx="4521675" cy="1321689"/>
          </a:xfrm>
          <a:prstGeom prst="rect">
            <a:avLst/>
          </a:prstGeom>
        </p:spPr>
        <p:txBody>
          <a:bodyPr anchor="t" rtlCol="false" tIns="0" lIns="0" bIns="0" rIns="0">
            <a:spAutoFit/>
          </a:bodyPr>
          <a:lstStyle/>
          <a:p>
            <a:pPr algn="ctr">
              <a:lnSpc>
                <a:spcPts val="3587"/>
              </a:lnSpc>
            </a:pPr>
            <a:r>
              <a:rPr lang="en-US" sz="2599" b="true">
                <a:solidFill>
                  <a:srgbClr val="01237D"/>
                </a:solidFill>
                <a:latin typeface="DM Sans Bold"/>
                <a:ea typeface="DM Sans Bold"/>
                <a:cs typeface="DM Sans Bold"/>
                <a:sym typeface="DM Sans Bold"/>
              </a:rPr>
              <a:t>Suivi et gestion des modèles</a:t>
            </a:r>
          </a:p>
          <a:p>
            <a:pPr algn="ctr" marL="0" indent="0" lvl="0">
              <a:lnSpc>
                <a:spcPts val="3587"/>
              </a:lnSpc>
              <a:spcBef>
                <a:spcPct val="0"/>
              </a:spcBef>
            </a:pPr>
          </a:p>
        </p:txBody>
      </p:sp>
      <p:sp>
        <p:nvSpPr>
          <p:cNvPr name="TextBox 40" id="40"/>
          <p:cNvSpPr txBox="true"/>
          <p:nvPr/>
        </p:nvSpPr>
        <p:spPr>
          <a:xfrm rot="0">
            <a:off x="12387401" y="4851368"/>
            <a:ext cx="3406056" cy="1386478"/>
          </a:xfrm>
          <a:prstGeom prst="rect">
            <a:avLst/>
          </a:prstGeom>
        </p:spPr>
        <p:txBody>
          <a:bodyPr anchor="t" rtlCol="false" tIns="0" lIns="0" bIns="0" rIns="0">
            <a:spAutoFit/>
          </a:bodyPr>
          <a:lstStyle/>
          <a:p>
            <a:pPr algn="ctr">
              <a:lnSpc>
                <a:spcPts val="3701"/>
              </a:lnSpc>
            </a:pPr>
            <a:r>
              <a:rPr lang="en-US" sz="2682" b="true">
                <a:solidFill>
                  <a:srgbClr val="01237D"/>
                </a:solidFill>
                <a:latin typeface="DM Sans Bold"/>
                <a:ea typeface="DM Sans Bold"/>
                <a:cs typeface="DM Sans Bold"/>
                <a:sym typeface="DM Sans Bold"/>
              </a:rPr>
              <a:t>Infrastructure et déploiement</a:t>
            </a:r>
          </a:p>
          <a:p>
            <a:pPr algn="ctr" marL="0" indent="0" lvl="0">
              <a:lnSpc>
                <a:spcPts val="3701"/>
              </a:lnSpc>
              <a:spcBef>
                <a:spcPct val="0"/>
              </a:spcBef>
            </a:pPr>
          </a:p>
        </p:txBody>
      </p:sp>
      <p:sp>
        <p:nvSpPr>
          <p:cNvPr name="TextBox 41" id="41"/>
          <p:cNvSpPr txBox="true"/>
          <p:nvPr/>
        </p:nvSpPr>
        <p:spPr>
          <a:xfrm rot="0">
            <a:off x="4197153" y="1225455"/>
            <a:ext cx="8779073" cy="1028700"/>
          </a:xfrm>
          <a:prstGeom prst="rect">
            <a:avLst/>
          </a:prstGeom>
        </p:spPr>
        <p:txBody>
          <a:bodyPr anchor="t" rtlCol="false" tIns="0" lIns="0" bIns="0" rIns="0">
            <a:spAutoFit/>
          </a:bodyPr>
          <a:lstStyle/>
          <a:p>
            <a:pPr algn="ctr">
              <a:lnSpc>
                <a:spcPts val="8400"/>
              </a:lnSpc>
              <a:spcBef>
                <a:spcPct val="0"/>
              </a:spcBef>
            </a:pPr>
            <a:r>
              <a:rPr lang="en-US" sz="6000">
                <a:solidFill>
                  <a:srgbClr val="0071C9"/>
                </a:solidFill>
                <a:latin typeface="Open Sans Extra Bold"/>
                <a:ea typeface="Open Sans Extra Bold"/>
                <a:cs typeface="Open Sans Extra Bold"/>
                <a:sym typeface="Open Sans Extra Bold"/>
              </a:rPr>
              <a:t>Technologies Utilisées</a:t>
            </a:r>
          </a:p>
        </p:txBody>
      </p:sp>
      <p:sp>
        <p:nvSpPr>
          <p:cNvPr name="TextBox 42" id="42"/>
          <p:cNvSpPr txBox="true"/>
          <p:nvPr/>
        </p:nvSpPr>
        <p:spPr>
          <a:xfrm rot="0">
            <a:off x="1412279" y="8534273"/>
            <a:ext cx="4521675" cy="495681"/>
          </a:xfrm>
          <a:prstGeom prst="rect">
            <a:avLst/>
          </a:prstGeom>
        </p:spPr>
        <p:txBody>
          <a:bodyPr anchor="t" rtlCol="false" tIns="0" lIns="0" bIns="0" rIns="0">
            <a:spAutoFit/>
          </a:bodyPr>
          <a:lstStyle/>
          <a:p>
            <a:pPr algn="ctr" marL="0" indent="0" lvl="0">
              <a:lnSpc>
                <a:spcPts val="4001"/>
              </a:lnSpc>
              <a:spcBef>
                <a:spcPct val="0"/>
              </a:spcBef>
            </a:pPr>
            <a:r>
              <a:rPr lang="en-US" b="true" sz="2899">
                <a:solidFill>
                  <a:srgbClr val="01237D"/>
                </a:solidFill>
                <a:latin typeface="DM Sans Bold"/>
                <a:ea typeface="DM Sans Bold"/>
                <a:cs typeface="DM Sans Bold"/>
                <a:sym typeface="DM Sans Bold"/>
              </a:rPr>
              <a:t>Gestion de projet</a:t>
            </a:r>
          </a:p>
        </p:txBody>
      </p:sp>
      <p:sp>
        <p:nvSpPr>
          <p:cNvPr name="TextBox 43" id="43"/>
          <p:cNvSpPr txBox="true"/>
          <p:nvPr/>
        </p:nvSpPr>
        <p:spPr>
          <a:xfrm rot="0">
            <a:off x="17589660" y="9356025"/>
            <a:ext cx="698340"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656283"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007842"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8618101" y="1767991"/>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9144000" y="3541391"/>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9144000" y="5318072"/>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1" id="11"/>
          <p:cNvGrpSpPr/>
          <p:nvPr/>
        </p:nvGrpSpPr>
        <p:grpSpPr>
          <a:xfrm rot="0">
            <a:off x="7905455" y="2656032"/>
            <a:ext cx="373607" cy="3736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3" id="1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4" id="14"/>
          <p:cNvGrpSpPr/>
          <p:nvPr/>
        </p:nvGrpSpPr>
        <p:grpSpPr>
          <a:xfrm rot="0">
            <a:off x="8315313" y="4180490"/>
            <a:ext cx="373607" cy="3736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6" id="1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7" id="17"/>
          <p:cNvGrpSpPr/>
          <p:nvPr/>
        </p:nvGrpSpPr>
        <p:grpSpPr>
          <a:xfrm rot="0">
            <a:off x="8309460" y="5760481"/>
            <a:ext cx="373607" cy="37360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9" id="1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Freeform 20" id="20"/>
          <p:cNvSpPr/>
          <p:nvPr/>
        </p:nvSpPr>
        <p:spPr>
          <a:xfrm flipH="false" flipV="false" rot="0">
            <a:off x="1028700" y="3029639"/>
            <a:ext cx="4463636" cy="5346553"/>
          </a:xfrm>
          <a:custGeom>
            <a:avLst/>
            <a:gdLst/>
            <a:ahLst/>
            <a:cxnLst/>
            <a:rect r="r" b="b" t="t" l="l"/>
            <a:pathLst>
              <a:path h="5346553" w="4463636">
                <a:moveTo>
                  <a:pt x="0" y="0"/>
                </a:moveTo>
                <a:lnTo>
                  <a:pt x="4463636" y="0"/>
                </a:lnTo>
                <a:lnTo>
                  <a:pt x="4463636" y="5346553"/>
                </a:lnTo>
                <a:lnTo>
                  <a:pt x="0" y="5346553"/>
                </a:lnTo>
                <a:lnTo>
                  <a:pt x="0" y="0"/>
                </a:lnTo>
                <a:close/>
              </a:path>
            </a:pathLst>
          </a:custGeom>
          <a:blipFill>
            <a:blip r:embed="rId4"/>
            <a:stretch>
              <a:fillRect l="0" t="0" r="0" b="0"/>
            </a:stretch>
          </a:blipFill>
        </p:spPr>
      </p:sp>
      <p:sp>
        <p:nvSpPr>
          <p:cNvPr name="TextBox 21" id="21"/>
          <p:cNvSpPr txBox="true"/>
          <p:nvPr/>
        </p:nvSpPr>
        <p:spPr>
          <a:xfrm rot="0">
            <a:off x="1028700" y="1559069"/>
            <a:ext cx="6033363" cy="1028700"/>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FDFDFD"/>
                </a:solidFill>
                <a:latin typeface="Open Sans Extra Bold"/>
                <a:ea typeface="Open Sans Extra Bold"/>
                <a:cs typeface="Open Sans Extra Bold"/>
                <a:sym typeface="Open Sans Extra Bold"/>
              </a:rPr>
              <a:t>Conception</a:t>
            </a:r>
          </a:p>
        </p:txBody>
      </p:sp>
      <p:sp>
        <p:nvSpPr>
          <p:cNvPr name="TextBox 22" id="22"/>
          <p:cNvSpPr txBox="true"/>
          <p:nvPr/>
        </p:nvSpPr>
        <p:spPr>
          <a:xfrm rot="0">
            <a:off x="10423198" y="1938482"/>
            <a:ext cx="5768345" cy="1422400"/>
          </a:xfrm>
          <a:prstGeom prst="rect">
            <a:avLst/>
          </a:prstGeom>
        </p:spPr>
        <p:txBody>
          <a:bodyPr anchor="t" rtlCol="false" tIns="0" lIns="0" bIns="0" rIns="0">
            <a:spAutoFit/>
          </a:bodyPr>
          <a:lstStyle/>
          <a:p>
            <a:pPr algn="l">
              <a:lnSpc>
                <a:spcPts val="5599"/>
              </a:lnSpc>
            </a:pPr>
            <a:r>
              <a:rPr lang="en-US" b="true" sz="3999" spc="-79">
                <a:solidFill>
                  <a:srgbClr val="01237D"/>
                </a:solidFill>
                <a:latin typeface="Poppins Bold"/>
                <a:ea typeface="Poppins Bold"/>
                <a:cs typeface="Poppins Bold"/>
                <a:sym typeface="Poppins Bold"/>
              </a:rPr>
              <a:t>Étapes du processus du pipeline</a:t>
            </a:r>
          </a:p>
        </p:txBody>
      </p:sp>
      <p:sp>
        <p:nvSpPr>
          <p:cNvPr name="TextBox 23" id="23"/>
          <p:cNvSpPr txBox="true"/>
          <p:nvPr/>
        </p:nvSpPr>
        <p:spPr>
          <a:xfrm rot="0">
            <a:off x="8763159" y="2041203"/>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01</a:t>
            </a:r>
          </a:p>
        </p:txBody>
      </p:sp>
      <p:sp>
        <p:nvSpPr>
          <p:cNvPr name="TextBox 24" id="24"/>
          <p:cNvSpPr txBox="true"/>
          <p:nvPr/>
        </p:nvSpPr>
        <p:spPr>
          <a:xfrm rot="0">
            <a:off x="11168331" y="3764565"/>
            <a:ext cx="6570954" cy="1422400"/>
          </a:xfrm>
          <a:prstGeom prst="rect">
            <a:avLst/>
          </a:prstGeom>
        </p:spPr>
        <p:txBody>
          <a:bodyPr anchor="t" rtlCol="false" tIns="0" lIns="0" bIns="0" rIns="0">
            <a:spAutoFit/>
          </a:bodyPr>
          <a:lstStyle/>
          <a:p>
            <a:pPr algn="l">
              <a:lnSpc>
                <a:spcPts val="5599"/>
              </a:lnSpc>
            </a:pPr>
            <a:r>
              <a:rPr lang="en-US" b="true" sz="3999" spc="-79">
                <a:solidFill>
                  <a:srgbClr val="01237D"/>
                </a:solidFill>
                <a:latin typeface="Poppins Bold"/>
                <a:ea typeface="Poppins Bold"/>
                <a:cs typeface="Poppins Bold"/>
                <a:sym typeface="Poppins Bold"/>
              </a:rPr>
              <a:t>Flux Opérationnel du Pipeline</a:t>
            </a:r>
          </a:p>
        </p:txBody>
      </p:sp>
      <p:sp>
        <p:nvSpPr>
          <p:cNvPr name="TextBox 25" id="25"/>
          <p:cNvSpPr txBox="true"/>
          <p:nvPr/>
        </p:nvSpPr>
        <p:spPr>
          <a:xfrm rot="0">
            <a:off x="9289058" y="3814603"/>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02</a:t>
            </a:r>
          </a:p>
        </p:txBody>
      </p:sp>
      <p:sp>
        <p:nvSpPr>
          <p:cNvPr name="TextBox 26" id="26"/>
          <p:cNvSpPr txBox="true"/>
          <p:nvPr/>
        </p:nvSpPr>
        <p:spPr>
          <a:xfrm rot="0">
            <a:off x="11025456" y="5553184"/>
            <a:ext cx="5768345" cy="2127250"/>
          </a:xfrm>
          <a:prstGeom prst="rect">
            <a:avLst/>
          </a:prstGeom>
        </p:spPr>
        <p:txBody>
          <a:bodyPr anchor="t" rtlCol="false" tIns="0" lIns="0" bIns="0" rIns="0">
            <a:spAutoFit/>
          </a:bodyPr>
          <a:lstStyle/>
          <a:p>
            <a:pPr algn="l">
              <a:lnSpc>
                <a:spcPts val="5599"/>
              </a:lnSpc>
            </a:pPr>
            <a:r>
              <a:rPr lang="en-US" b="true" sz="3999" spc="-79">
                <a:solidFill>
                  <a:srgbClr val="01237D"/>
                </a:solidFill>
                <a:latin typeface="Poppins Bold"/>
                <a:ea typeface="Poppins Bold"/>
                <a:cs typeface="Poppins Bold"/>
                <a:sym typeface="Poppins Bold"/>
              </a:rPr>
              <a:t>Déploiement CI/CD avec GitHub Actions et aws</a:t>
            </a:r>
          </a:p>
        </p:txBody>
      </p:sp>
      <p:sp>
        <p:nvSpPr>
          <p:cNvPr name="TextBox 27" id="27"/>
          <p:cNvSpPr txBox="true"/>
          <p:nvPr/>
        </p:nvSpPr>
        <p:spPr>
          <a:xfrm rot="0">
            <a:off x="9289058" y="5591284"/>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03</a:t>
            </a:r>
          </a:p>
        </p:txBody>
      </p:sp>
      <p:grpSp>
        <p:nvGrpSpPr>
          <p:cNvPr name="Group 28" id="28"/>
          <p:cNvGrpSpPr/>
          <p:nvPr/>
        </p:nvGrpSpPr>
        <p:grpSpPr>
          <a:xfrm rot="0">
            <a:off x="15238003" y="8290589"/>
            <a:ext cx="7523780" cy="752378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1" id="31"/>
          <p:cNvSpPr txBox="true"/>
          <p:nvPr/>
        </p:nvSpPr>
        <p:spPr>
          <a:xfrm rot="0">
            <a:off x="17589660" y="9356025"/>
            <a:ext cx="698340"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00703" y="1211598"/>
            <a:ext cx="3622133" cy="2801290"/>
            <a:chOff x="0" y="0"/>
            <a:chExt cx="942354" cy="728799"/>
          </a:xfrm>
        </p:grpSpPr>
        <p:sp>
          <p:nvSpPr>
            <p:cNvPr name="Freeform 3" id="3"/>
            <p:cNvSpPr/>
            <p:nvPr/>
          </p:nvSpPr>
          <p:spPr>
            <a:xfrm flipH="false" flipV="false" rot="0">
              <a:off x="0" y="0"/>
              <a:ext cx="942354" cy="728799"/>
            </a:xfrm>
            <a:custGeom>
              <a:avLst/>
              <a:gdLst/>
              <a:ahLst/>
              <a:cxnLst/>
              <a:rect r="r" b="b" t="t" l="l"/>
              <a:pathLst>
                <a:path h="728799" w="942354">
                  <a:moveTo>
                    <a:pt x="109007" y="0"/>
                  </a:moveTo>
                  <a:lnTo>
                    <a:pt x="833347" y="0"/>
                  </a:lnTo>
                  <a:cubicBezTo>
                    <a:pt x="893550" y="0"/>
                    <a:pt x="942354" y="48804"/>
                    <a:pt x="942354" y="109007"/>
                  </a:cubicBezTo>
                  <a:lnTo>
                    <a:pt x="942354" y="619792"/>
                  </a:lnTo>
                  <a:cubicBezTo>
                    <a:pt x="942354" y="679995"/>
                    <a:pt x="893550" y="728799"/>
                    <a:pt x="833347" y="728799"/>
                  </a:cubicBezTo>
                  <a:lnTo>
                    <a:pt x="109007" y="728799"/>
                  </a:lnTo>
                  <a:cubicBezTo>
                    <a:pt x="48804" y="728799"/>
                    <a:pt x="0" y="679995"/>
                    <a:pt x="0" y="619792"/>
                  </a:cubicBezTo>
                  <a:lnTo>
                    <a:pt x="0" y="109007"/>
                  </a:lnTo>
                  <a:cubicBezTo>
                    <a:pt x="0" y="48804"/>
                    <a:pt x="48804" y="0"/>
                    <a:pt x="109007" y="0"/>
                  </a:cubicBezTo>
                  <a:close/>
                </a:path>
              </a:pathLst>
            </a:custGeom>
            <a:solidFill>
              <a:srgbClr val="0F77C5"/>
            </a:solidFill>
          </p:spPr>
        </p:sp>
        <p:sp>
          <p:nvSpPr>
            <p:cNvPr name="TextBox 4" id="4"/>
            <p:cNvSpPr txBox="true"/>
            <p:nvPr/>
          </p:nvSpPr>
          <p:spPr>
            <a:xfrm>
              <a:off x="0" y="-47625"/>
              <a:ext cx="942354" cy="776424"/>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135011" y="1343344"/>
            <a:ext cx="3054471" cy="748828"/>
            <a:chOff x="0" y="0"/>
            <a:chExt cx="887229" cy="217511"/>
          </a:xfrm>
        </p:grpSpPr>
        <p:sp>
          <p:nvSpPr>
            <p:cNvPr name="Freeform 6" id="6"/>
            <p:cNvSpPr/>
            <p:nvPr/>
          </p:nvSpPr>
          <p:spPr>
            <a:xfrm flipH="false" flipV="false" rot="0">
              <a:off x="0" y="0"/>
              <a:ext cx="887229" cy="217511"/>
            </a:xfrm>
            <a:custGeom>
              <a:avLst/>
              <a:gdLst/>
              <a:ahLst/>
              <a:cxnLst/>
              <a:rect r="r" b="b" t="t" l="l"/>
              <a:pathLst>
                <a:path h="217511" w="887229">
                  <a:moveTo>
                    <a:pt x="108756" y="0"/>
                  </a:moveTo>
                  <a:lnTo>
                    <a:pt x="778473" y="0"/>
                  </a:lnTo>
                  <a:cubicBezTo>
                    <a:pt x="807317" y="0"/>
                    <a:pt x="834979" y="11458"/>
                    <a:pt x="855375" y="31854"/>
                  </a:cubicBezTo>
                  <a:cubicBezTo>
                    <a:pt x="875771" y="52249"/>
                    <a:pt x="887229" y="79912"/>
                    <a:pt x="887229" y="108756"/>
                  </a:cubicBezTo>
                  <a:lnTo>
                    <a:pt x="887229" y="108756"/>
                  </a:lnTo>
                  <a:cubicBezTo>
                    <a:pt x="887229" y="168820"/>
                    <a:pt x="838537" y="217511"/>
                    <a:pt x="778473" y="217511"/>
                  </a:cubicBezTo>
                  <a:lnTo>
                    <a:pt x="108756" y="217511"/>
                  </a:lnTo>
                  <a:cubicBezTo>
                    <a:pt x="79912" y="217511"/>
                    <a:pt x="52249" y="206053"/>
                    <a:pt x="31854" y="185657"/>
                  </a:cubicBezTo>
                  <a:cubicBezTo>
                    <a:pt x="11458" y="165262"/>
                    <a:pt x="0" y="137599"/>
                    <a:pt x="0" y="108756"/>
                  </a:cubicBezTo>
                  <a:lnTo>
                    <a:pt x="0" y="108756"/>
                  </a:lnTo>
                  <a:cubicBezTo>
                    <a:pt x="0" y="79912"/>
                    <a:pt x="11458" y="52249"/>
                    <a:pt x="31854" y="31854"/>
                  </a:cubicBezTo>
                  <a:cubicBezTo>
                    <a:pt x="52249" y="11458"/>
                    <a:pt x="79912" y="0"/>
                    <a:pt x="108756" y="0"/>
                  </a:cubicBezTo>
                  <a:close/>
                </a:path>
              </a:pathLst>
            </a:custGeom>
            <a:solidFill>
              <a:srgbClr val="FFFFFF"/>
            </a:solidFill>
          </p:spPr>
        </p:sp>
        <p:sp>
          <p:nvSpPr>
            <p:cNvPr name="TextBox 7" id="7"/>
            <p:cNvSpPr txBox="true"/>
            <p:nvPr/>
          </p:nvSpPr>
          <p:spPr>
            <a:xfrm>
              <a:off x="0" y="-47625"/>
              <a:ext cx="887229" cy="265136"/>
            </a:xfrm>
            <a:prstGeom prst="rect">
              <a:avLst/>
            </a:prstGeom>
          </p:spPr>
          <p:txBody>
            <a:bodyPr anchor="ctr" rtlCol="false" tIns="50800" lIns="50800" bIns="50800" rIns="50800"/>
            <a:lstStyle/>
            <a:p>
              <a:pPr algn="ctr">
                <a:lnSpc>
                  <a:spcPts val="2800"/>
                </a:lnSpc>
              </a:pPr>
            </a:p>
          </p:txBody>
        </p:sp>
      </p:grpSp>
      <p:sp>
        <p:nvSpPr>
          <p:cNvPr name="TextBox 8" id="8"/>
          <p:cNvSpPr txBox="true"/>
          <p:nvPr/>
        </p:nvSpPr>
        <p:spPr>
          <a:xfrm rot="0">
            <a:off x="1135011" y="1522463"/>
            <a:ext cx="3353517" cy="302065"/>
          </a:xfrm>
          <a:prstGeom prst="rect">
            <a:avLst/>
          </a:prstGeom>
        </p:spPr>
        <p:txBody>
          <a:bodyPr anchor="t" rtlCol="false" tIns="0" lIns="0" bIns="0" rIns="0">
            <a:spAutoFit/>
          </a:bodyPr>
          <a:lstStyle/>
          <a:p>
            <a:pPr algn="ctr">
              <a:lnSpc>
                <a:spcPts val="2538"/>
              </a:lnSpc>
            </a:pPr>
            <a:r>
              <a:rPr lang="en-US" sz="1813" b="true">
                <a:solidFill>
                  <a:srgbClr val="000000"/>
                </a:solidFill>
                <a:latin typeface="Canva Sans Bold"/>
                <a:ea typeface="Canva Sans Bold"/>
                <a:cs typeface="Canva Sans Bold"/>
                <a:sym typeface="Canva Sans Bold"/>
              </a:rPr>
              <a:t>Pipeline d'Ingestion</a:t>
            </a:r>
          </a:p>
        </p:txBody>
      </p:sp>
      <p:grpSp>
        <p:nvGrpSpPr>
          <p:cNvPr name="Group 9" id="9"/>
          <p:cNvGrpSpPr/>
          <p:nvPr/>
        </p:nvGrpSpPr>
        <p:grpSpPr>
          <a:xfrm rot="0">
            <a:off x="1039183" y="2288245"/>
            <a:ext cx="3278777" cy="1151855"/>
            <a:chOff x="0" y="0"/>
            <a:chExt cx="909013" cy="319342"/>
          </a:xfrm>
        </p:grpSpPr>
        <p:sp>
          <p:nvSpPr>
            <p:cNvPr name="Freeform 10" id="10"/>
            <p:cNvSpPr/>
            <p:nvPr/>
          </p:nvSpPr>
          <p:spPr>
            <a:xfrm flipH="false" flipV="false" rot="0">
              <a:off x="0" y="0"/>
              <a:ext cx="909013" cy="319342"/>
            </a:xfrm>
            <a:custGeom>
              <a:avLst/>
              <a:gdLst/>
              <a:ahLst/>
              <a:cxnLst/>
              <a:rect r="r" b="b" t="t" l="l"/>
              <a:pathLst>
                <a:path h="319342" w="909013">
                  <a:moveTo>
                    <a:pt x="120422" y="0"/>
                  </a:moveTo>
                  <a:lnTo>
                    <a:pt x="788591" y="0"/>
                  </a:lnTo>
                  <a:cubicBezTo>
                    <a:pt x="820529" y="0"/>
                    <a:pt x="851158" y="12687"/>
                    <a:pt x="873742" y="35271"/>
                  </a:cubicBezTo>
                  <a:cubicBezTo>
                    <a:pt x="896326" y="57854"/>
                    <a:pt x="909013" y="88484"/>
                    <a:pt x="909013" y="120422"/>
                  </a:cubicBezTo>
                  <a:lnTo>
                    <a:pt x="909013" y="198920"/>
                  </a:lnTo>
                  <a:cubicBezTo>
                    <a:pt x="909013" y="230858"/>
                    <a:pt x="896326" y="261488"/>
                    <a:pt x="873742" y="284071"/>
                  </a:cubicBezTo>
                  <a:cubicBezTo>
                    <a:pt x="851158" y="306655"/>
                    <a:pt x="820529" y="319342"/>
                    <a:pt x="788591" y="319342"/>
                  </a:cubicBezTo>
                  <a:lnTo>
                    <a:pt x="120422" y="319342"/>
                  </a:lnTo>
                  <a:cubicBezTo>
                    <a:pt x="88484" y="319342"/>
                    <a:pt x="57854" y="306655"/>
                    <a:pt x="35271" y="284071"/>
                  </a:cubicBezTo>
                  <a:cubicBezTo>
                    <a:pt x="12687" y="261488"/>
                    <a:pt x="0" y="230858"/>
                    <a:pt x="0" y="198920"/>
                  </a:cubicBezTo>
                  <a:lnTo>
                    <a:pt x="0" y="120422"/>
                  </a:lnTo>
                  <a:cubicBezTo>
                    <a:pt x="0" y="88484"/>
                    <a:pt x="12687" y="57854"/>
                    <a:pt x="35271" y="35271"/>
                  </a:cubicBezTo>
                  <a:cubicBezTo>
                    <a:pt x="57854" y="12687"/>
                    <a:pt x="88484" y="0"/>
                    <a:pt x="120422" y="0"/>
                  </a:cubicBezTo>
                  <a:close/>
                </a:path>
              </a:pathLst>
            </a:custGeom>
            <a:solidFill>
              <a:srgbClr val="FFFFFF"/>
            </a:solidFill>
          </p:spPr>
        </p:sp>
        <p:sp>
          <p:nvSpPr>
            <p:cNvPr name="TextBox 11" id="11"/>
            <p:cNvSpPr txBox="true"/>
            <p:nvPr/>
          </p:nvSpPr>
          <p:spPr>
            <a:xfrm>
              <a:off x="0" y="-47625"/>
              <a:ext cx="909013" cy="366967"/>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1135011" y="2539076"/>
            <a:ext cx="3182950" cy="611163"/>
          </a:xfrm>
          <a:prstGeom prst="rect">
            <a:avLst/>
          </a:prstGeom>
        </p:spPr>
        <p:txBody>
          <a:bodyPr anchor="t" rtlCol="false" tIns="0" lIns="0" bIns="0" rIns="0">
            <a:spAutoFit/>
          </a:bodyPr>
          <a:lstStyle/>
          <a:p>
            <a:pPr algn="ctr">
              <a:lnSpc>
                <a:spcPts val="2538"/>
              </a:lnSpc>
            </a:pPr>
            <a:r>
              <a:rPr lang="en-US" sz="1813">
                <a:solidFill>
                  <a:srgbClr val="000000"/>
                </a:solidFill>
                <a:latin typeface="Canva Sans"/>
                <a:ea typeface="Canva Sans"/>
                <a:cs typeface="Canva Sans"/>
                <a:sym typeface="Canva Sans"/>
              </a:rPr>
              <a:t>Valide les formats, schémas, types de données</a:t>
            </a:r>
          </a:p>
        </p:txBody>
      </p:sp>
      <p:grpSp>
        <p:nvGrpSpPr>
          <p:cNvPr name="Group 13" id="13"/>
          <p:cNvGrpSpPr/>
          <p:nvPr/>
        </p:nvGrpSpPr>
        <p:grpSpPr>
          <a:xfrm rot="0">
            <a:off x="6071976" y="671249"/>
            <a:ext cx="3622133" cy="3792805"/>
            <a:chOff x="0" y="0"/>
            <a:chExt cx="942354" cy="986757"/>
          </a:xfrm>
        </p:grpSpPr>
        <p:sp>
          <p:nvSpPr>
            <p:cNvPr name="Freeform 14" id="14"/>
            <p:cNvSpPr/>
            <p:nvPr/>
          </p:nvSpPr>
          <p:spPr>
            <a:xfrm flipH="false" flipV="false" rot="0">
              <a:off x="0" y="0"/>
              <a:ext cx="942354" cy="986757"/>
            </a:xfrm>
            <a:custGeom>
              <a:avLst/>
              <a:gdLst/>
              <a:ahLst/>
              <a:cxnLst/>
              <a:rect r="r" b="b" t="t" l="l"/>
              <a:pathLst>
                <a:path h="986757" w="942354">
                  <a:moveTo>
                    <a:pt x="109007" y="0"/>
                  </a:moveTo>
                  <a:lnTo>
                    <a:pt x="833347" y="0"/>
                  </a:lnTo>
                  <a:cubicBezTo>
                    <a:pt x="893550" y="0"/>
                    <a:pt x="942354" y="48804"/>
                    <a:pt x="942354" y="109007"/>
                  </a:cubicBezTo>
                  <a:lnTo>
                    <a:pt x="942354" y="877750"/>
                  </a:lnTo>
                  <a:cubicBezTo>
                    <a:pt x="942354" y="937953"/>
                    <a:pt x="893550" y="986757"/>
                    <a:pt x="833347" y="986757"/>
                  </a:cubicBezTo>
                  <a:lnTo>
                    <a:pt x="109007" y="986757"/>
                  </a:lnTo>
                  <a:cubicBezTo>
                    <a:pt x="48804" y="986757"/>
                    <a:pt x="0" y="937953"/>
                    <a:pt x="0" y="877750"/>
                  </a:cubicBezTo>
                  <a:lnTo>
                    <a:pt x="0" y="109007"/>
                  </a:lnTo>
                  <a:cubicBezTo>
                    <a:pt x="0" y="48804"/>
                    <a:pt x="48804" y="0"/>
                    <a:pt x="109007" y="0"/>
                  </a:cubicBezTo>
                  <a:close/>
                </a:path>
              </a:pathLst>
            </a:custGeom>
            <a:solidFill>
              <a:srgbClr val="0F77C5"/>
            </a:solidFill>
          </p:spPr>
        </p:sp>
        <p:sp>
          <p:nvSpPr>
            <p:cNvPr name="TextBox 15" id="15"/>
            <p:cNvSpPr txBox="true"/>
            <p:nvPr/>
          </p:nvSpPr>
          <p:spPr>
            <a:xfrm>
              <a:off x="0" y="-47625"/>
              <a:ext cx="942354" cy="1034382"/>
            </a:xfrm>
            <a:prstGeom prst="rect">
              <a:avLst/>
            </a:prstGeom>
          </p:spPr>
          <p:txBody>
            <a:bodyPr anchor="ctr" rtlCol="false" tIns="50800" lIns="50800" bIns="50800" rIns="50800"/>
            <a:lstStyle/>
            <a:p>
              <a:pPr algn="ctr">
                <a:lnSpc>
                  <a:spcPts val="2800"/>
                </a:lnSpc>
              </a:pPr>
            </a:p>
          </p:txBody>
        </p:sp>
      </p:grpSp>
      <p:grpSp>
        <p:nvGrpSpPr>
          <p:cNvPr name="Group 16" id="16"/>
          <p:cNvGrpSpPr/>
          <p:nvPr/>
        </p:nvGrpSpPr>
        <p:grpSpPr>
          <a:xfrm rot="0">
            <a:off x="6166857" y="763570"/>
            <a:ext cx="3432371" cy="800855"/>
            <a:chOff x="0" y="0"/>
            <a:chExt cx="996997" cy="232623"/>
          </a:xfrm>
        </p:grpSpPr>
        <p:sp>
          <p:nvSpPr>
            <p:cNvPr name="Freeform 17" id="17"/>
            <p:cNvSpPr/>
            <p:nvPr/>
          </p:nvSpPr>
          <p:spPr>
            <a:xfrm flipH="false" flipV="false" rot="0">
              <a:off x="0" y="0"/>
              <a:ext cx="996997" cy="232623"/>
            </a:xfrm>
            <a:custGeom>
              <a:avLst/>
              <a:gdLst/>
              <a:ahLst/>
              <a:cxnLst/>
              <a:rect r="r" b="b" t="t" l="l"/>
              <a:pathLst>
                <a:path h="232623" w="996997">
                  <a:moveTo>
                    <a:pt x="115034" y="0"/>
                  </a:moveTo>
                  <a:lnTo>
                    <a:pt x="881964" y="0"/>
                  </a:lnTo>
                  <a:cubicBezTo>
                    <a:pt x="912472" y="0"/>
                    <a:pt x="941732" y="12120"/>
                    <a:pt x="963305" y="33693"/>
                  </a:cubicBezTo>
                  <a:cubicBezTo>
                    <a:pt x="984877" y="55266"/>
                    <a:pt x="996997" y="84525"/>
                    <a:pt x="996997" y="115034"/>
                  </a:cubicBezTo>
                  <a:lnTo>
                    <a:pt x="996997" y="117590"/>
                  </a:lnTo>
                  <a:cubicBezTo>
                    <a:pt x="996997" y="148099"/>
                    <a:pt x="984877" y="177358"/>
                    <a:pt x="963305" y="198931"/>
                  </a:cubicBezTo>
                  <a:cubicBezTo>
                    <a:pt x="941732" y="220504"/>
                    <a:pt x="912472" y="232623"/>
                    <a:pt x="881964" y="232623"/>
                  </a:cubicBezTo>
                  <a:lnTo>
                    <a:pt x="115034" y="232623"/>
                  </a:lnTo>
                  <a:cubicBezTo>
                    <a:pt x="84525" y="232623"/>
                    <a:pt x="55266" y="220504"/>
                    <a:pt x="33693" y="198931"/>
                  </a:cubicBezTo>
                  <a:cubicBezTo>
                    <a:pt x="12120" y="177358"/>
                    <a:pt x="0" y="148099"/>
                    <a:pt x="0" y="117590"/>
                  </a:cubicBezTo>
                  <a:lnTo>
                    <a:pt x="0" y="115034"/>
                  </a:lnTo>
                  <a:cubicBezTo>
                    <a:pt x="0" y="84525"/>
                    <a:pt x="12120" y="55266"/>
                    <a:pt x="33693" y="33693"/>
                  </a:cubicBezTo>
                  <a:cubicBezTo>
                    <a:pt x="55266" y="12120"/>
                    <a:pt x="84525" y="0"/>
                    <a:pt x="115034" y="0"/>
                  </a:cubicBezTo>
                  <a:close/>
                </a:path>
              </a:pathLst>
            </a:custGeom>
            <a:solidFill>
              <a:srgbClr val="FFFFFF"/>
            </a:solidFill>
          </p:spPr>
        </p:sp>
        <p:sp>
          <p:nvSpPr>
            <p:cNvPr name="TextBox 18" id="18"/>
            <p:cNvSpPr txBox="true"/>
            <p:nvPr/>
          </p:nvSpPr>
          <p:spPr>
            <a:xfrm>
              <a:off x="0" y="-47625"/>
              <a:ext cx="996997" cy="280248"/>
            </a:xfrm>
            <a:prstGeom prst="rect">
              <a:avLst/>
            </a:prstGeom>
          </p:spPr>
          <p:txBody>
            <a:bodyPr anchor="ctr" rtlCol="false" tIns="50800" lIns="50800" bIns="50800" rIns="50800"/>
            <a:lstStyle/>
            <a:p>
              <a:pPr algn="ctr">
                <a:lnSpc>
                  <a:spcPts val="2800"/>
                </a:lnSpc>
              </a:pPr>
            </a:p>
          </p:txBody>
        </p:sp>
      </p:grpSp>
      <p:grpSp>
        <p:nvGrpSpPr>
          <p:cNvPr name="Group 19" id="19"/>
          <p:cNvGrpSpPr/>
          <p:nvPr/>
        </p:nvGrpSpPr>
        <p:grpSpPr>
          <a:xfrm rot="0">
            <a:off x="8008751" y="1749955"/>
            <a:ext cx="1465870" cy="1649022"/>
            <a:chOff x="0" y="0"/>
            <a:chExt cx="406400" cy="457177"/>
          </a:xfrm>
        </p:grpSpPr>
        <p:sp>
          <p:nvSpPr>
            <p:cNvPr name="Freeform 20" id="20"/>
            <p:cNvSpPr/>
            <p:nvPr/>
          </p:nvSpPr>
          <p:spPr>
            <a:xfrm flipH="false" flipV="false" rot="0">
              <a:off x="0" y="0"/>
              <a:ext cx="406400" cy="457177"/>
            </a:xfrm>
            <a:custGeom>
              <a:avLst/>
              <a:gdLst/>
              <a:ahLst/>
              <a:cxnLst/>
              <a:rect r="r" b="b" t="t" l="l"/>
              <a:pathLst>
                <a:path h="457177" w="406400">
                  <a:moveTo>
                    <a:pt x="203200" y="0"/>
                  </a:moveTo>
                  <a:lnTo>
                    <a:pt x="203200" y="0"/>
                  </a:lnTo>
                  <a:cubicBezTo>
                    <a:pt x="315424" y="0"/>
                    <a:pt x="406400" y="90976"/>
                    <a:pt x="406400" y="203200"/>
                  </a:cubicBezTo>
                  <a:lnTo>
                    <a:pt x="406400" y="253977"/>
                  </a:lnTo>
                  <a:cubicBezTo>
                    <a:pt x="406400" y="307869"/>
                    <a:pt x="384991" y="359554"/>
                    <a:pt x="346884" y="397661"/>
                  </a:cubicBezTo>
                  <a:cubicBezTo>
                    <a:pt x="308777" y="435769"/>
                    <a:pt x="257092" y="457177"/>
                    <a:pt x="203200" y="457177"/>
                  </a:cubicBezTo>
                  <a:lnTo>
                    <a:pt x="203200" y="457177"/>
                  </a:lnTo>
                  <a:cubicBezTo>
                    <a:pt x="90976" y="457177"/>
                    <a:pt x="0" y="366202"/>
                    <a:pt x="0" y="253977"/>
                  </a:cubicBezTo>
                  <a:lnTo>
                    <a:pt x="0" y="203200"/>
                  </a:lnTo>
                  <a:cubicBezTo>
                    <a:pt x="0" y="90976"/>
                    <a:pt x="90976" y="0"/>
                    <a:pt x="203200" y="0"/>
                  </a:cubicBezTo>
                  <a:close/>
                </a:path>
              </a:pathLst>
            </a:custGeom>
            <a:solidFill>
              <a:srgbClr val="FFFFFF"/>
            </a:solidFill>
          </p:spPr>
        </p:sp>
        <p:sp>
          <p:nvSpPr>
            <p:cNvPr name="TextBox 21" id="21"/>
            <p:cNvSpPr txBox="true"/>
            <p:nvPr/>
          </p:nvSpPr>
          <p:spPr>
            <a:xfrm>
              <a:off x="0" y="-47625"/>
              <a:ext cx="406400" cy="504802"/>
            </a:xfrm>
            <a:prstGeom prst="rect">
              <a:avLst/>
            </a:prstGeom>
          </p:spPr>
          <p:txBody>
            <a:bodyPr anchor="ctr" rtlCol="false" tIns="50800" lIns="50800" bIns="50800" rIns="50800"/>
            <a:lstStyle/>
            <a:p>
              <a:pPr algn="ctr">
                <a:lnSpc>
                  <a:spcPts val="2800"/>
                </a:lnSpc>
              </a:pPr>
            </a:p>
          </p:txBody>
        </p:sp>
      </p:grpSp>
      <p:sp>
        <p:nvSpPr>
          <p:cNvPr name="TextBox 22" id="22"/>
          <p:cNvSpPr txBox="true"/>
          <p:nvPr/>
        </p:nvSpPr>
        <p:spPr>
          <a:xfrm rot="0">
            <a:off x="6166857" y="838901"/>
            <a:ext cx="3353517" cy="621616"/>
          </a:xfrm>
          <a:prstGeom prst="rect">
            <a:avLst/>
          </a:prstGeom>
        </p:spPr>
        <p:txBody>
          <a:bodyPr anchor="t" rtlCol="false" tIns="0" lIns="0" bIns="0" rIns="0">
            <a:spAutoFit/>
          </a:bodyPr>
          <a:lstStyle/>
          <a:p>
            <a:pPr algn="ctr">
              <a:lnSpc>
                <a:spcPts val="2538"/>
              </a:lnSpc>
            </a:pPr>
            <a:r>
              <a:rPr lang="en-US" sz="1813" b="true">
                <a:solidFill>
                  <a:srgbClr val="000000"/>
                </a:solidFill>
                <a:latin typeface="Canva Sans Bold"/>
                <a:ea typeface="Canva Sans Bold"/>
                <a:cs typeface="Canva Sans Bold"/>
                <a:sym typeface="Canva Sans Bold"/>
              </a:rPr>
              <a:t>Pipeline de préparation des Données</a:t>
            </a:r>
          </a:p>
        </p:txBody>
      </p:sp>
      <p:grpSp>
        <p:nvGrpSpPr>
          <p:cNvPr name="Group 23" id="23"/>
          <p:cNvGrpSpPr/>
          <p:nvPr/>
        </p:nvGrpSpPr>
        <p:grpSpPr>
          <a:xfrm rot="0">
            <a:off x="6443347" y="1749955"/>
            <a:ext cx="1465870" cy="1002380"/>
            <a:chOff x="0" y="0"/>
            <a:chExt cx="406400" cy="277901"/>
          </a:xfrm>
        </p:grpSpPr>
        <p:sp>
          <p:nvSpPr>
            <p:cNvPr name="Freeform 24" id="24"/>
            <p:cNvSpPr/>
            <p:nvPr/>
          </p:nvSpPr>
          <p:spPr>
            <a:xfrm flipH="false" flipV="false" rot="0">
              <a:off x="0" y="0"/>
              <a:ext cx="406400" cy="277901"/>
            </a:xfrm>
            <a:custGeom>
              <a:avLst/>
              <a:gdLst/>
              <a:ahLst/>
              <a:cxnLst/>
              <a:rect r="r" b="b" t="t" l="l"/>
              <a:pathLst>
                <a:path h="277901" w="406400">
                  <a:moveTo>
                    <a:pt x="138951" y="0"/>
                  </a:moveTo>
                  <a:lnTo>
                    <a:pt x="267449" y="0"/>
                  </a:lnTo>
                  <a:cubicBezTo>
                    <a:pt x="304301" y="0"/>
                    <a:pt x="339644" y="14639"/>
                    <a:pt x="365702" y="40698"/>
                  </a:cubicBezTo>
                  <a:cubicBezTo>
                    <a:pt x="391761" y="66756"/>
                    <a:pt x="406400" y="102099"/>
                    <a:pt x="406400" y="138951"/>
                  </a:cubicBezTo>
                  <a:lnTo>
                    <a:pt x="406400" y="138951"/>
                  </a:lnTo>
                  <a:cubicBezTo>
                    <a:pt x="406400" y="215691"/>
                    <a:pt x="344190" y="277901"/>
                    <a:pt x="267449" y="277901"/>
                  </a:cubicBezTo>
                  <a:lnTo>
                    <a:pt x="138951" y="277901"/>
                  </a:lnTo>
                  <a:cubicBezTo>
                    <a:pt x="102099" y="277901"/>
                    <a:pt x="66756" y="263262"/>
                    <a:pt x="40698" y="237204"/>
                  </a:cubicBezTo>
                  <a:cubicBezTo>
                    <a:pt x="14639" y="211145"/>
                    <a:pt x="0" y="175803"/>
                    <a:pt x="0" y="138951"/>
                  </a:cubicBezTo>
                  <a:lnTo>
                    <a:pt x="0" y="138951"/>
                  </a:lnTo>
                  <a:cubicBezTo>
                    <a:pt x="0" y="102099"/>
                    <a:pt x="14639" y="66756"/>
                    <a:pt x="40698" y="40698"/>
                  </a:cubicBezTo>
                  <a:cubicBezTo>
                    <a:pt x="66756" y="14639"/>
                    <a:pt x="102099" y="0"/>
                    <a:pt x="138951" y="0"/>
                  </a:cubicBezTo>
                  <a:close/>
                </a:path>
              </a:pathLst>
            </a:custGeom>
            <a:solidFill>
              <a:srgbClr val="FFFFFF"/>
            </a:solidFill>
          </p:spPr>
        </p:sp>
        <p:sp>
          <p:nvSpPr>
            <p:cNvPr name="TextBox 25" id="25"/>
            <p:cNvSpPr txBox="true"/>
            <p:nvPr/>
          </p:nvSpPr>
          <p:spPr>
            <a:xfrm>
              <a:off x="0" y="-47625"/>
              <a:ext cx="406400" cy="325526"/>
            </a:xfrm>
            <a:prstGeom prst="rect">
              <a:avLst/>
            </a:prstGeom>
          </p:spPr>
          <p:txBody>
            <a:bodyPr anchor="ctr" rtlCol="false" tIns="50800" lIns="50800" bIns="50800" rIns="50800"/>
            <a:lstStyle/>
            <a:p>
              <a:pPr algn="ctr">
                <a:lnSpc>
                  <a:spcPts val="2800"/>
                </a:lnSpc>
              </a:pPr>
            </a:p>
          </p:txBody>
        </p:sp>
      </p:grpSp>
      <p:grpSp>
        <p:nvGrpSpPr>
          <p:cNvPr name="Group 26" id="26"/>
          <p:cNvGrpSpPr/>
          <p:nvPr/>
        </p:nvGrpSpPr>
        <p:grpSpPr>
          <a:xfrm rot="0">
            <a:off x="6483138" y="2796251"/>
            <a:ext cx="1465870" cy="1465870"/>
            <a:chOff x="0" y="0"/>
            <a:chExt cx="406400" cy="406400"/>
          </a:xfrm>
        </p:grpSpPr>
        <p:sp>
          <p:nvSpPr>
            <p:cNvPr name="Freeform 27" id="27"/>
            <p:cNvSpPr/>
            <p:nvPr/>
          </p:nvSpPr>
          <p:spPr>
            <a:xfrm flipH="false" flipV="false" rot="0">
              <a:off x="0" y="0"/>
              <a:ext cx="406400" cy="406400"/>
            </a:xfrm>
            <a:custGeom>
              <a:avLst/>
              <a:gdLst/>
              <a:ahLst/>
              <a:cxnLst/>
              <a:rect r="r" b="b" t="t" l="l"/>
              <a:pathLst>
                <a:path h="406400" w="406400">
                  <a:moveTo>
                    <a:pt x="203200" y="0"/>
                  </a:moveTo>
                  <a:lnTo>
                    <a:pt x="203200" y="0"/>
                  </a:lnTo>
                  <a:cubicBezTo>
                    <a:pt x="315424" y="0"/>
                    <a:pt x="406400" y="90976"/>
                    <a:pt x="406400" y="203200"/>
                  </a:cubicBezTo>
                  <a:lnTo>
                    <a:pt x="406400" y="203200"/>
                  </a:lnTo>
                  <a:cubicBezTo>
                    <a:pt x="406400" y="315424"/>
                    <a:pt x="315424" y="406400"/>
                    <a:pt x="203200" y="406400"/>
                  </a:cubicBezTo>
                  <a:lnTo>
                    <a:pt x="203200" y="406400"/>
                  </a:lnTo>
                  <a:cubicBezTo>
                    <a:pt x="90976" y="406400"/>
                    <a:pt x="0" y="315424"/>
                    <a:pt x="0" y="203200"/>
                  </a:cubicBezTo>
                  <a:lnTo>
                    <a:pt x="0" y="203200"/>
                  </a:lnTo>
                  <a:cubicBezTo>
                    <a:pt x="0" y="90976"/>
                    <a:pt x="90976" y="0"/>
                    <a:pt x="203200" y="0"/>
                  </a:cubicBezTo>
                  <a:close/>
                </a:path>
              </a:pathLst>
            </a:custGeom>
            <a:solidFill>
              <a:srgbClr val="FFFFFF"/>
            </a:solidFill>
          </p:spPr>
        </p:sp>
        <p:sp>
          <p:nvSpPr>
            <p:cNvPr name="TextBox 28" id="28"/>
            <p:cNvSpPr txBox="true"/>
            <p:nvPr/>
          </p:nvSpPr>
          <p:spPr>
            <a:xfrm>
              <a:off x="0" y="-47625"/>
              <a:ext cx="406400" cy="454025"/>
            </a:xfrm>
            <a:prstGeom prst="rect">
              <a:avLst/>
            </a:prstGeom>
          </p:spPr>
          <p:txBody>
            <a:bodyPr anchor="ctr" rtlCol="false" tIns="50800" lIns="50800" bIns="50800" rIns="50800"/>
            <a:lstStyle/>
            <a:p>
              <a:pPr algn="ctr">
                <a:lnSpc>
                  <a:spcPts val="2800"/>
                </a:lnSpc>
              </a:pPr>
            </a:p>
          </p:txBody>
        </p:sp>
      </p:grpSp>
      <p:sp>
        <p:nvSpPr>
          <p:cNvPr name="TextBox 29" id="29"/>
          <p:cNvSpPr txBox="true"/>
          <p:nvPr/>
        </p:nvSpPr>
        <p:spPr>
          <a:xfrm rot="0">
            <a:off x="6483138" y="2052990"/>
            <a:ext cx="1376110" cy="296838"/>
          </a:xfrm>
          <a:prstGeom prst="rect">
            <a:avLst/>
          </a:prstGeom>
        </p:spPr>
        <p:txBody>
          <a:bodyPr anchor="t" rtlCol="false" tIns="0" lIns="0" bIns="0" rIns="0">
            <a:spAutoFit/>
          </a:bodyPr>
          <a:lstStyle/>
          <a:p>
            <a:pPr algn="ctr">
              <a:lnSpc>
                <a:spcPts val="2538"/>
              </a:lnSpc>
            </a:pPr>
            <a:r>
              <a:rPr lang="en-US" sz="1813">
                <a:solidFill>
                  <a:srgbClr val="000000"/>
                </a:solidFill>
                <a:latin typeface="Canva Sans"/>
                <a:ea typeface="Canva Sans"/>
                <a:cs typeface="Canva Sans"/>
                <a:sym typeface="Canva Sans"/>
              </a:rPr>
              <a:t>Nettoyages</a:t>
            </a:r>
          </a:p>
        </p:txBody>
      </p:sp>
      <p:sp>
        <p:nvSpPr>
          <p:cNvPr name="TextBox 30" id="30"/>
          <p:cNvSpPr txBox="true"/>
          <p:nvPr/>
        </p:nvSpPr>
        <p:spPr>
          <a:xfrm rot="0">
            <a:off x="8008751" y="2134543"/>
            <a:ext cx="1466742" cy="898414"/>
          </a:xfrm>
          <a:prstGeom prst="rect">
            <a:avLst/>
          </a:prstGeom>
        </p:spPr>
        <p:txBody>
          <a:bodyPr anchor="t" rtlCol="false" tIns="0" lIns="0" bIns="0" rIns="0">
            <a:spAutoFit/>
          </a:bodyPr>
          <a:lstStyle/>
          <a:p>
            <a:pPr algn="ctr">
              <a:lnSpc>
                <a:spcPts val="2456"/>
              </a:lnSpc>
            </a:pPr>
            <a:r>
              <a:rPr lang="en-US" sz="1754">
                <a:solidFill>
                  <a:srgbClr val="000000"/>
                </a:solidFill>
                <a:latin typeface="Canva Sans"/>
                <a:ea typeface="Canva Sans"/>
                <a:cs typeface="Canva Sans"/>
                <a:sym typeface="Canva Sans"/>
              </a:rPr>
              <a:t>Gestion des valeurs manquantes</a:t>
            </a:r>
          </a:p>
        </p:txBody>
      </p:sp>
      <p:sp>
        <p:nvSpPr>
          <p:cNvPr name="TextBox 31" id="31"/>
          <p:cNvSpPr txBox="true"/>
          <p:nvPr/>
        </p:nvSpPr>
        <p:spPr>
          <a:xfrm rot="0">
            <a:off x="6528019" y="3017402"/>
            <a:ext cx="1376110" cy="925488"/>
          </a:xfrm>
          <a:prstGeom prst="rect">
            <a:avLst/>
          </a:prstGeom>
        </p:spPr>
        <p:txBody>
          <a:bodyPr anchor="t" rtlCol="false" tIns="0" lIns="0" bIns="0" rIns="0">
            <a:spAutoFit/>
          </a:bodyPr>
          <a:lstStyle/>
          <a:p>
            <a:pPr algn="ctr">
              <a:lnSpc>
                <a:spcPts val="2538"/>
              </a:lnSpc>
            </a:pPr>
            <a:r>
              <a:rPr lang="en-US" sz="1813">
                <a:solidFill>
                  <a:srgbClr val="000000"/>
                </a:solidFill>
                <a:latin typeface="Canva Sans"/>
                <a:ea typeface="Canva Sans"/>
                <a:cs typeface="Canva Sans"/>
                <a:sym typeface="Canva Sans"/>
              </a:rPr>
              <a:t>Détection des anomalies</a:t>
            </a:r>
          </a:p>
        </p:txBody>
      </p:sp>
      <p:grpSp>
        <p:nvGrpSpPr>
          <p:cNvPr name="Group 32" id="32"/>
          <p:cNvGrpSpPr/>
          <p:nvPr/>
        </p:nvGrpSpPr>
        <p:grpSpPr>
          <a:xfrm rot="0">
            <a:off x="10982183" y="641620"/>
            <a:ext cx="3445150" cy="4042344"/>
            <a:chOff x="0" y="0"/>
            <a:chExt cx="942354" cy="1105705"/>
          </a:xfrm>
        </p:grpSpPr>
        <p:sp>
          <p:nvSpPr>
            <p:cNvPr name="Freeform 33" id="33"/>
            <p:cNvSpPr/>
            <p:nvPr/>
          </p:nvSpPr>
          <p:spPr>
            <a:xfrm flipH="false" flipV="false" rot="0">
              <a:off x="0" y="0"/>
              <a:ext cx="942354" cy="1105705"/>
            </a:xfrm>
            <a:custGeom>
              <a:avLst/>
              <a:gdLst/>
              <a:ahLst/>
              <a:cxnLst/>
              <a:rect r="r" b="b" t="t" l="l"/>
              <a:pathLst>
                <a:path h="1105705" w="942354">
                  <a:moveTo>
                    <a:pt x="114607" y="0"/>
                  </a:moveTo>
                  <a:lnTo>
                    <a:pt x="827747" y="0"/>
                  </a:lnTo>
                  <a:cubicBezTo>
                    <a:pt x="891043" y="0"/>
                    <a:pt x="942354" y="51311"/>
                    <a:pt x="942354" y="114607"/>
                  </a:cubicBezTo>
                  <a:lnTo>
                    <a:pt x="942354" y="991098"/>
                  </a:lnTo>
                  <a:cubicBezTo>
                    <a:pt x="942354" y="1054393"/>
                    <a:pt x="891043" y="1105705"/>
                    <a:pt x="827747" y="1105705"/>
                  </a:cubicBezTo>
                  <a:lnTo>
                    <a:pt x="114607" y="1105705"/>
                  </a:lnTo>
                  <a:cubicBezTo>
                    <a:pt x="51311" y="1105705"/>
                    <a:pt x="0" y="1054393"/>
                    <a:pt x="0" y="991098"/>
                  </a:cubicBezTo>
                  <a:lnTo>
                    <a:pt x="0" y="114607"/>
                  </a:lnTo>
                  <a:cubicBezTo>
                    <a:pt x="0" y="51311"/>
                    <a:pt x="51311" y="0"/>
                    <a:pt x="114607" y="0"/>
                  </a:cubicBezTo>
                  <a:close/>
                </a:path>
              </a:pathLst>
            </a:custGeom>
            <a:solidFill>
              <a:srgbClr val="0F77C5"/>
            </a:solidFill>
          </p:spPr>
        </p:sp>
        <p:sp>
          <p:nvSpPr>
            <p:cNvPr name="TextBox 34" id="34"/>
            <p:cNvSpPr txBox="true"/>
            <p:nvPr/>
          </p:nvSpPr>
          <p:spPr>
            <a:xfrm>
              <a:off x="0" y="-47625"/>
              <a:ext cx="942354" cy="1153330"/>
            </a:xfrm>
            <a:prstGeom prst="rect">
              <a:avLst/>
            </a:prstGeom>
          </p:spPr>
          <p:txBody>
            <a:bodyPr anchor="ctr" rtlCol="false" tIns="50800" lIns="50800" bIns="50800" rIns="50800"/>
            <a:lstStyle/>
            <a:p>
              <a:pPr algn="ctr">
                <a:lnSpc>
                  <a:spcPts val="2800"/>
                </a:lnSpc>
              </a:pPr>
            </a:p>
          </p:txBody>
        </p:sp>
      </p:grpSp>
      <p:grpSp>
        <p:nvGrpSpPr>
          <p:cNvPr name="Group 35" id="35"/>
          <p:cNvGrpSpPr/>
          <p:nvPr/>
        </p:nvGrpSpPr>
        <p:grpSpPr>
          <a:xfrm rot="0">
            <a:off x="10982183" y="715143"/>
            <a:ext cx="3264661" cy="761724"/>
            <a:chOff x="0" y="0"/>
            <a:chExt cx="996997" cy="232623"/>
          </a:xfrm>
        </p:grpSpPr>
        <p:sp>
          <p:nvSpPr>
            <p:cNvPr name="Freeform 36" id="36"/>
            <p:cNvSpPr/>
            <p:nvPr/>
          </p:nvSpPr>
          <p:spPr>
            <a:xfrm flipH="false" flipV="false" rot="0">
              <a:off x="0" y="0"/>
              <a:ext cx="996997" cy="232623"/>
            </a:xfrm>
            <a:custGeom>
              <a:avLst/>
              <a:gdLst/>
              <a:ahLst/>
              <a:cxnLst/>
              <a:rect r="r" b="b" t="t" l="l"/>
              <a:pathLst>
                <a:path h="232623" w="996997">
                  <a:moveTo>
                    <a:pt x="116312" y="0"/>
                  </a:moveTo>
                  <a:lnTo>
                    <a:pt x="880685" y="0"/>
                  </a:lnTo>
                  <a:cubicBezTo>
                    <a:pt x="911533" y="0"/>
                    <a:pt x="941118" y="12254"/>
                    <a:pt x="962930" y="34067"/>
                  </a:cubicBezTo>
                  <a:cubicBezTo>
                    <a:pt x="984743" y="55880"/>
                    <a:pt x="996997" y="85464"/>
                    <a:pt x="996997" y="116312"/>
                  </a:cubicBezTo>
                  <a:lnTo>
                    <a:pt x="996997" y="116312"/>
                  </a:lnTo>
                  <a:cubicBezTo>
                    <a:pt x="996997" y="180549"/>
                    <a:pt x="944923" y="232623"/>
                    <a:pt x="880685" y="232623"/>
                  </a:cubicBezTo>
                  <a:lnTo>
                    <a:pt x="116312" y="232623"/>
                  </a:lnTo>
                  <a:cubicBezTo>
                    <a:pt x="52075" y="232623"/>
                    <a:pt x="0" y="180549"/>
                    <a:pt x="0" y="116312"/>
                  </a:cubicBezTo>
                  <a:lnTo>
                    <a:pt x="0" y="116312"/>
                  </a:lnTo>
                  <a:cubicBezTo>
                    <a:pt x="0" y="52075"/>
                    <a:pt x="52075" y="0"/>
                    <a:pt x="116312" y="0"/>
                  </a:cubicBezTo>
                  <a:close/>
                </a:path>
              </a:pathLst>
            </a:custGeom>
            <a:solidFill>
              <a:srgbClr val="FFFFFF"/>
            </a:solidFill>
          </p:spPr>
        </p:sp>
        <p:sp>
          <p:nvSpPr>
            <p:cNvPr name="TextBox 37" id="37"/>
            <p:cNvSpPr txBox="true"/>
            <p:nvPr/>
          </p:nvSpPr>
          <p:spPr>
            <a:xfrm>
              <a:off x="0" y="-47625"/>
              <a:ext cx="996997" cy="280248"/>
            </a:xfrm>
            <a:prstGeom prst="rect">
              <a:avLst/>
            </a:prstGeom>
          </p:spPr>
          <p:txBody>
            <a:bodyPr anchor="ctr" rtlCol="false" tIns="50800" lIns="50800" bIns="50800" rIns="50800"/>
            <a:lstStyle/>
            <a:p>
              <a:pPr algn="ctr">
                <a:lnSpc>
                  <a:spcPts val="2800"/>
                </a:lnSpc>
              </a:pPr>
            </a:p>
          </p:txBody>
        </p:sp>
      </p:grpSp>
      <p:grpSp>
        <p:nvGrpSpPr>
          <p:cNvPr name="Group 38" id="38"/>
          <p:cNvGrpSpPr/>
          <p:nvPr/>
        </p:nvGrpSpPr>
        <p:grpSpPr>
          <a:xfrm rot="0">
            <a:off x="12476085" y="2847816"/>
            <a:ext cx="1695758" cy="1249077"/>
            <a:chOff x="0" y="0"/>
            <a:chExt cx="494286" cy="364086"/>
          </a:xfrm>
        </p:grpSpPr>
        <p:sp>
          <p:nvSpPr>
            <p:cNvPr name="Freeform 39" id="39"/>
            <p:cNvSpPr/>
            <p:nvPr/>
          </p:nvSpPr>
          <p:spPr>
            <a:xfrm flipH="false" flipV="false" rot="0">
              <a:off x="0" y="0"/>
              <a:ext cx="494286" cy="364086"/>
            </a:xfrm>
            <a:custGeom>
              <a:avLst/>
              <a:gdLst/>
              <a:ahLst/>
              <a:cxnLst/>
              <a:rect r="r" b="b" t="t" l="l"/>
              <a:pathLst>
                <a:path h="364086" w="494286">
                  <a:moveTo>
                    <a:pt x="182043" y="0"/>
                  </a:moveTo>
                  <a:lnTo>
                    <a:pt x="312243" y="0"/>
                  </a:lnTo>
                  <a:cubicBezTo>
                    <a:pt x="412783" y="0"/>
                    <a:pt x="494286" y="81503"/>
                    <a:pt x="494286" y="182043"/>
                  </a:cubicBezTo>
                  <a:lnTo>
                    <a:pt x="494286" y="182043"/>
                  </a:lnTo>
                  <a:cubicBezTo>
                    <a:pt x="494286" y="230324"/>
                    <a:pt x="475106" y="276627"/>
                    <a:pt x="440967" y="310766"/>
                  </a:cubicBezTo>
                  <a:cubicBezTo>
                    <a:pt x="406827" y="344906"/>
                    <a:pt x="360524" y="364086"/>
                    <a:pt x="312243" y="364086"/>
                  </a:cubicBezTo>
                  <a:lnTo>
                    <a:pt x="182043" y="364086"/>
                  </a:lnTo>
                  <a:cubicBezTo>
                    <a:pt x="81503" y="364086"/>
                    <a:pt x="0" y="282582"/>
                    <a:pt x="0" y="182043"/>
                  </a:cubicBezTo>
                  <a:lnTo>
                    <a:pt x="0" y="182043"/>
                  </a:lnTo>
                  <a:cubicBezTo>
                    <a:pt x="0" y="81503"/>
                    <a:pt x="81503" y="0"/>
                    <a:pt x="182043" y="0"/>
                  </a:cubicBezTo>
                  <a:close/>
                </a:path>
              </a:pathLst>
            </a:custGeom>
            <a:solidFill>
              <a:srgbClr val="FFFFFF"/>
            </a:solidFill>
          </p:spPr>
        </p:sp>
        <p:sp>
          <p:nvSpPr>
            <p:cNvPr name="TextBox 40" id="40"/>
            <p:cNvSpPr txBox="true"/>
            <p:nvPr/>
          </p:nvSpPr>
          <p:spPr>
            <a:xfrm>
              <a:off x="0" y="-47625"/>
              <a:ext cx="494286" cy="411711"/>
            </a:xfrm>
            <a:prstGeom prst="rect">
              <a:avLst/>
            </a:prstGeom>
          </p:spPr>
          <p:txBody>
            <a:bodyPr anchor="ctr" rtlCol="false" tIns="50800" lIns="50800" bIns="50800" rIns="50800"/>
            <a:lstStyle/>
            <a:p>
              <a:pPr algn="ctr">
                <a:lnSpc>
                  <a:spcPts val="2800"/>
                </a:lnSpc>
              </a:pPr>
            </a:p>
          </p:txBody>
        </p:sp>
      </p:grpSp>
      <p:sp>
        <p:nvSpPr>
          <p:cNvPr name="TextBox 41" id="41"/>
          <p:cNvSpPr txBox="true"/>
          <p:nvPr/>
        </p:nvSpPr>
        <p:spPr>
          <a:xfrm rot="0">
            <a:off x="10982183" y="834515"/>
            <a:ext cx="3189660" cy="592640"/>
          </a:xfrm>
          <a:prstGeom prst="rect">
            <a:avLst/>
          </a:prstGeom>
        </p:spPr>
        <p:txBody>
          <a:bodyPr anchor="t" rtlCol="false" tIns="0" lIns="0" bIns="0" rIns="0">
            <a:spAutoFit/>
          </a:bodyPr>
          <a:lstStyle/>
          <a:p>
            <a:pPr algn="ctr">
              <a:lnSpc>
                <a:spcPts val="2414"/>
              </a:lnSpc>
            </a:pPr>
            <a:r>
              <a:rPr lang="en-US" sz="1724" b="true">
                <a:solidFill>
                  <a:srgbClr val="000000"/>
                </a:solidFill>
                <a:latin typeface="Canva Sans Bold"/>
                <a:ea typeface="Canva Sans Bold"/>
                <a:cs typeface="Canva Sans Bold"/>
                <a:sym typeface="Canva Sans Bold"/>
              </a:rPr>
              <a:t>Pipeline de transformation des Données</a:t>
            </a:r>
          </a:p>
        </p:txBody>
      </p:sp>
      <p:grpSp>
        <p:nvGrpSpPr>
          <p:cNvPr name="Group 42" id="42"/>
          <p:cNvGrpSpPr/>
          <p:nvPr/>
        </p:nvGrpSpPr>
        <p:grpSpPr>
          <a:xfrm rot="0">
            <a:off x="10982183" y="2905432"/>
            <a:ext cx="1394246" cy="1162887"/>
            <a:chOff x="0" y="0"/>
            <a:chExt cx="406400" cy="338963"/>
          </a:xfrm>
        </p:grpSpPr>
        <p:sp>
          <p:nvSpPr>
            <p:cNvPr name="Freeform 43" id="43"/>
            <p:cNvSpPr/>
            <p:nvPr/>
          </p:nvSpPr>
          <p:spPr>
            <a:xfrm flipH="false" flipV="false" rot="0">
              <a:off x="0" y="0"/>
              <a:ext cx="406400" cy="338963"/>
            </a:xfrm>
            <a:custGeom>
              <a:avLst/>
              <a:gdLst/>
              <a:ahLst/>
              <a:cxnLst/>
              <a:rect r="r" b="b" t="t" l="l"/>
              <a:pathLst>
                <a:path h="338963" w="406400">
                  <a:moveTo>
                    <a:pt x="169481" y="0"/>
                  </a:moveTo>
                  <a:lnTo>
                    <a:pt x="236919" y="0"/>
                  </a:lnTo>
                  <a:cubicBezTo>
                    <a:pt x="330521" y="0"/>
                    <a:pt x="406400" y="75879"/>
                    <a:pt x="406400" y="169481"/>
                  </a:cubicBezTo>
                  <a:lnTo>
                    <a:pt x="406400" y="169481"/>
                  </a:lnTo>
                  <a:cubicBezTo>
                    <a:pt x="406400" y="263083"/>
                    <a:pt x="330521" y="338963"/>
                    <a:pt x="236919" y="338963"/>
                  </a:cubicBezTo>
                  <a:lnTo>
                    <a:pt x="169481" y="338963"/>
                  </a:lnTo>
                  <a:cubicBezTo>
                    <a:pt x="75879" y="338963"/>
                    <a:pt x="0" y="263083"/>
                    <a:pt x="0" y="169481"/>
                  </a:cubicBezTo>
                  <a:lnTo>
                    <a:pt x="0" y="169481"/>
                  </a:lnTo>
                  <a:cubicBezTo>
                    <a:pt x="0" y="75879"/>
                    <a:pt x="75879" y="0"/>
                    <a:pt x="169481" y="0"/>
                  </a:cubicBezTo>
                  <a:close/>
                </a:path>
              </a:pathLst>
            </a:custGeom>
            <a:solidFill>
              <a:srgbClr val="FFFFFF"/>
            </a:solidFill>
          </p:spPr>
        </p:sp>
        <p:sp>
          <p:nvSpPr>
            <p:cNvPr name="TextBox 44" id="44"/>
            <p:cNvSpPr txBox="true"/>
            <p:nvPr/>
          </p:nvSpPr>
          <p:spPr>
            <a:xfrm>
              <a:off x="0" y="-47625"/>
              <a:ext cx="406400" cy="386588"/>
            </a:xfrm>
            <a:prstGeom prst="rect">
              <a:avLst/>
            </a:prstGeom>
          </p:spPr>
          <p:txBody>
            <a:bodyPr anchor="ctr" rtlCol="false" tIns="50800" lIns="50800" bIns="50800" rIns="50800"/>
            <a:lstStyle/>
            <a:p>
              <a:pPr algn="ctr">
                <a:lnSpc>
                  <a:spcPts val="2800"/>
                </a:lnSpc>
              </a:pPr>
            </a:p>
          </p:txBody>
        </p:sp>
      </p:grpSp>
      <p:grpSp>
        <p:nvGrpSpPr>
          <p:cNvPr name="Group 45" id="45"/>
          <p:cNvGrpSpPr/>
          <p:nvPr/>
        </p:nvGrpSpPr>
        <p:grpSpPr>
          <a:xfrm rot="0">
            <a:off x="11928960" y="1637001"/>
            <a:ext cx="1704475" cy="1025791"/>
            <a:chOff x="0" y="0"/>
            <a:chExt cx="496827" cy="299001"/>
          </a:xfrm>
        </p:grpSpPr>
        <p:sp>
          <p:nvSpPr>
            <p:cNvPr name="Freeform 46" id="46"/>
            <p:cNvSpPr/>
            <p:nvPr/>
          </p:nvSpPr>
          <p:spPr>
            <a:xfrm flipH="false" flipV="false" rot="0">
              <a:off x="0" y="0"/>
              <a:ext cx="496827" cy="299001"/>
            </a:xfrm>
            <a:custGeom>
              <a:avLst/>
              <a:gdLst/>
              <a:ahLst/>
              <a:cxnLst/>
              <a:rect r="r" b="b" t="t" l="l"/>
              <a:pathLst>
                <a:path h="299001" w="496827">
                  <a:moveTo>
                    <a:pt x="149501" y="0"/>
                  </a:moveTo>
                  <a:lnTo>
                    <a:pt x="347326" y="0"/>
                  </a:lnTo>
                  <a:cubicBezTo>
                    <a:pt x="386976" y="0"/>
                    <a:pt x="425002" y="15751"/>
                    <a:pt x="453039" y="43788"/>
                  </a:cubicBezTo>
                  <a:cubicBezTo>
                    <a:pt x="481076" y="71825"/>
                    <a:pt x="496827" y="109851"/>
                    <a:pt x="496827" y="149501"/>
                  </a:cubicBezTo>
                  <a:lnTo>
                    <a:pt x="496827" y="149501"/>
                  </a:lnTo>
                  <a:cubicBezTo>
                    <a:pt x="496827" y="189151"/>
                    <a:pt x="481076" y="227177"/>
                    <a:pt x="453039" y="255214"/>
                  </a:cubicBezTo>
                  <a:cubicBezTo>
                    <a:pt x="425002" y="283250"/>
                    <a:pt x="386976" y="299001"/>
                    <a:pt x="347326" y="299001"/>
                  </a:cubicBezTo>
                  <a:lnTo>
                    <a:pt x="149501" y="299001"/>
                  </a:lnTo>
                  <a:cubicBezTo>
                    <a:pt x="109851" y="299001"/>
                    <a:pt x="71825" y="283250"/>
                    <a:pt x="43788" y="255214"/>
                  </a:cubicBezTo>
                  <a:cubicBezTo>
                    <a:pt x="15751" y="227177"/>
                    <a:pt x="0" y="189151"/>
                    <a:pt x="0" y="149501"/>
                  </a:cubicBezTo>
                  <a:lnTo>
                    <a:pt x="0" y="149501"/>
                  </a:lnTo>
                  <a:cubicBezTo>
                    <a:pt x="0" y="109851"/>
                    <a:pt x="15751" y="71825"/>
                    <a:pt x="43788" y="43788"/>
                  </a:cubicBezTo>
                  <a:cubicBezTo>
                    <a:pt x="71825" y="15751"/>
                    <a:pt x="109851" y="0"/>
                    <a:pt x="149501" y="0"/>
                  </a:cubicBezTo>
                  <a:close/>
                </a:path>
              </a:pathLst>
            </a:custGeom>
            <a:solidFill>
              <a:srgbClr val="FFFFFF"/>
            </a:solidFill>
          </p:spPr>
        </p:sp>
        <p:sp>
          <p:nvSpPr>
            <p:cNvPr name="TextBox 47" id="47"/>
            <p:cNvSpPr txBox="true"/>
            <p:nvPr/>
          </p:nvSpPr>
          <p:spPr>
            <a:xfrm>
              <a:off x="0" y="-47625"/>
              <a:ext cx="496827" cy="346626"/>
            </a:xfrm>
            <a:prstGeom prst="rect">
              <a:avLst/>
            </a:prstGeom>
          </p:spPr>
          <p:txBody>
            <a:bodyPr anchor="ctr" rtlCol="false" tIns="50800" lIns="50800" bIns="50800" rIns="50800"/>
            <a:lstStyle/>
            <a:p>
              <a:pPr algn="ctr">
                <a:lnSpc>
                  <a:spcPts val="2800"/>
                </a:lnSpc>
              </a:pPr>
            </a:p>
          </p:txBody>
        </p:sp>
      </p:grpSp>
      <p:sp>
        <p:nvSpPr>
          <p:cNvPr name="TextBox 48" id="48"/>
          <p:cNvSpPr txBox="true"/>
          <p:nvPr/>
        </p:nvSpPr>
        <p:spPr>
          <a:xfrm rot="0">
            <a:off x="11067558" y="3350396"/>
            <a:ext cx="1308871" cy="289564"/>
          </a:xfrm>
          <a:prstGeom prst="rect">
            <a:avLst/>
          </a:prstGeom>
        </p:spPr>
        <p:txBody>
          <a:bodyPr anchor="t" rtlCol="false" tIns="0" lIns="0" bIns="0" rIns="0">
            <a:spAutoFit/>
          </a:bodyPr>
          <a:lstStyle/>
          <a:p>
            <a:pPr algn="ctr">
              <a:lnSpc>
                <a:spcPts val="2414"/>
              </a:lnSpc>
            </a:pPr>
            <a:r>
              <a:rPr lang="en-US" sz="1724">
                <a:solidFill>
                  <a:srgbClr val="000000"/>
                </a:solidFill>
                <a:latin typeface="Canva Sans"/>
                <a:ea typeface="Canva Sans"/>
                <a:cs typeface="Canva Sans"/>
                <a:sym typeface="Canva Sans"/>
              </a:rPr>
              <a:t>Encodage </a:t>
            </a:r>
          </a:p>
        </p:txBody>
      </p:sp>
      <p:sp>
        <p:nvSpPr>
          <p:cNvPr name="TextBox 49" id="49"/>
          <p:cNvSpPr txBox="true"/>
          <p:nvPr/>
        </p:nvSpPr>
        <p:spPr>
          <a:xfrm rot="0">
            <a:off x="12441982" y="3305607"/>
            <a:ext cx="1729861" cy="289564"/>
          </a:xfrm>
          <a:prstGeom prst="rect">
            <a:avLst/>
          </a:prstGeom>
        </p:spPr>
        <p:txBody>
          <a:bodyPr anchor="t" rtlCol="false" tIns="0" lIns="0" bIns="0" rIns="0">
            <a:spAutoFit/>
          </a:bodyPr>
          <a:lstStyle/>
          <a:p>
            <a:pPr algn="ctr">
              <a:lnSpc>
                <a:spcPts val="2414"/>
              </a:lnSpc>
            </a:pPr>
            <a:r>
              <a:rPr lang="en-US" sz="1724">
                <a:solidFill>
                  <a:srgbClr val="000000"/>
                </a:solidFill>
                <a:latin typeface="Canva Sans"/>
                <a:ea typeface="Canva Sans"/>
                <a:cs typeface="Canva Sans"/>
                <a:sym typeface="Canva Sans"/>
              </a:rPr>
              <a:t>Segmentation </a:t>
            </a:r>
          </a:p>
        </p:txBody>
      </p:sp>
      <p:sp>
        <p:nvSpPr>
          <p:cNvPr name="TextBox 50" id="50"/>
          <p:cNvSpPr txBox="true"/>
          <p:nvPr/>
        </p:nvSpPr>
        <p:spPr>
          <a:xfrm rot="0">
            <a:off x="11721994" y="1973448"/>
            <a:ext cx="2118408" cy="314796"/>
          </a:xfrm>
          <a:prstGeom prst="rect">
            <a:avLst/>
          </a:prstGeom>
        </p:spPr>
        <p:txBody>
          <a:bodyPr anchor="t" rtlCol="false" tIns="0" lIns="0" bIns="0" rIns="0">
            <a:spAutoFit/>
          </a:bodyPr>
          <a:lstStyle/>
          <a:p>
            <a:pPr algn="ctr">
              <a:lnSpc>
                <a:spcPts val="2599"/>
              </a:lnSpc>
            </a:pPr>
            <a:r>
              <a:rPr lang="en-US" sz="1856">
                <a:solidFill>
                  <a:srgbClr val="000000"/>
                </a:solidFill>
                <a:latin typeface="Canva Sans"/>
                <a:ea typeface="Canva Sans"/>
                <a:cs typeface="Canva Sans"/>
                <a:sym typeface="Canva Sans"/>
              </a:rPr>
              <a:t>Normalisation</a:t>
            </a:r>
          </a:p>
        </p:txBody>
      </p:sp>
      <p:sp>
        <p:nvSpPr>
          <p:cNvPr name="Freeform 51" id="51"/>
          <p:cNvSpPr/>
          <p:nvPr/>
        </p:nvSpPr>
        <p:spPr>
          <a:xfrm flipH="false" flipV="false" rot="0">
            <a:off x="4622836" y="1811603"/>
            <a:ext cx="1449140" cy="1033201"/>
          </a:xfrm>
          <a:custGeom>
            <a:avLst/>
            <a:gdLst/>
            <a:ahLst/>
            <a:cxnLst/>
            <a:rect r="r" b="b" t="t" l="l"/>
            <a:pathLst>
              <a:path h="1033201" w="1449140">
                <a:moveTo>
                  <a:pt x="0" y="0"/>
                </a:moveTo>
                <a:lnTo>
                  <a:pt x="1449140" y="0"/>
                </a:lnTo>
                <a:lnTo>
                  <a:pt x="1449140" y="1033201"/>
                </a:lnTo>
                <a:lnTo>
                  <a:pt x="0" y="10332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2" id="52"/>
          <p:cNvSpPr/>
          <p:nvPr/>
        </p:nvSpPr>
        <p:spPr>
          <a:xfrm flipH="false" flipV="false" rot="4323096">
            <a:off x="14256046" y="2777438"/>
            <a:ext cx="1629157" cy="1161548"/>
          </a:xfrm>
          <a:custGeom>
            <a:avLst/>
            <a:gdLst/>
            <a:ahLst/>
            <a:cxnLst/>
            <a:rect r="r" b="b" t="t" l="l"/>
            <a:pathLst>
              <a:path h="1161548" w="1629157">
                <a:moveTo>
                  <a:pt x="0" y="0"/>
                </a:moveTo>
                <a:lnTo>
                  <a:pt x="1629156" y="0"/>
                </a:lnTo>
                <a:lnTo>
                  <a:pt x="1629156" y="1161548"/>
                </a:lnTo>
                <a:lnTo>
                  <a:pt x="0" y="11615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3" id="53"/>
          <p:cNvSpPr/>
          <p:nvPr/>
        </p:nvSpPr>
        <p:spPr>
          <a:xfrm flipH="false" flipV="false" rot="0">
            <a:off x="9694109" y="1945807"/>
            <a:ext cx="1288075" cy="918365"/>
          </a:xfrm>
          <a:custGeom>
            <a:avLst/>
            <a:gdLst/>
            <a:ahLst/>
            <a:cxnLst/>
            <a:rect r="r" b="b" t="t" l="l"/>
            <a:pathLst>
              <a:path h="918365" w="1288075">
                <a:moveTo>
                  <a:pt x="0" y="0"/>
                </a:moveTo>
                <a:lnTo>
                  <a:pt x="1288074" y="0"/>
                </a:lnTo>
                <a:lnTo>
                  <a:pt x="1288074" y="918365"/>
                </a:lnTo>
                <a:lnTo>
                  <a:pt x="0" y="9183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4" id="54"/>
          <p:cNvGrpSpPr/>
          <p:nvPr/>
        </p:nvGrpSpPr>
        <p:grpSpPr>
          <a:xfrm rot="0">
            <a:off x="14394838" y="4281678"/>
            <a:ext cx="3445150" cy="4042344"/>
            <a:chOff x="0" y="0"/>
            <a:chExt cx="942354" cy="1105705"/>
          </a:xfrm>
        </p:grpSpPr>
        <p:sp>
          <p:nvSpPr>
            <p:cNvPr name="Freeform 55" id="55"/>
            <p:cNvSpPr/>
            <p:nvPr/>
          </p:nvSpPr>
          <p:spPr>
            <a:xfrm flipH="false" flipV="false" rot="0">
              <a:off x="0" y="0"/>
              <a:ext cx="942354" cy="1105705"/>
            </a:xfrm>
            <a:custGeom>
              <a:avLst/>
              <a:gdLst/>
              <a:ahLst/>
              <a:cxnLst/>
              <a:rect r="r" b="b" t="t" l="l"/>
              <a:pathLst>
                <a:path h="1105705" w="942354">
                  <a:moveTo>
                    <a:pt x="114607" y="0"/>
                  </a:moveTo>
                  <a:lnTo>
                    <a:pt x="827747" y="0"/>
                  </a:lnTo>
                  <a:cubicBezTo>
                    <a:pt x="891043" y="0"/>
                    <a:pt x="942354" y="51311"/>
                    <a:pt x="942354" y="114607"/>
                  </a:cubicBezTo>
                  <a:lnTo>
                    <a:pt x="942354" y="991098"/>
                  </a:lnTo>
                  <a:cubicBezTo>
                    <a:pt x="942354" y="1054393"/>
                    <a:pt x="891043" y="1105705"/>
                    <a:pt x="827747" y="1105705"/>
                  </a:cubicBezTo>
                  <a:lnTo>
                    <a:pt x="114607" y="1105705"/>
                  </a:lnTo>
                  <a:cubicBezTo>
                    <a:pt x="51311" y="1105705"/>
                    <a:pt x="0" y="1054393"/>
                    <a:pt x="0" y="991098"/>
                  </a:cubicBezTo>
                  <a:lnTo>
                    <a:pt x="0" y="114607"/>
                  </a:lnTo>
                  <a:cubicBezTo>
                    <a:pt x="0" y="51311"/>
                    <a:pt x="51311" y="0"/>
                    <a:pt x="114607" y="0"/>
                  </a:cubicBezTo>
                  <a:close/>
                </a:path>
              </a:pathLst>
            </a:custGeom>
            <a:solidFill>
              <a:srgbClr val="0F77C5"/>
            </a:solidFill>
          </p:spPr>
        </p:sp>
        <p:sp>
          <p:nvSpPr>
            <p:cNvPr name="TextBox 56" id="56"/>
            <p:cNvSpPr txBox="true"/>
            <p:nvPr/>
          </p:nvSpPr>
          <p:spPr>
            <a:xfrm>
              <a:off x="0" y="-47625"/>
              <a:ext cx="942354" cy="1153330"/>
            </a:xfrm>
            <a:prstGeom prst="rect">
              <a:avLst/>
            </a:prstGeom>
          </p:spPr>
          <p:txBody>
            <a:bodyPr anchor="ctr" rtlCol="false" tIns="50800" lIns="50800" bIns="50800" rIns="50800"/>
            <a:lstStyle/>
            <a:p>
              <a:pPr algn="ctr">
                <a:lnSpc>
                  <a:spcPts val="2800"/>
                </a:lnSpc>
              </a:pPr>
            </a:p>
          </p:txBody>
        </p:sp>
      </p:grpSp>
      <p:grpSp>
        <p:nvGrpSpPr>
          <p:cNvPr name="Group 57" id="57"/>
          <p:cNvGrpSpPr/>
          <p:nvPr/>
        </p:nvGrpSpPr>
        <p:grpSpPr>
          <a:xfrm rot="0">
            <a:off x="15945044" y="6345241"/>
            <a:ext cx="1695758" cy="1249077"/>
            <a:chOff x="0" y="0"/>
            <a:chExt cx="494286" cy="364086"/>
          </a:xfrm>
        </p:grpSpPr>
        <p:sp>
          <p:nvSpPr>
            <p:cNvPr name="Freeform 58" id="58"/>
            <p:cNvSpPr/>
            <p:nvPr/>
          </p:nvSpPr>
          <p:spPr>
            <a:xfrm flipH="false" flipV="false" rot="0">
              <a:off x="0" y="0"/>
              <a:ext cx="494286" cy="364086"/>
            </a:xfrm>
            <a:custGeom>
              <a:avLst/>
              <a:gdLst/>
              <a:ahLst/>
              <a:cxnLst/>
              <a:rect r="r" b="b" t="t" l="l"/>
              <a:pathLst>
                <a:path h="364086" w="494286">
                  <a:moveTo>
                    <a:pt x="182043" y="0"/>
                  </a:moveTo>
                  <a:lnTo>
                    <a:pt x="312243" y="0"/>
                  </a:lnTo>
                  <a:cubicBezTo>
                    <a:pt x="412783" y="0"/>
                    <a:pt x="494286" y="81503"/>
                    <a:pt x="494286" y="182043"/>
                  </a:cubicBezTo>
                  <a:lnTo>
                    <a:pt x="494286" y="182043"/>
                  </a:lnTo>
                  <a:cubicBezTo>
                    <a:pt x="494286" y="230324"/>
                    <a:pt x="475106" y="276627"/>
                    <a:pt x="440967" y="310766"/>
                  </a:cubicBezTo>
                  <a:cubicBezTo>
                    <a:pt x="406827" y="344906"/>
                    <a:pt x="360524" y="364086"/>
                    <a:pt x="312243" y="364086"/>
                  </a:cubicBezTo>
                  <a:lnTo>
                    <a:pt x="182043" y="364086"/>
                  </a:lnTo>
                  <a:cubicBezTo>
                    <a:pt x="81503" y="364086"/>
                    <a:pt x="0" y="282582"/>
                    <a:pt x="0" y="182043"/>
                  </a:cubicBezTo>
                  <a:lnTo>
                    <a:pt x="0" y="182043"/>
                  </a:lnTo>
                  <a:cubicBezTo>
                    <a:pt x="0" y="81503"/>
                    <a:pt x="81503" y="0"/>
                    <a:pt x="182043" y="0"/>
                  </a:cubicBezTo>
                  <a:close/>
                </a:path>
              </a:pathLst>
            </a:custGeom>
            <a:solidFill>
              <a:srgbClr val="FFFFFF"/>
            </a:solidFill>
          </p:spPr>
        </p:sp>
        <p:sp>
          <p:nvSpPr>
            <p:cNvPr name="TextBox 59" id="59"/>
            <p:cNvSpPr txBox="true"/>
            <p:nvPr/>
          </p:nvSpPr>
          <p:spPr>
            <a:xfrm>
              <a:off x="0" y="-47625"/>
              <a:ext cx="494286" cy="411711"/>
            </a:xfrm>
            <a:prstGeom prst="rect">
              <a:avLst/>
            </a:prstGeom>
          </p:spPr>
          <p:txBody>
            <a:bodyPr anchor="ctr" rtlCol="false" tIns="50800" lIns="50800" bIns="50800" rIns="50800"/>
            <a:lstStyle/>
            <a:p>
              <a:pPr algn="ctr">
                <a:lnSpc>
                  <a:spcPts val="2800"/>
                </a:lnSpc>
              </a:pPr>
            </a:p>
          </p:txBody>
        </p:sp>
      </p:grpSp>
      <p:grpSp>
        <p:nvGrpSpPr>
          <p:cNvPr name="Group 60" id="60"/>
          <p:cNvGrpSpPr/>
          <p:nvPr/>
        </p:nvGrpSpPr>
        <p:grpSpPr>
          <a:xfrm rot="0">
            <a:off x="14451142" y="6402857"/>
            <a:ext cx="1394246" cy="1162887"/>
            <a:chOff x="0" y="0"/>
            <a:chExt cx="406400" cy="338963"/>
          </a:xfrm>
        </p:grpSpPr>
        <p:sp>
          <p:nvSpPr>
            <p:cNvPr name="Freeform 61" id="61"/>
            <p:cNvSpPr/>
            <p:nvPr/>
          </p:nvSpPr>
          <p:spPr>
            <a:xfrm flipH="false" flipV="false" rot="0">
              <a:off x="0" y="0"/>
              <a:ext cx="406400" cy="338963"/>
            </a:xfrm>
            <a:custGeom>
              <a:avLst/>
              <a:gdLst/>
              <a:ahLst/>
              <a:cxnLst/>
              <a:rect r="r" b="b" t="t" l="l"/>
              <a:pathLst>
                <a:path h="338963" w="406400">
                  <a:moveTo>
                    <a:pt x="169481" y="0"/>
                  </a:moveTo>
                  <a:lnTo>
                    <a:pt x="236919" y="0"/>
                  </a:lnTo>
                  <a:cubicBezTo>
                    <a:pt x="330521" y="0"/>
                    <a:pt x="406400" y="75879"/>
                    <a:pt x="406400" y="169481"/>
                  </a:cubicBezTo>
                  <a:lnTo>
                    <a:pt x="406400" y="169481"/>
                  </a:lnTo>
                  <a:cubicBezTo>
                    <a:pt x="406400" y="263083"/>
                    <a:pt x="330521" y="338963"/>
                    <a:pt x="236919" y="338963"/>
                  </a:cubicBezTo>
                  <a:lnTo>
                    <a:pt x="169481" y="338963"/>
                  </a:lnTo>
                  <a:cubicBezTo>
                    <a:pt x="75879" y="338963"/>
                    <a:pt x="0" y="263083"/>
                    <a:pt x="0" y="169481"/>
                  </a:cubicBezTo>
                  <a:lnTo>
                    <a:pt x="0" y="169481"/>
                  </a:lnTo>
                  <a:cubicBezTo>
                    <a:pt x="0" y="75879"/>
                    <a:pt x="75879" y="0"/>
                    <a:pt x="169481" y="0"/>
                  </a:cubicBezTo>
                  <a:close/>
                </a:path>
              </a:pathLst>
            </a:custGeom>
            <a:solidFill>
              <a:srgbClr val="FFFFFF"/>
            </a:solidFill>
          </p:spPr>
        </p:sp>
        <p:sp>
          <p:nvSpPr>
            <p:cNvPr name="TextBox 62" id="62"/>
            <p:cNvSpPr txBox="true"/>
            <p:nvPr/>
          </p:nvSpPr>
          <p:spPr>
            <a:xfrm>
              <a:off x="0" y="-47625"/>
              <a:ext cx="406400" cy="386588"/>
            </a:xfrm>
            <a:prstGeom prst="rect">
              <a:avLst/>
            </a:prstGeom>
          </p:spPr>
          <p:txBody>
            <a:bodyPr anchor="ctr" rtlCol="false" tIns="50800" lIns="50800" bIns="50800" rIns="50800"/>
            <a:lstStyle/>
            <a:p>
              <a:pPr algn="ctr">
                <a:lnSpc>
                  <a:spcPts val="2800"/>
                </a:lnSpc>
              </a:pPr>
            </a:p>
          </p:txBody>
        </p:sp>
      </p:grpSp>
      <p:grpSp>
        <p:nvGrpSpPr>
          <p:cNvPr name="Group 63" id="63"/>
          <p:cNvGrpSpPr/>
          <p:nvPr/>
        </p:nvGrpSpPr>
        <p:grpSpPr>
          <a:xfrm rot="0">
            <a:off x="14685911" y="5272853"/>
            <a:ext cx="2107012" cy="1109686"/>
            <a:chOff x="0" y="0"/>
            <a:chExt cx="614160" cy="323455"/>
          </a:xfrm>
        </p:grpSpPr>
        <p:sp>
          <p:nvSpPr>
            <p:cNvPr name="Freeform 64" id="64"/>
            <p:cNvSpPr/>
            <p:nvPr/>
          </p:nvSpPr>
          <p:spPr>
            <a:xfrm flipH="false" flipV="false" rot="0">
              <a:off x="0" y="0"/>
              <a:ext cx="614160" cy="323455"/>
            </a:xfrm>
            <a:custGeom>
              <a:avLst/>
              <a:gdLst/>
              <a:ahLst/>
              <a:cxnLst/>
              <a:rect r="r" b="b" t="t" l="l"/>
              <a:pathLst>
                <a:path h="323455" w="614160">
                  <a:moveTo>
                    <a:pt x="161728" y="0"/>
                  </a:moveTo>
                  <a:lnTo>
                    <a:pt x="452432" y="0"/>
                  </a:lnTo>
                  <a:cubicBezTo>
                    <a:pt x="495325" y="0"/>
                    <a:pt x="536461" y="17039"/>
                    <a:pt x="566791" y="47369"/>
                  </a:cubicBezTo>
                  <a:cubicBezTo>
                    <a:pt x="597121" y="77699"/>
                    <a:pt x="614160" y="118835"/>
                    <a:pt x="614160" y="161728"/>
                  </a:cubicBezTo>
                  <a:lnTo>
                    <a:pt x="614160" y="161728"/>
                  </a:lnTo>
                  <a:cubicBezTo>
                    <a:pt x="614160" y="204621"/>
                    <a:pt x="597121" y="245757"/>
                    <a:pt x="566791" y="276086"/>
                  </a:cubicBezTo>
                  <a:cubicBezTo>
                    <a:pt x="536461" y="306416"/>
                    <a:pt x="495325" y="323455"/>
                    <a:pt x="452432" y="323455"/>
                  </a:cubicBezTo>
                  <a:lnTo>
                    <a:pt x="161728" y="323455"/>
                  </a:lnTo>
                  <a:cubicBezTo>
                    <a:pt x="118835" y="323455"/>
                    <a:pt x="77699" y="306416"/>
                    <a:pt x="47369" y="276086"/>
                  </a:cubicBezTo>
                  <a:cubicBezTo>
                    <a:pt x="17039" y="245757"/>
                    <a:pt x="0" y="204621"/>
                    <a:pt x="0" y="161728"/>
                  </a:cubicBezTo>
                  <a:lnTo>
                    <a:pt x="0" y="161728"/>
                  </a:lnTo>
                  <a:cubicBezTo>
                    <a:pt x="0" y="118835"/>
                    <a:pt x="17039" y="77699"/>
                    <a:pt x="47369" y="47369"/>
                  </a:cubicBezTo>
                  <a:cubicBezTo>
                    <a:pt x="77699" y="17039"/>
                    <a:pt x="118835" y="0"/>
                    <a:pt x="161728" y="0"/>
                  </a:cubicBezTo>
                  <a:close/>
                </a:path>
              </a:pathLst>
            </a:custGeom>
            <a:solidFill>
              <a:srgbClr val="FFFFFF"/>
            </a:solidFill>
          </p:spPr>
        </p:sp>
        <p:sp>
          <p:nvSpPr>
            <p:cNvPr name="TextBox 65" id="65"/>
            <p:cNvSpPr txBox="true"/>
            <p:nvPr/>
          </p:nvSpPr>
          <p:spPr>
            <a:xfrm>
              <a:off x="0" y="-47625"/>
              <a:ext cx="614160" cy="371080"/>
            </a:xfrm>
            <a:prstGeom prst="rect">
              <a:avLst/>
            </a:prstGeom>
          </p:spPr>
          <p:txBody>
            <a:bodyPr anchor="ctr" rtlCol="false" tIns="50800" lIns="50800" bIns="50800" rIns="50800"/>
            <a:lstStyle/>
            <a:p>
              <a:pPr algn="ctr">
                <a:lnSpc>
                  <a:spcPts val="2800"/>
                </a:lnSpc>
              </a:pPr>
            </a:p>
          </p:txBody>
        </p:sp>
      </p:grpSp>
      <p:sp>
        <p:nvSpPr>
          <p:cNvPr name="TextBox 66" id="66"/>
          <p:cNvSpPr txBox="true"/>
          <p:nvPr/>
        </p:nvSpPr>
        <p:spPr>
          <a:xfrm rot="0">
            <a:off x="14493830" y="6675421"/>
            <a:ext cx="1308871" cy="594364"/>
          </a:xfrm>
          <a:prstGeom prst="rect">
            <a:avLst/>
          </a:prstGeom>
        </p:spPr>
        <p:txBody>
          <a:bodyPr anchor="t" rtlCol="false" tIns="0" lIns="0" bIns="0" rIns="0">
            <a:spAutoFit/>
          </a:bodyPr>
          <a:lstStyle/>
          <a:p>
            <a:pPr algn="ctr">
              <a:lnSpc>
                <a:spcPts val="2414"/>
              </a:lnSpc>
            </a:pPr>
            <a:r>
              <a:rPr lang="en-US" sz="1724">
                <a:solidFill>
                  <a:srgbClr val="000000"/>
                </a:solidFill>
                <a:latin typeface="Canva Sans"/>
                <a:ea typeface="Canva Sans"/>
                <a:cs typeface="Canva Sans"/>
                <a:sym typeface="Canva Sans"/>
              </a:rPr>
              <a:t>choisir le modele</a:t>
            </a:r>
          </a:p>
        </p:txBody>
      </p:sp>
      <p:sp>
        <p:nvSpPr>
          <p:cNvPr name="TextBox 67" id="67"/>
          <p:cNvSpPr txBox="true"/>
          <p:nvPr/>
        </p:nvSpPr>
        <p:spPr>
          <a:xfrm rot="0">
            <a:off x="15994601" y="6507203"/>
            <a:ext cx="1729861" cy="899164"/>
          </a:xfrm>
          <a:prstGeom prst="rect">
            <a:avLst/>
          </a:prstGeom>
        </p:spPr>
        <p:txBody>
          <a:bodyPr anchor="t" rtlCol="false" tIns="0" lIns="0" bIns="0" rIns="0">
            <a:spAutoFit/>
          </a:bodyPr>
          <a:lstStyle/>
          <a:p>
            <a:pPr algn="ctr">
              <a:lnSpc>
                <a:spcPts val="2414"/>
              </a:lnSpc>
            </a:pPr>
            <a:r>
              <a:rPr lang="en-US" sz="1724">
                <a:solidFill>
                  <a:srgbClr val="000000"/>
                </a:solidFill>
                <a:latin typeface="Canva Sans"/>
                <a:ea typeface="Canva Sans"/>
                <a:cs typeface="Canva Sans"/>
                <a:sym typeface="Canva Sans"/>
              </a:rPr>
              <a:t> Comparaison des Performances </a:t>
            </a:r>
          </a:p>
        </p:txBody>
      </p:sp>
      <p:sp>
        <p:nvSpPr>
          <p:cNvPr name="TextBox 68" id="68"/>
          <p:cNvSpPr txBox="true"/>
          <p:nvPr/>
        </p:nvSpPr>
        <p:spPr>
          <a:xfrm rot="0">
            <a:off x="14934841" y="5487187"/>
            <a:ext cx="1821095" cy="540489"/>
          </a:xfrm>
          <a:prstGeom prst="rect">
            <a:avLst/>
          </a:prstGeom>
        </p:spPr>
        <p:txBody>
          <a:bodyPr anchor="t" rtlCol="false" tIns="0" lIns="0" bIns="0" rIns="0">
            <a:spAutoFit/>
          </a:bodyPr>
          <a:lstStyle/>
          <a:p>
            <a:pPr algn="ctr">
              <a:lnSpc>
                <a:spcPts val="2234"/>
              </a:lnSpc>
            </a:pPr>
            <a:r>
              <a:rPr lang="en-US" sz="1595">
                <a:solidFill>
                  <a:srgbClr val="000000"/>
                </a:solidFill>
                <a:latin typeface="Canva Sans"/>
                <a:ea typeface="Canva Sans"/>
                <a:cs typeface="Canva Sans"/>
                <a:sym typeface="Canva Sans"/>
              </a:rPr>
              <a:t>Entraînement des Modèles </a:t>
            </a:r>
          </a:p>
        </p:txBody>
      </p:sp>
      <p:grpSp>
        <p:nvGrpSpPr>
          <p:cNvPr name="Group 69" id="69"/>
          <p:cNvGrpSpPr/>
          <p:nvPr/>
        </p:nvGrpSpPr>
        <p:grpSpPr>
          <a:xfrm rot="0">
            <a:off x="14473361" y="4407370"/>
            <a:ext cx="3264661" cy="761724"/>
            <a:chOff x="0" y="0"/>
            <a:chExt cx="996997" cy="232623"/>
          </a:xfrm>
        </p:grpSpPr>
        <p:sp>
          <p:nvSpPr>
            <p:cNvPr name="Freeform 70" id="70"/>
            <p:cNvSpPr/>
            <p:nvPr/>
          </p:nvSpPr>
          <p:spPr>
            <a:xfrm flipH="false" flipV="false" rot="0">
              <a:off x="0" y="0"/>
              <a:ext cx="996997" cy="232623"/>
            </a:xfrm>
            <a:custGeom>
              <a:avLst/>
              <a:gdLst/>
              <a:ahLst/>
              <a:cxnLst/>
              <a:rect r="r" b="b" t="t" l="l"/>
              <a:pathLst>
                <a:path h="232623" w="996997">
                  <a:moveTo>
                    <a:pt x="116312" y="0"/>
                  </a:moveTo>
                  <a:lnTo>
                    <a:pt x="880685" y="0"/>
                  </a:lnTo>
                  <a:cubicBezTo>
                    <a:pt x="911533" y="0"/>
                    <a:pt x="941118" y="12254"/>
                    <a:pt x="962930" y="34067"/>
                  </a:cubicBezTo>
                  <a:cubicBezTo>
                    <a:pt x="984743" y="55880"/>
                    <a:pt x="996997" y="85464"/>
                    <a:pt x="996997" y="116312"/>
                  </a:cubicBezTo>
                  <a:lnTo>
                    <a:pt x="996997" y="116312"/>
                  </a:lnTo>
                  <a:cubicBezTo>
                    <a:pt x="996997" y="180549"/>
                    <a:pt x="944923" y="232623"/>
                    <a:pt x="880685" y="232623"/>
                  </a:cubicBezTo>
                  <a:lnTo>
                    <a:pt x="116312" y="232623"/>
                  </a:lnTo>
                  <a:cubicBezTo>
                    <a:pt x="52075" y="232623"/>
                    <a:pt x="0" y="180549"/>
                    <a:pt x="0" y="116312"/>
                  </a:cubicBezTo>
                  <a:lnTo>
                    <a:pt x="0" y="116312"/>
                  </a:lnTo>
                  <a:cubicBezTo>
                    <a:pt x="0" y="52075"/>
                    <a:pt x="52075" y="0"/>
                    <a:pt x="116312" y="0"/>
                  </a:cubicBezTo>
                  <a:close/>
                </a:path>
              </a:pathLst>
            </a:custGeom>
            <a:solidFill>
              <a:srgbClr val="FFFFFF"/>
            </a:solidFill>
          </p:spPr>
        </p:sp>
        <p:sp>
          <p:nvSpPr>
            <p:cNvPr name="TextBox 71" id="71"/>
            <p:cNvSpPr txBox="true"/>
            <p:nvPr/>
          </p:nvSpPr>
          <p:spPr>
            <a:xfrm>
              <a:off x="0" y="-47625"/>
              <a:ext cx="996997" cy="280248"/>
            </a:xfrm>
            <a:prstGeom prst="rect">
              <a:avLst/>
            </a:prstGeom>
          </p:spPr>
          <p:txBody>
            <a:bodyPr anchor="ctr" rtlCol="false" tIns="50800" lIns="50800" bIns="50800" rIns="50800"/>
            <a:lstStyle/>
            <a:p>
              <a:pPr algn="ctr">
                <a:lnSpc>
                  <a:spcPts val="2800"/>
                </a:lnSpc>
              </a:pPr>
            </a:p>
          </p:txBody>
        </p:sp>
      </p:grpSp>
      <p:sp>
        <p:nvSpPr>
          <p:cNvPr name="TextBox 72" id="72"/>
          <p:cNvSpPr txBox="true"/>
          <p:nvPr/>
        </p:nvSpPr>
        <p:spPr>
          <a:xfrm rot="0">
            <a:off x="14534803" y="4477625"/>
            <a:ext cx="3189660" cy="592640"/>
          </a:xfrm>
          <a:prstGeom prst="rect">
            <a:avLst/>
          </a:prstGeom>
        </p:spPr>
        <p:txBody>
          <a:bodyPr anchor="t" rtlCol="false" tIns="0" lIns="0" bIns="0" rIns="0">
            <a:spAutoFit/>
          </a:bodyPr>
          <a:lstStyle/>
          <a:p>
            <a:pPr algn="ctr">
              <a:lnSpc>
                <a:spcPts val="2414"/>
              </a:lnSpc>
            </a:pPr>
            <a:r>
              <a:rPr lang="en-US" sz="1724" b="true">
                <a:solidFill>
                  <a:srgbClr val="000000"/>
                </a:solidFill>
                <a:latin typeface="Canva Sans Bold"/>
                <a:ea typeface="Canva Sans Bold"/>
                <a:cs typeface="Canva Sans Bold"/>
                <a:sym typeface="Canva Sans Bold"/>
              </a:rPr>
              <a:t>Pipeline de Modélisation et</a:t>
            </a:r>
          </a:p>
          <a:p>
            <a:pPr algn="ctr">
              <a:lnSpc>
                <a:spcPts val="2414"/>
              </a:lnSpc>
            </a:pPr>
            <a:r>
              <a:rPr lang="en-US" sz="1724" b="true">
                <a:solidFill>
                  <a:srgbClr val="000000"/>
                </a:solidFill>
                <a:latin typeface="Canva Sans Bold"/>
                <a:ea typeface="Canva Sans Bold"/>
                <a:cs typeface="Canva Sans Bold"/>
                <a:sym typeface="Canva Sans Bold"/>
              </a:rPr>
              <a:t>evaluation</a:t>
            </a:r>
          </a:p>
        </p:txBody>
      </p:sp>
      <p:grpSp>
        <p:nvGrpSpPr>
          <p:cNvPr name="Group 73" id="73"/>
          <p:cNvGrpSpPr/>
          <p:nvPr/>
        </p:nvGrpSpPr>
        <p:grpSpPr>
          <a:xfrm rot="0">
            <a:off x="8385599" y="5417389"/>
            <a:ext cx="3622133" cy="4250005"/>
            <a:chOff x="0" y="0"/>
            <a:chExt cx="942354" cy="1105705"/>
          </a:xfrm>
        </p:grpSpPr>
        <p:sp>
          <p:nvSpPr>
            <p:cNvPr name="Freeform 74" id="74"/>
            <p:cNvSpPr/>
            <p:nvPr/>
          </p:nvSpPr>
          <p:spPr>
            <a:xfrm flipH="false" flipV="false" rot="0">
              <a:off x="0" y="0"/>
              <a:ext cx="942354" cy="1105705"/>
            </a:xfrm>
            <a:custGeom>
              <a:avLst/>
              <a:gdLst/>
              <a:ahLst/>
              <a:cxnLst/>
              <a:rect r="r" b="b" t="t" l="l"/>
              <a:pathLst>
                <a:path h="1105705" w="942354">
                  <a:moveTo>
                    <a:pt x="109007" y="0"/>
                  </a:moveTo>
                  <a:lnTo>
                    <a:pt x="833347" y="0"/>
                  </a:lnTo>
                  <a:cubicBezTo>
                    <a:pt x="893550" y="0"/>
                    <a:pt x="942354" y="48804"/>
                    <a:pt x="942354" y="109007"/>
                  </a:cubicBezTo>
                  <a:lnTo>
                    <a:pt x="942354" y="996698"/>
                  </a:lnTo>
                  <a:cubicBezTo>
                    <a:pt x="942354" y="1056901"/>
                    <a:pt x="893550" y="1105705"/>
                    <a:pt x="833347" y="1105705"/>
                  </a:cubicBezTo>
                  <a:lnTo>
                    <a:pt x="109007" y="1105705"/>
                  </a:lnTo>
                  <a:cubicBezTo>
                    <a:pt x="48804" y="1105705"/>
                    <a:pt x="0" y="1056901"/>
                    <a:pt x="0" y="996698"/>
                  </a:cubicBezTo>
                  <a:lnTo>
                    <a:pt x="0" y="109007"/>
                  </a:lnTo>
                  <a:cubicBezTo>
                    <a:pt x="0" y="48804"/>
                    <a:pt x="48804" y="0"/>
                    <a:pt x="109007" y="0"/>
                  </a:cubicBezTo>
                  <a:close/>
                </a:path>
              </a:pathLst>
            </a:custGeom>
            <a:solidFill>
              <a:srgbClr val="0F77C5"/>
            </a:solidFill>
          </p:spPr>
        </p:sp>
        <p:sp>
          <p:nvSpPr>
            <p:cNvPr name="TextBox 75" id="75"/>
            <p:cNvSpPr txBox="true"/>
            <p:nvPr/>
          </p:nvSpPr>
          <p:spPr>
            <a:xfrm>
              <a:off x="0" y="-47625"/>
              <a:ext cx="942354" cy="1153330"/>
            </a:xfrm>
            <a:prstGeom prst="rect">
              <a:avLst/>
            </a:prstGeom>
          </p:spPr>
          <p:txBody>
            <a:bodyPr anchor="ctr" rtlCol="false" tIns="50800" lIns="50800" bIns="50800" rIns="50800"/>
            <a:lstStyle/>
            <a:p>
              <a:pPr algn="ctr">
                <a:lnSpc>
                  <a:spcPts val="2800"/>
                </a:lnSpc>
              </a:pPr>
            </a:p>
          </p:txBody>
        </p:sp>
      </p:grpSp>
      <p:grpSp>
        <p:nvGrpSpPr>
          <p:cNvPr name="Group 76" id="76"/>
          <p:cNvGrpSpPr/>
          <p:nvPr/>
        </p:nvGrpSpPr>
        <p:grpSpPr>
          <a:xfrm rot="0">
            <a:off x="8480480" y="5555837"/>
            <a:ext cx="3432371" cy="800855"/>
            <a:chOff x="0" y="0"/>
            <a:chExt cx="996997" cy="232623"/>
          </a:xfrm>
        </p:grpSpPr>
        <p:sp>
          <p:nvSpPr>
            <p:cNvPr name="Freeform 77" id="77"/>
            <p:cNvSpPr/>
            <p:nvPr/>
          </p:nvSpPr>
          <p:spPr>
            <a:xfrm flipH="false" flipV="false" rot="0">
              <a:off x="0" y="0"/>
              <a:ext cx="996997" cy="232623"/>
            </a:xfrm>
            <a:custGeom>
              <a:avLst/>
              <a:gdLst/>
              <a:ahLst/>
              <a:cxnLst/>
              <a:rect r="r" b="b" t="t" l="l"/>
              <a:pathLst>
                <a:path h="232623" w="996997">
                  <a:moveTo>
                    <a:pt x="115034" y="0"/>
                  </a:moveTo>
                  <a:lnTo>
                    <a:pt x="881964" y="0"/>
                  </a:lnTo>
                  <a:cubicBezTo>
                    <a:pt x="912472" y="0"/>
                    <a:pt x="941732" y="12120"/>
                    <a:pt x="963305" y="33693"/>
                  </a:cubicBezTo>
                  <a:cubicBezTo>
                    <a:pt x="984877" y="55266"/>
                    <a:pt x="996997" y="84525"/>
                    <a:pt x="996997" y="115034"/>
                  </a:cubicBezTo>
                  <a:lnTo>
                    <a:pt x="996997" y="117590"/>
                  </a:lnTo>
                  <a:cubicBezTo>
                    <a:pt x="996997" y="148099"/>
                    <a:pt x="984877" y="177358"/>
                    <a:pt x="963305" y="198931"/>
                  </a:cubicBezTo>
                  <a:cubicBezTo>
                    <a:pt x="941732" y="220504"/>
                    <a:pt x="912472" y="232623"/>
                    <a:pt x="881964" y="232623"/>
                  </a:cubicBezTo>
                  <a:lnTo>
                    <a:pt x="115034" y="232623"/>
                  </a:lnTo>
                  <a:cubicBezTo>
                    <a:pt x="84525" y="232623"/>
                    <a:pt x="55266" y="220504"/>
                    <a:pt x="33693" y="198931"/>
                  </a:cubicBezTo>
                  <a:cubicBezTo>
                    <a:pt x="12120" y="177358"/>
                    <a:pt x="0" y="148099"/>
                    <a:pt x="0" y="117590"/>
                  </a:cubicBezTo>
                  <a:lnTo>
                    <a:pt x="0" y="115034"/>
                  </a:lnTo>
                  <a:cubicBezTo>
                    <a:pt x="0" y="84525"/>
                    <a:pt x="12120" y="55266"/>
                    <a:pt x="33693" y="33693"/>
                  </a:cubicBezTo>
                  <a:cubicBezTo>
                    <a:pt x="55266" y="12120"/>
                    <a:pt x="84525" y="0"/>
                    <a:pt x="115034" y="0"/>
                  </a:cubicBezTo>
                  <a:close/>
                </a:path>
              </a:pathLst>
            </a:custGeom>
            <a:solidFill>
              <a:srgbClr val="FFFFFF"/>
            </a:solidFill>
          </p:spPr>
        </p:sp>
        <p:sp>
          <p:nvSpPr>
            <p:cNvPr name="TextBox 78" id="78"/>
            <p:cNvSpPr txBox="true"/>
            <p:nvPr/>
          </p:nvSpPr>
          <p:spPr>
            <a:xfrm>
              <a:off x="0" y="-47625"/>
              <a:ext cx="996997" cy="280248"/>
            </a:xfrm>
            <a:prstGeom prst="rect">
              <a:avLst/>
            </a:prstGeom>
          </p:spPr>
          <p:txBody>
            <a:bodyPr anchor="ctr" rtlCol="false" tIns="50800" lIns="50800" bIns="50800" rIns="50800"/>
            <a:lstStyle/>
            <a:p>
              <a:pPr algn="ctr">
                <a:lnSpc>
                  <a:spcPts val="2800"/>
                </a:lnSpc>
              </a:pPr>
            </a:p>
          </p:txBody>
        </p:sp>
      </p:grpSp>
      <p:sp>
        <p:nvSpPr>
          <p:cNvPr name="TextBox 79" id="79"/>
          <p:cNvSpPr txBox="true"/>
          <p:nvPr/>
        </p:nvSpPr>
        <p:spPr>
          <a:xfrm rot="0">
            <a:off x="8604893" y="5631169"/>
            <a:ext cx="3353517" cy="302065"/>
          </a:xfrm>
          <a:prstGeom prst="rect">
            <a:avLst/>
          </a:prstGeom>
        </p:spPr>
        <p:txBody>
          <a:bodyPr anchor="t" rtlCol="false" tIns="0" lIns="0" bIns="0" rIns="0">
            <a:spAutoFit/>
          </a:bodyPr>
          <a:lstStyle/>
          <a:p>
            <a:pPr algn="ctr">
              <a:lnSpc>
                <a:spcPts val="2538"/>
              </a:lnSpc>
            </a:pPr>
            <a:r>
              <a:rPr lang="en-US" sz="1813" b="true">
                <a:solidFill>
                  <a:srgbClr val="000000"/>
                </a:solidFill>
                <a:latin typeface="Canva Sans Bold"/>
                <a:ea typeface="Canva Sans Bold"/>
                <a:cs typeface="Canva Sans Bold"/>
                <a:sym typeface="Canva Sans Bold"/>
              </a:rPr>
              <a:t>Module de Monitoring</a:t>
            </a:r>
          </a:p>
        </p:txBody>
      </p:sp>
      <p:grpSp>
        <p:nvGrpSpPr>
          <p:cNvPr name="Group 80" id="80"/>
          <p:cNvGrpSpPr/>
          <p:nvPr/>
        </p:nvGrpSpPr>
        <p:grpSpPr>
          <a:xfrm rot="0">
            <a:off x="10236668" y="8189620"/>
            <a:ext cx="1676183" cy="1315058"/>
            <a:chOff x="0" y="0"/>
            <a:chExt cx="464707" cy="364589"/>
          </a:xfrm>
        </p:grpSpPr>
        <p:sp>
          <p:nvSpPr>
            <p:cNvPr name="Freeform 81" id="81"/>
            <p:cNvSpPr/>
            <p:nvPr/>
          </p:nvSpPr>
          <p:spPr>
            <a:xfrm flipH="false" flipV="false" rot="0">
              <a:off x="0" y="0"/>
              <a:ext cx="464707" cy="364589"/>
            </a:xfrm>
            <a:custGeom>
              <a:avLst/>
              <a:gdLst/>
              <a:ahLst/>
              <a:cxnLst/>
              <a:rect r="r" b="b" t="t" l="l"/>
              <a:pathLst>
                <a:path h="364589" w="464707">
                  <a:moveTo>
                    <a:pt x="182294" y="0"/>
                  </a:moveTo>
                  <a:lnTo>
                    <a:pt x="282413" y="0"/>
                  </a:lnTo>
                  <a:cubicBezTo>
                    <a:pt x="330760" y="0"/>
                    <a:pt x="377128" y="19206"/>
                    <a:pt x="411314" y="53393"/>
                  </a:cubicBezTo>
                  <a:cubicBezTo>
                    <a:pt x="445501" y="87580"/>
                    <a:pt x="464707" y="133947"/>
                    <a:pt x="464707" y="182294"/>
                  </a:cubicBezTo>
                  <a:lnTo>
                    <a:pt x="464707" y="182294"/>
                  </a:lnTo>
                  <a:cubicBezTo>
                    <a:pt x="464707" y="230642"/>
                    <a:pt x="445501" y="277009"/>
                    <a:pt x="411314" y="311196"/>
                  </a:cubicBezTo>
                  <a:cubicBezTo>
                    <a:pt x="377128" y="345383"/>
                    <a:pt x="330760" y="364589"/>
                    <a:pt x="282413" y="364589"/>
                  </a:cubicBezTo>
                  <a:lnTo>
                    <a:pt x="182294" y="364589"/>
                  </a:lnTo>
                  <a:cubicBezTo>
                    <a:pt x="133947" y="364589"/>
                    <a:pt x="87580" y="345383"/>
                    <a:pt x="53393" y="311196"/>
                  </a:cubicBezTo>
                  <a:cubicBezTo>
                    <a:pt x="19206" y="277009"/>
                    <a:pt x="0" y="230642"/>
                    <a:pt x="0" y="182294"/>
                  </a:cubicBezTo>
                  <a:lnTo>
                    <a:pt x="0" y="182294"/>
                  </a:lnTo>
                  <a:cubicBezTo>
                    <a:pt x="0" y="133947"/>
                    <a:pt x="19206" y="87580"/>
                    <a:pt x="53393" y="53393"/>
                  </a:cubicBezTo>
                  <a:cubicBezTo>
                    <a:pt x="87580" y="19206"/>
                    <a:pt x="133947" y="0"/>
                    <a:pt x="182294" y="0"/>
                  </a:cubicBezTo>
                  <a:close/>
                </a:path>
              </a:pathLst>
            </a:custGeom>
            <a:solidFill>
              <a:srgbClr val="FFFFFF"/>
            </a:solidFill>
          </p:spPr>
        </p:sp>
        <p:sp>
          <p:nvSpPr>
            <p:cNvPr name="TextBox 82" id="82"/>
            <p:cNvSpPr txBox="true"/>
            <p:nvPr/>
          </p:nvSpPr>
          <p:spPr>
            <a:xfrm>
              <a:off x="0" y="-47625"/>
              <a:ext cx="464707" cy="412214"/>
            </a:xfrm>
            <a:prstGeom prst="rect">
              <a:avLst/>
            </a:prstGeom>
          </p:spPr>
          <p:txBody>
            <a:bodyPr anchor="ctr" rtlCol="false" tIns="50800" lIns="50800" bIns="50800" rIns="50800"/>
            <a:lstStyle/>
            <a:p>
              <a:pPr algn="ctr">
                <a:lnSpc>
                  <a:spcPts val="2800"/>
                </a:lnSpc>
              </a:pPr>
            </a:p>
          </p:txBody>
        </p:sp>
      </p:grpSp>
      <p:grpSp>
        <p:nvGrpSpPr>
          <p:cNvPr name="Group 83" id="83"/>
          <p:cNvGrpSpPr/>
          <p:nvPr/>
        </p:nvGrpSpPr>
        <p:grpSpPr>
          <a:xfrm rot="0">
            <a:off x="8821692" y="6529995"/>
            <a:ext cx="2347053" cy="1465870"/>
            <a:chOff x="0" y="0"/>
            <a:chExt cx="650700" cy="406400"/>
          </a:xfrm>
        </p:grpSpPr>
        <p:sp>
          <p:nvSpPr>
            <p:cNvPr name="Freeform 84" id="84"/>
            <p:cNvSpPr/>
            <p:nvPr/>
          </p:nvSpPr>
          <p:spPr>
            <a:xfrm flipH="false" flipV="false" rot="0">
              <a:off x="0" y="0"/>
              <a:ext cx="650700" cy="406400"/>
            </a:xfrm>
            <a:custGeom>
              <a:avLst/>
              <a:gdLst/>
              <a:ahLst/>
              <a:cxnLst/>
              <a:rect r="r" b="b" t="t" l="l"/>
              <a:pathLst>
                <a:path h="406400" w="650700">
                  <a:moveTo>
                    <a:pt x="168227" y="0"/>
                  </a:moveTo>
                  <a:lnTo>
                    <a:pt x="482473" y="0"/>
                  </a:lnTo>
                  <a:cubicBezTo>
                    <a:pt x="527090" y="0"/>
                    <a:pt x="569879" y="17724"/>
                    <a:pt x="601428" y="49273"/>
                  </a:cubicBezTo>
                  <a:cubicBezTo>
                    <a:pt x="632977" y="80821"/>
                    <a:pt x="650700" y="123610"/>
                    <a:pt x="650700" y="168227"/>
                  </a:cubicBezTo>
                  <a:lnTo>
                    <a:pt x="650700" y="238173"/>
                  </a:lnTo>
                  <a:cubicBezTo>
                    <a:pt x="650700" y="282790"/>
                    <a:pt x="632977" y="325579"/>
                    <a:pt x="601428" y="357127"/>
                  </a:cubicBezTo>
                  <a:cubicBezTo>
                    <a:pt x="569879" y="388676"/>
                    <a:pt x="527090" y="406400"/>
                    <a:pt x="482473" y="406400"/>
                  </a:cubicBezTo>
                  <a:lnTo>
                    <a:pt x="168227" y="406400"/>
                  </a:lnTo>
                  <a:cubicBezTo>
                    <a:pt x="123610" y="406400"/>
                    <a:pt x="80821" y="388676"/>
                    <a:pt x="49273" y="357127"/>
                  </a:cubicBezTo>
                  <a:cubicBezTo>
                    <a:pt x="17724" y="325579"/>
                    <a:pt x="0" y="282790"/>
                    <a:pt x="0" y="238173"/>
                  </a:cubicBezTo>
                  <a:lnTo>
                    <a:pt x="0" y="168227"/>
                  </a:lnTo>
                  <a:cubicBezTo>
                    <a:pt x="0" y="123610"/>
                    <a:pt x="17724" y="80821"/>
                    <a:pt x="49273" y="49273"/>
                  </a:cubicBezTo>
                  <a:cubicBezTo>
                    <a:pt x="80821" y="17724"/>
                    <a:pt x="123610" y="0"/>
                    <a:pt x="168227" y="0"/>
                  </a:cubicBezTo>
                  <a:close/>
                </a:path>
              </a:pathLst>
            </a:custGeom>
            <a:solidFill>
              <a:srgbClr val="FFFFFF"/>
            </a:solidFill>
          </p:spPr>
        </p:sp>
        <p:sp>
          <p:nvSpPr>
            <p:cNvPr name="TextBox 85" id="85"/>
            <p:cNvSpPr txBox="true"/>
            <p:nvPr/>
          </p:nvSpPr>
          <p:spPr>
            <a:xfrm>
              <a:off x="0" y="-47625"/>
              <a:ext cx="650700" cy="454025"/>
            </a:xfrm>
            <a:prstGeom prst="rect">
              <a:avLst/>
            </a:prstGeom>
          </p:spPr>
          <p:txBody>
            <a:bodyPr anchor="ctr" rtlCol="false" tIns="50800" lIns="50800" bIns="50800" rIns="50800"/>
            <a:lstStyle/>
            <a:p>
              <a:pPr algn="ctr">
                <a:lnSpc>
                  <a:spcPts val="2800"/>
                </a:lnSpc>
              </a:pPr>
            </a:p>
          </p:txBody>
        </p:sp>
      </p:grpSp>
      <p:grpSp>
        <p:nvGrpSpPr>
          <p:cNvPr name="Group 86" id="86"/>
          <p:cNvGrpSpPr/>
          <p:nvPr/>
        </p:nvGrpSpPr>
        <p:grpSpPr>
          <a:xfrm rot="0">
            <a:off x="8604893" y="8210797"/>
            <a:ext cx="1465870" cy="1315058"/>
            <a:chOff x="0" y="0"/>
            <a:chExt cx="406400" cy="364589"/>
          </a:xfrm>
        </p:grpSpPr>
        <p:sp>
          <p:nvSpPr>
            <p:cNvPr name="Freeform 87" id="87"/>
            <p:cNvSpPr/>
            <p:nvPr/>
          </p:nvSpPr>
          <p:spPr>
            <a:xfrm flipH="false" flipV="false" rot="0">
              <a:off x="0" y="0"/>
              <a:ext cx="406400" cy="364589"/>
            </a:xfrm>
            <a:custGeom>
              <a:avLst/>
              <a:gdLst/>
              <a:ahLst/>
              <a:cxnLst/>
              <a:rect r="r" b="b" t="t" l="l"/>
              <a:pathLst>
                <a:path h="364589" w="406400">
                  <a:moveTo>
                    <a:pt x="182294" y="0"/>
                  </a:moveTo>
                  <a:lnTo>
                    <a:pt x="224106" y="0"/>
                  </a:lnTo>
                  <a:cubicBezTo>
                    <a:pt x="272453" y="0"/>
                    <a:pt x="318820" y="19206"/>
                    <a:pt x="353007" y="53393"/>
                  </a:cubicBezTo>
                  <a:cubicBezTo>
                    <a:pt x="387194" y="87580"/>
                    <a:pt x="406400" y="133947"/>
                    <a:pt x="406400" y="182294"/>
                  </a:cubicBezTo>
                  <a:lnTo>
                    <a:pt x="406400" y="182294"/>
                  </a:lnTo>
                  <a:cubicBezTo>
                    <a:pt x="406400" y="230642"/>
                    <a:pt x="387194" y="277009"/>
                    <a:pt x="353007" y="311196"/>
                  </a:cubicBezTo>
                  <a:cubicBezTo>
                    <a:pt x="318820" y="345383"/>
                    <a:pt x="272453" y="364589"/>
                    <a:pt x="224106" y="364589"/>
                  </a:cubicBezTo>
                  <a:lnTo>
                    <a:pt x="182294" y="364589"/>
                  </a:lnTo>
                  <a:cubicBezTo>
                    <a:pt x="133947" y="364589"/>
                    <a:pt x="87580" y="345383"/>
                    <a:pt x="53393" y="311196"/>
                  </a:cubicBezTo>
                  <a:cubicBezTo>
                    <a:pt x="19206" y="277009"/>
                    <a:pt x="0" y="230642"/>
                    <a:pt x="0" y="182294"/>
                  </a:cubicBezTo>
                  <a:lnTo>
                    <a:pt x="0" y="182294"/>
                  </a:lnTo>
                  <a:cubicBezTo>
                    <a:pt x="0" y="133947"/>
                    <a:pt x="19206" y="87580"/>
                    <a:pt x="53393" y="53393"/>
                  </a:cubicBezTo>
                  <a:cubicBezTo>
                    <a:pt x="87580" y="19206"/>
                    <a:pt x="133947" y="0"/>
                    <a:pt x="182294" y="0"/>
                  </a:cubicBezTo>
                  <a:close/>
                </a:path>
              </a:pathLst>
            </a:custGeom>
            <a:solidFill>
              <a:srgbClr val="FFFFFF"/>
            </a:solidFill>
          </p:spPr>
        </p:sp>
        <p:sp>
          <p:nvSpPr>
            <p:cNvPr name="TextBox 88" id="88"/>
            <p:cNvSpPr txBox="true"/>
            <p:nvPr/>
          </p:nvSpPr>
          <p:spPr>
            <a:xfrm>
              <a:off x="0" y="-47625"/>
              <a:ext cx="406400" cy="412214"/>
            </a:xfrm>
            <a:prstGeom prst="rect">
              <a:avLst/>
            </a:prstGeom>
          </p:spPr>
          <p:txBody>
            <a:bodyPr anchor="ctr" rtlCol="false" tIns="50800" lIns="50800" bIns="50800" rIns="50800"/>
            <a:lstStyle/>
            <a:p>
              <a:pPr algn="ctr">
                <a:lnSpc>
                  <a:spcPts val="2800"/>
                </a:lnSpc>
              </a:pPr>
            </a:p>
          </p:txBody>
        </p:sp>
      </p:grpSp>
      <p:sp>
        <p:nvSpPr>
          <p:cNvPr name="TextBox 89" id="89"/>
          <p:cNvSpPr txBox="true"/>
          <p:nvPr/>
        </p:nvSpPr>
        <p:spPr>
          <a:xfrm rot="0">
            <a:off x="8777512" y="6917048"/>
            <a:ext cx="2253460" cy="611163"/>
          </a:xfrm>
          <a:prstGeom prst="rect">
            <a:avLst/>
          </a:prstGeom>
        </p:spPr>
        <p:txBody>
          <a:bodyPr anchor="t" rtlCol="false" tIns="0" lIns="0" bIns="0" rIns="0">
            <a:spAutoFit/>
          </a:bodyPr>
          <a:lstStyle/>
          <a:p>
            <a:pPr algn="ctr">
              <a:lnSpc>
                <a:spcPts val="2538"/>
              </a:lnSpc>
            </a:pPr>
            <a:r>
              <a:rPr lang="en-US" sz="1813">
                <a:solidFill>
                  <a:srgbClr val="000000"/>
                </a:solidFill>
                <a:latin typeface="Canva Sans"/>
                <a:ea typeface="Canva Sans"/>
                <a:cs typeface="Canva Sans"/>
                <a:sym typeface="Canva Sans"/>
              </a:rPr>
              <a:t>Surveillance avec MLFlow</a:t>
            </a:r>
          </a:p>
        </p:txBody>
      </p:sp>
      <p:sp>
        <p:nvSpPr>
          <p:cNvPr name="TextBox 90" id="90"/>
          <p:cNvSpPr txBox="true"/>
          <p:nvPr/>
        </p:nvSpPr>
        <p:spPr>
          <a:xfrm rot="0">
            <a:off x="8604893" y="8567984"/>
            <a:ext cx="1376110" cy="611163"/>
          </a:xfrm>
          <a:prstGeom prst="rect">
            <a:avLst/>
          </a:prstGeom>
        </p:spPr>
        <p:txBody>
          <a:bodyPr anchor="t" rtlCol="false" tIns="0" lIns="0" bIns="0" rIns="0">
            <a:spAutoFit/>
          </a:bodyPr>
          <a:lstStyle/>
          <a:p>
            <a:pPr algn="ctr">
              <a:lnSpc>
                <a:spcPts val="2538"/>
              </a:lnSpc>
            </a:pPr>
            <a:r>
              <a:rPr lang="en-US" sz="1813">
                <a:solidFill>
                  <a:srgbClr val="000000"/>
                </a:solidFill>
                <a:latin typeface="Canva Sans"/>
                <a:ea typeface="Canva Sans"/>
                <a:cs typeface="Canva Sans"/>
                <a:sym typeface="Canva Sans"/>
              </a:rPr>
              <a:t>Détection des dérives</a:t>
            </a:r>
          </a:p>
        </p:txBody>
      </p:sp>
      <p:sp>
        <p:nvSpPr>
          <p:cNvPr name="TextBox 91" id="91"/>
          <p:cNvSpPr txBox="true"/>
          <p:nvPr/>
        </p:nvSpPr>
        <p:spPr>
          <a:xfrm rot="0">
            <a:off x="10236668" y="8479460"/>
            <a:ext cx="1588606" cy="611163"/>
          </a:xfrm>
          <a:prstGeom prst="rect">
            <a:avLst/>
          </a:prstGeom>
        </p:spPr>
        <p:txBody>
          <a:bodyPr anchor="t" rtlCol="false" tIns="0" lIns="0" bIns="0" rIns="0">
            <a:spAutoFit/>
          </a:bodyPr>
          <a:lstStyle/>
          <a:p>
            <a:pPr algn="ctr">
              <a:lnSpc>
                <a:spcPts val="2538"/>
              </a:lnSpc>
            </a:pPr>
            <a:r>
              <a:rPr lang="en-US" sz="1813">
                <a:solidFill>
                  <a:srgbClr val="000000"/>
                </a:solidFill>
                <a:latin typeface="Canva Sans"/>
                <a:ea typeface="Canva Sans"/>
                <a:cs typeface="Canva Sans"/>
                <a:sym typeface="Canva Sans"/>
              </a:rPr>
              <a:t>Comparaison des metrices</a:t>
            </a:r>
          </a:p>
        </p:txBody>
      </p:sp>
      <p:sp>
        <p:nvSpPr>
          <p:cNvPr name="Freeform 92" id="92"/>
          <p:cNvSpPr/>
          <p:nvPr/>
        </p:nvSpPr>
        <p:spPr>
          <a:xfrm flipH="false" flipV="false" rot="10703147">
            <a:off x="12287988" y="6437850"/>
            <a:ext cx="1974672" cy="1407892"/>
          </a:xfrm>
          <a:custGeom>
            <a:avLst/>
            <a:gdLst/>
            <a:ahLst/>
            <a:cxnLst/>
            <a:rect r="r" b="b" t="t" l="l"/>
            <a:pathLst>
              <a:path h="1407892" w="1974672">
                <a:moveTo>
                  <a:pt x="0" y="0"/>
                </a:moveTo>
                <a:lnTo>
                  <a:pt x="1974672" y="0"/>
                </a:lnTo>
                <a:lnTo>
                  <a:pt x="1974672" y="1407892"/>
                </a:lnTo>
                <a:lnTo>
                  <a:pt x="0" y="14078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3" id="93"/>
          <p:cNvGrpSpPr/>
          <p:nvPr/>
        </p:nvGrpSpPr>
        <p:grpSpPr>
          <a:xfrm rot="0">
            <a:off x="15238003" y="8290589"/>
            <a:ext cx="7523780" cy="7523780"/>
            <a:chOff x="0" y="0"/>
            <a:chExt cx="812800" cy="812800"/>
          </a:xfrm>
        </p:grpSpPr>
        <p:sp>
          <p:nvSpPr>
            <p:cNvPr name="Freeform 94" id="9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95" id="9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6" id="96"/>
          <p:cNvGrpSpPr/>
          <p:nvPr/>
        </p:nvGrpSpPr>
        <p:grpSpPr>
          <a:xfrm rot="0">
            <a:off x="0" y="0"/>
            <a:ext cx="18288000" cy="632381"/>
            <a:chOff x="0" y="0"/>
            <a:chExt cx="4816593" cy="166553"/>
          </a:xfrm>
        </p:grpSpPr>
        <p:sp>
          <p:nvSpPr>
            <p:cNvPr name="Freeform 97" id="97"/>
            <p:cNvSpPr/>
            <p:nvPr/>
          </p:nvSpPr>
          <p:spPr>
            <a:xfrm flipH="false" flipV="false" rot="0">
              <a:off x="0" y="0"/>
              <a:ext cx="4816592" cy="166553"/>
            </a:xfrm>
            <a:custGeom>
              <a:avLst/>
              <a:gdLst/>
              <a:ahLst/>
              <a:cxnLst/>
              <a:rect r="r" b="b" t="t" l="l"/>
              <a:pathLst>
                <a:path h="166553" w="4816592">
                  <a:moveTo>
                    <a:pt x="0" y="0"/>
                  </a:moveTo>
                  <a:lnTo>
                    <a:pt x="4816592" y="0"/>
                  </a:lnTo>
                  <a:lnTo>
                    <a:pt x="4816592" y="166553"/>
                  </a:lnTo>
                  <a:lnTo>
                    <a:pt x="0" y="166553"/>
                  </a:lnTo>
                  <a:close/>
                </a:path>
              </a:pathLst>
            </a:custGeom>
            <a:solidFill>
              <a:srgbClr val="145DA0"/>
            </a:solidFill>
            <a:ln cap="sq">
              <a:noFill/>
              <a:prstDash val="solid"/>
              <a:miter/>
            </a:ln>
          </p:spPr>
        </p:sp>
        <p:sp>
          <p:nvSpPr>
            <p:cNvPr name="TextBox 98" id="98"/>
            <p:cNvSpPr txBox="true"/>
            <p:nvPr/>
          </p:nvSpPr>
          <p:spPr>
            <a:xfrm>
              <a:off x="0" y="-57150"/>
              <a:ext cx="4816593" cy="223703"/>
            </a:xfrm>
            <a:prstGeom prst="rect">
              <a:avLst/>
            </a:prstGeom>
          </p:spPr>
          <p:txBody>
            <a:bodyPr anchor="ctr" rtlCol="false" tIns="50800" lIns="50800" bIns="50800" rIns="50800"/>
            <a:lstStyle/>
            <a:p>
              <a:pPr algn="l" marL="0" indent="0" lvl="0">
                <a:lnSpc>
                  <a:spcPts val="3779"/>
                </a:lnSpc>
                <a:spcBef>
                  <a:spcPct val="0"/>
                </a:spcBef>
              </a:pPr>
              <a:r>
                <a:rPr lang="en-US" sz="2699">
                  <a:solidFill>
                    <a:srgbClr val="FDFDFD"/>
                  </a:solidFill>
                  <a:latin typeface="Open Sans Extra Bold"/>
                  <a:ea typeface="Open Sans Extra Bold"/>
                  <a:cs typeface="Open Sans Extra Bold"/>
                  <a:sym typeface="Open Sans Extra Bold"/>
                </a:rPr>
                <a:t>  Conception| Étapes du processus du pipeline</a:t>
              </a:r>
            </a:p>
          </p:txBody>
        </p:sp>
      </p:grpSp>
      <p:sp>
        <p:nvSpPr>
          <p:cNvPr name="TextBox 99" id="99"/>
          <p:cNvSpPr txBox="true"/>
          <p:nvPr/>
        </p:nvSpPr>
        <p:spPr>
          <a:xfrm rot="0">
            <a:off x="17589660" y="9356025"/>
            <a:ext cx="698340"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16</a:t>
            </a:r>
          </a:p>
        </p:txBody>
      </p:sp>
      <p:grpSp>
        <p:nvGrpSpPr>
          <p:cNvPr name="Group 100" id="100"/>
          <p:cNvGrpSpPr/>
          <p:nvPr/>
        </p:nvGrpSpPr>
        <p:grpSpPr>
          <a:xfrm rot="0">
            <a:off x="3101592" y="5469315"/>
            <a:ext cx="3622133" cy="4250005"/>
            <a:chOff x="0" y="0"/>
            <a:chExt cx="942354" cy="1105705"/>
          </a:xfrm>
        </p:grpSpPr>
        <p:sp>
          <p:nvSpPr>
            <p:cNvPr name="Freeform 101" id="101"/>
            <p:cNvSpPr/>
            <p:nvPr/>
          </p:nvSpPr>
          <p:spPr>
            <a:xfrm flipH="false" flipV="false" rot="0">
              <a:off x="0" y="0"/>
              <a:ext cx="942354" cy="1105705"/>
            </a:xfrm>
            <a:custGeom>
              <a:avLst/>
              <a:gdLst/>
              <a:ahLst/>
              <a:cxnLst/>
              <a:rect r="r" b="b" t="t" l="l"/>
              <a:pathLst>
                <a:path h="1105705" w="942354">
                  <a:moveTo>
                    <a:pt x="109007" y="0"/>
                  </a:moveTo>
                  <a:lnTo>
                    <a:pt x="833347" y="0"/>
                  </a:lnTo>
                  <a:cubicBezTo>
                    <a:pt x="893550" y="0"/>
                    <a:pt x="942354" y="48804"/>
                    <a:pt x="942354" y="109007"/>
                  </a:cubicBezTo>
                  <a:lnTo>
                    <a:pt x="942354" y="996698"/>
                  </a:lnTo>
                  <a:cubicBezTo>
                    <a:pt x="942354" y="1056901"/>
                    <a:pt x="893550" y="1105705"/>
                    <a:pt x="833347" y="1105705"/>
                  </a:cubicBezTo>
                  <a:lnTo>
                    <a:pt x="109007" y="1105705"/>
                  </a:lnTo>
                  <a:cubicBezTo>
                    <a:pt x="48804" y="1105705"/>
                    <a:pt x="0" y="1056901"/>
                    <a:pt x="0" y="996698"/>
                  </a:cubicBezTo>
                  <a:lnTo>
                    <a:pt x="0" y="109007"/>
                  </a:lnTo>
                  <a:cubicBezTo>
                    <a:pt x="0" y="48804"/>
                    <a:pt x="48804" y="0"/>
                    <a:pt x="109007" y="0"/>
                  </a:cubicBezTo>
                  <a:close/>
                </a:path>
              </a:pathLst>
            </a:custGeom>
            <a:solidFill>
              <a:srgbClr val="0F77C5"/>
            </a:solidFill>
          </p:spPr>
        </p:sp>
        <p:sp>
          <p:nvSpPr>
            <p:cNvPr name="TextBox 102" id="102"/>
            <p:cNvSpPr txBox="true"/>
            <p:nvPr/>
          </p:nvSpPr>
          <p:spPr>
            <a:xfrm>
              <a:off x="0" y="-47625"/>
              <a:ext cx="942354" cy="1153330"/>
            </a:xfrm>
            <a:prstGeom prst="rect">
              <a:avLst/>
            </a:prstGeom>
          </p:spPr>
          <p:txBody>
            <a:bodyPr anchor="ctr" rtlCol="false" tIns="50800" lIns="50800" bIns="50800" rIns="50800"/>
            <a:lstStyle/>
            <a:p>
              <a:pPr algn="ctr">
                <a:lnSpc>
                  <a:spcPts val="2800"/>
                </a:lnSpc>
              </a:pPr>
            </a:p>
          </p:txBody>
        </p:sp>
      </p:grpSp>
      <p:grpSp>
        <p:nvGrpSpPr>
          <p:cNvPr name="Group 103" id="103"/>
          <p:cNvGrpSpPr/>
          <p:nvPr/>
        </p:nvGrpSpPr>
        <p:grpSpPr>
          <a:xfrm rot="0">
            <a:off x="3156469" y="5577015"/>
            <a:ext cx="3432371" cy="800855"/>
            <a:chOff x="0" y="0"/>
            <a:chExt cx="996997" cy="232623"/>
          </a:xfrm>
        </p:grpSpPr>
        <p:sp>
          <p:nvSpPr>
            <p:cNvPr name="Freeform 104" id="104"/>
            <p:cNvSpPr/>
            <p:nvPr/>
          </p:nvSpPr>
          <p:spPr>
            <a:xfrm flipH="false" flipV="false" rot="0">
              <a:off x="0" y="0"/>
              <a:ext cx="996997" cy="232623"/>
            </a:xfrm>
            <a:custGeom>
              <a:avLst/>
              <a:gdLst/>
              <a:ahLst/>
              <a:cxnLst/>
              <a:rect r="r" b="b" t="t" l="l"/>
              <a:pathLst>
                <a:path h="232623" w="996997">
                  <a:moveTo>
                    <a:pt x="115034" y="0"/>
                  </a:moveTo>
                  <a:lnTo>
                    <a:pt x="881964" y="0"/>
                  </a:lnTo>
                  <a:cubicBezTo>
                    <a:pt x="912472" y="0"/>
                    <a:pt x="941732" y="12120"/>
                    <a:pt x="963305" y="33693"/>
                  </a:cubicBezTo>
                  <a:cubicBezTo>
                    <a:pt x="984877" y="55266"/>
                    <a:pt x="996997" y="84525"/>
                    <a:pt x="996997" y="115034"/>
                  </a:cubicBezTo>
                  <a:lnTo>
                    <a:pt x="996997" y="117590"/>
                  </a:lnTo>
                  <a:cubicBezTo>
                    <a:pt x="996997" y="148099"/>
                    <a:pt x="984877" y="177358"/>
                    <a:pt x="963305" y="198931"/>
                  </a:cubicBezTo>
                  <a:cubicBezTo>
                    <a:pt x="941732" y="220504"/>
                    <a:pt x="912472" y="232623"/>
                    <a:pt x="881964" y="232623"/>
                  </a:cubicBezTo>
                  <a:lnTo>
                    <a:pt x="115034" y="232623"/>
                  </a:lnTo>
                  <a:cubicBezTo>
                    <a:pt x="84525" y="232623"/>
                    <a:pt x="55266" y="220504"/>
                    <a:pt x="33693" y="198931"/>
                  </a:cubicBezTo>
                  <a:cubicBezTo>
                    <a:pt x="12120" y="177358"/>
                    <a:pt x="0" y="148099"/>
                    <a:pt x="0" y="117590"/>
                  </a:cubicBezTo>
                  <a:lnTo>
                    <a:pt x="0" y="115034"/>
                  </a:lnTo>
                  <a:cubicBezTo>
                    <a:pt x="0" y="84525"/>
                    <a:pt x="12120" y="55266"/>
                    <a:pt x="33693" y="33693"/>
                  </a:cubicBezTo>
                  <a:cubicBezTo>
                    <a:pt x="55266" y="12120"/>
                    <a:pt x="84525" y="0"/>
                    <a:pt x="115034" y="0"/>
                  </a:cubicBezTo>
                  <a:close/>
                </a:path>
              </a:pathLst>
            </a:custGeom>
            <a:solidFill>
              <a:srgbClr val="FFFFFF"/>
            </a:solidFill>
          </p:spPr>
        </p:sp>
        <p:sp>
          <p:nvSpPr>
            <p:cNvPr name="TextBox 105" id="105"/>
            <p:cNvSpPr txBox="true"/>
            <p:nvPr/>
          </p:nvSpPr>
          <p:spPr>
            <a:xfrm>
              <a:off x="0" y="-47625"/>
              <a:ext cx="996997" cy="280248"/>
            </a:xfrm>
            <a:prstGeom prst="rect">
              <a:avLst/>
            </a:prstGeom>
          </p:spPr>
          <p:txBody>
            <a:bodyPr anchor="ctr" rtlCol="false" tIns="50800" lIns="50800" bIns="50800" rIns="50800"/>
            <a:lstStyle/>
            <a:p>
              <a:pPr algn="ctr">
                <a:lnSpc>
                  <a:spcPts val="2800"/>
                </a:lnSpc>
              </a:pPr>
            </a:p>
          </p:txBody>
        </p:sp>
      </p:grpSp>
      <p:sp>
        <p:nvSpPr>
          <p:cNvPr name="TextBox 106" id="106"/>
          <p:cNvSpPr txBox="true"/>
          <p:nvPr/>
        </p:nvSpPr>
        <p:spPr>
          <a:xfrm rot="0">
            <a:off x="3280882" y="5652347"/>
            <a:ext cx="3353517" cy="302065"/>
          </a:xfrm>
          <a:prstGeom prst="rect">
            <a:avLst/>
          </a:prstGeom>
        </p:spPr>
        <p:txBody>
          <a:bodyPr anchor="t" rtlCol="false" tIns="0" lIns="0" bIns="0" rIns="0">
            <a:spAutoFit/>
          </a:bodyPr>
          <a:lstStyle/>
          <a:p>
            <a:pPr algn="ctr">
              <a:lnSpc>
                <a:spcPts val="2538"/>
              </a:lnSpc>
            </a:pPr>
            <a:r>
              <a:rPr lang="en-US" sz="1813" b="true">
                <a:solidFill>
                  <a:srgbClr val="000000"/>
                </a:solidFill>
                <a:latin typeface="Canva Sans Bold"/>
                <a:ea typeface="Canva Sans Bold"/>
                <a:cs typeface="Canva Sans Bold"/>
                <a:sym typeface="Canva Sans Bold"/>
              </a:rPr>
              <a:t>Pipeline CI/CD</a:t>
            </a:r>
          </a:p>
        </p:txBody>
      </p:sp>
      <p:grpSp>
        <p:nvGrpSpPr>
          <p:cNvPr name="Group 107" id="107"/>
          <p:cNvGrpSpPr/>
          <p:nvPr/>
        </p:nvGrpSpPr>
        <p:grpSpPr>
          <a:xfrm rot="0">
            <a:off x="4974026" y="8210797"/>
            <a:ext cx="1465870" cy="1465870"/>
            <a:chOff x="0" y="0"/>
            <a:chExt cx="406400" cy="406400"/>
          </a:xfrm>
        </p:grpSpPr>
        <p:sp>
          <p:nvSpPr>
            <p:cNvPr name="Freeform 108" id="108"/>
            <p:cNvSpPr/>
            <p:nvPr/>
          </p:nvSpPr>
          <p:spPr>
            <a:xfrm flipH="false" flipV="false" rot="0">
              <a:off x="0" y="0"/>
              <a:ext cx="406400" cy="406400"/>
            </a:xfrm>
            <a:custGeom>
              <a:avLst/>
              <a:gdLst/>
              <a:ahLst/>
              <a:cxnLst/>
              <a:rect r="r" b="b" t="t" l="l"/>
              <a:pathLst>
                <a:path h="406400" w="406400">
                  <a:moveTo>
                    <a:pt x="203200" y="0"/>
                  </a:moveTo>
                  <a:lnTo>
                    <a:pt x="203200" y="0"/>
                  </a:lnTo>
                  <a:cubicBezTo>
                    <a:pt x="315424" y="0"/>
                    <a:pt x="406400" y="90976"/>
                    <a:pt x="406400" y="203200"/>
                  </a:cubicBezTo>
                  <a:lnTo>
                    <a:pt x="406400" y="203200"/>
                  </a:lnTo>
                  <a:cubicBezTo>
                    <a:pt x="406400" y="315424"/>
                    <a:pt x="315424" y="406400"/>
                    <a:pt x="203200" y="406400"/>
                  </a:cubicBezTo>
                  <a:lnTo>
                    <a:pt x="203200" y="406400"/>
                  </a:lnTo>
                  <a:cubicBezTo>
                    <a:pt x="90976" y="406400"/>
                    <a:pt x="0" y="315424"/>
                    <a:pt x="0" y="203200"/>
                  </a:cubicBezTo>
                  <a:lnTo>
                    <a:pt x="0" y="203200"/>
                  </a:lnTo>
                  <a:cubicBezTo>
                    <a:pt x="0" y="90976"/>
                    <a:pt x="90976" y="0"/>
                    <a:pt x="203200" y="0"/>
                  </a:cubicBezTo>
                  <a:close/>
                </a:path>
              </a:pathLst>
            </a:custGeom>
            <a:solidFill>
              <a:srgbClr val="FFFFFF"/>
            </a:solidFill>
          </p:spPr>
        </p:sp>
        <p:sp>
          <p:nvSpPr>
            <p:cNvPr name="TextBox 109" id="109"/>
            <p:cNvSpPr txBox="true"/>
            <p:nvPr/>
          </p:nvSpPr>
          <p:spPr>
            <a:xfrm>
              <a:off x="0" y="-47625"/>
              <a:ext cx="406400" cy="454025"/>
            </a:xfrm>
            <a:prstGeom prst="rect">
              <a:avLst/>
            </a:prstGeom>
          </p:spPr>
          <p:txBody>
            <a:bodyPr anchor="ctr" rtlCol="false" tIns="50800" lIns="50800" bIns="50800" rIns="50800"/>
            <a:lstStyle/>
            <a:p>
              <a:pPr algn="ctr">
                <a:lnSpc>
                  <a:spcPts val="2800"/>
                </a:lnSpc>
              </a:pPr>
            </a:p>
          </p:txBody>
        </p:sp>
      </p:grpSp>
      <p:grpSp>
        <p:nvGrpSpPr>
          <p:cNvPr name="Group 110" id="110"/>
          <p:cNvGrpSpPr/>
          <p:nvPr/>
        </p:nvGrpSpPr>
        <p:grpSpPr>
          <a:xfrm rot="0">
            <a:off x="3408621" y="6603860"/>
            <a:ext cx="2347053" cy="1465870"/>
            <a:chOff x="0" y="0"/>
            <a:chExt cx="650700" cy="406400"/>
          </a:xfrm>
        </p:grpSpPr>
        <p:sp>
          <p:nvSpPr>
            <p:cNvPr name="Freeform 111" id="111"/>
            <p:cNvSpPr/>
            <p:nvPr/>
          </p:nvSpPr>
          <p:spPr>
            <a:xfrm flipH="false" flipV="false" rot="0">
              <a:off x="0" y="0"/>
              <a:ext cx="650700" cy="406400"/>
            </a:xfrm>
            <a:custGeom>
              <a:avLst/>
              <a:gdLst/>
              <a:ahLst/>
              <a:cxnLst/>
              <a:rect r="r" b="b" t="t" l="l"/>
              <a:pathLst>
                <a:path h="406400" w="650700">
                  <a:moveTo>
                    <a:pt x="168227" y="0"/>
                  </a:moveTo>
                  <a:lnTo>
                    <a:pt x="482473" y="0"/>
                  </a:lnTo>
                  <a:cubicBezTo>
                    <a:pt x="527090" y="0"/>
                    <a:pt x="569879" y="17724"/>
                    <a:pt x="601428" y="49273"/>
                  </a:cubicBezTo>
                  <a:cubicBezTo>
                    <a:pt x="632977" y="80821"/>
                    <a:pt x="650700" y="123610"/>
                    <a:pt x="650700" y="168227"/>
                  </a:cubicBezTo>
                  <a:lnTo>
                    <a:pt x="650700" y="238173"/>
                  </a:lnTo>
                  <a:cubicBezTo>
                    <a:pt x="650700" y="282790"/>
                    <a:pt x="632977" y="325579"/>
                    <a:pt x="601428" y="357127"/>
                  </a:cubicBezTo>
                  <a:cubicBezTo>
                    <a:pt x="569879" y="388676"/>
                    <a:pt x="527090" y="406400"/>
                    <a:pt x="482473" y="406400"/>
                  </a:cubicBezTo>
                  <a:lnTo>
                    <a:pt x="168227" y="406400"/>
                  </a:lnTo>
                  <a:cubicBezTo>
                    <a:pt x="123610" y="406400"/>
                    <a:pt x="80821" y="388676"/>
                    <a:pt x="49273" y="357127"/>
                  </a:cubicBezTo>
                  <a:cubicBezTo>
                    <a:pt x="17724" y="325579"/>
                    <a:pt x="0" y="282790"/>
                    <a:pt x="0" y="238173"/>
                  </a:cubicBezTo>
                  <a:lnTo>
                    <a:pt x="0" y="168227"/>
                  </a:lnTo>
                  <a:cubicBezTo>
                    <a:pt x="0" y="123610"/>
                    <a:pt x="17724" y="80821"/>
                    <a:pt x="49273" y="49273"/>
                  </a:cubicBezTo>
                  <a:cubicBezTo>
                    <a:pt x="80821" y="17724"/>
                    <a:pt x="123610" y="0"/>
                    <a:pt x="168227" y="0"/>
                  </a:cubicBezTo>
                  <a:close/>
                </a:path>
              </a:pathLst>
            </a:custGeom>
            <a:solidFill>
              <a:srgbClr val="FFFFFF"/>
            </a:solidFill>
          </p:spPr>
        </p:sp>
        <p:sp>
          <p:nvSpPr>
            <p:cNvPr name="TextBox 112" id="112"/>
            <p:cNvSpPr txBox="true"/>
            <p:nvPr/>
          </p:nvSpPr>
          <p:spPr>
            <a:xfrm>
              <a:off x="0" y="-47625"/>
              <a:ext cx="650700" cy="454025"/>
            </a:xfrm>
            <a:prstGeom prst="rect">
              <a:avLst/>
            </a:prstGeom>
          </p:spPr>
          <p:txBody>
            <a:bodyPr anchor="ctr" rtlCol="false" tIns="50800" lIns="50800" bIns="50800" rIns="50800"/>
            <a:lstStyle/>
            <a:p>
              <a:pPr algn="ctr">
                <a:lnSpc>
                  <a:spcPts val="2800"/>
                </a:lnSpc>
              </a:pPr>
            </a:p>
          </p:txBody>
        </p:sp>
      </p:grpSp>
      <p:grpSp>
        <p:nvGrpSpPr>
          <p:cNvPr name="Group 113" id="113"/>
          <p:cNvGrpSpPr/>
          <p:nvPr/>
        </p:nvGrpSpPr>
        <p:grpSpPr>
          <a:xfrm rot="0">
            <a:off x="3408621" y="8210797"/>
            <a:ext cx="1465870" cy="1465870"/>
            <a:chOff x="0" y="0"/>
            <a:chExt cx="406400" cy="406400"/>
          </a:xfrm>
        </p:grpSpPr>
        <p:sp>
          <p:nvSpPr>
            <p:cNvPr name="Freeform 114" id="114"/>
            <p:cNvSpPr/>
            <p:nvPr/>
          </p:nvSpPr>
          <p:spPr>
            <a:xfrm flipH="false" flipV="false" rot="0">
              <a:off x="0" y="0"/>
              <a:ext cx="406400" cy="406400"/>
            </a:xfrm>
            <a:custGeom>
              <a:avLst/>
              <a:gdLst/>
              <a:ahLst/>
              <a:cxnLst/>
              <a:rect r="r" b="b" t="t" l="l"/>
              <a:pathLst>
                <a:path h="406400" w="406400">
                  <a:moveTo>
                    <a:pt x="203200" y="0"/>
                  </a:moveTo>
                  <a:lnTo>
                    <a:pt x="203200" y="0"/>
                  </a:lnTo>
                  <a:cubicBezTo>
                    <a:pt x="315424" y="0"/>
                    <a:pt x="406400" y="90976"/>
                    <a:pt x="406400" y="203200"/>
                  </a:cubicBezTo>
                  <a:lnTo>
                    <a:pt x="406400" y="203200"/>
                  </a:lnTo>
                  <a:cubicBezTo>
                    <a:pt x="406400" y="315424"/>
                    <a:pt x="315424" y="406400"/>
                    <a:pt x="203200" y="406400"/>
                  </a:cubicBezTo>
                  <a:lnTo>
                    <a:pt x="203200" y="406400"/>
                  </a:lnTo>
                  <a:cubicBezTo>
                    <a:pt x="90976" y="406400"/>
                    <a:pt x="0" y="315424"/>
                    <a:pt x="0" y="203200"/>
                  </a:cubicBezTo>
                  <a:lnTo>
                    <a:pt x="0" y="203200"/>
                  </a:lnTo>
                  <a:cubicBezTo>
                    <a:pt x="0" y="90976"/>
                    <a:pt x="90976" y="0"/>
                    <a:pt x="203200" y="0"/>
                  </a:cubicBezTo>
                  <a:close/>
                </a:path>
              </a:pathLst>
            </a:custGeom>
            <a:solidFill>
              <a:srgbClr val="FFFFFF"/>
            </a:solidFill>
          </p:spPr>
        </p:sp>
        <p:sp>
          <p:nvSpPr>
            <p:cNvPr name="TextBox 115" id="115"/>
            <p:cNvSpPr txBox="true"/>
            <p:nvPr/>
          </p:nvSpPr>
          <p:spPr>
            <a:xfrm>
              <a:off x="0" y="-47625"/>
              <a:ext cx="406400" cy="454025"/>
            </a:xfrm>
            <a:prstGeom prst="rect">
              <a:avLst/>
            </a:prstGeom>
          </p:spPr>
          <p:txBody>
            <a:bodyPr anchor="ctr" rtlCol="false" tIns="50800" lIns="50800" bIns="50800" rIns="50800"/>
            <a:lstStyle/>
            <a:p>
              <a:pPr algn="ctr">
                <a:lnSpc>
                  <a:spcPts val="2800"/>
                </a:lnSpc>
              </a:pPr>
            </a:p>
          </p:txBody>
        </p:sp>
      </p:grpSp>
      <p:sp>
        <p:nvSpPr>
          <p:cNvPr name="TextBox 116" id="116"/>
          <p:cNvSpPr txBox="true"/>
          <p:nvPr/>
        </p:nvSpPr>
        <p:spPr>
          <a:xfrm rot="0">
            <a:off x="3453502" y="6938225"/>
            <a:ext cx="2253460" cy="925488"/>
          </a:xfrm>
          <a:prstGeom prst="rect">
            <a:avLst/>
          </a:prstGeom>
        </p:spPr>
        <p:txBody>
          <a:bodyPr anchor="t" rtlCol="false" tIns="0" lIns="0" bIns="0" rIns="0">
            <a:spAutoFit/>
          </a:bodyPr>
          <a:lstStyle/>
          <a:p>
            <a:pPr algn="ctr">
              <a:lnSpc>
                <a:spcPts val="2538"/>
              </a:lnSpc>
            </a:pPr>
            <a:r>
              <a:rPr lang="en-US" sz="1813">
                <a:solidFill>
                  <a:srgbClr val="000000"/>
                </a:solidFill>
                <a:latin typeface="Canva Sans"/>
                <a:ea typeface="Canva Sans"/>
                <a:cs typeface="Canva Sans"/>
                <a:sym typeface="Canva Sans"/>
              </a:rPr>
              <a:t>Automatisation avec GitHub Actions</a:t>
            </a:r>
          </a:p>
        </p:txBody>
      </p:sp>
      <p:sp>
        <p:nvSpPr>
          <p:cNvPr name="TextBox 117" id="117"/>
          <p:cNvSpPr txBox="true"/>
          <p:nvPr/>
        </p:nvSpPr>
        <p:spPr>
          <a:xfrm rot="0">
            <a:off x="3498382" y="8299085"/>
            <a:ext cx="1376110" cy="1239813"/>
          </a:xfrm>
          <a:prstGeom prst="rect">
            <a:avLst/>
          </a:prstGeom>
        </p:spPr>
        <p:txBody>
          <a:bodyPr anchor="t" rtlCol="false" tIns="0" lIns="0" bIns="0" rIns="0">
            <a:spAutoFit/>
          </a:bodyPr>
          <a:lstStyle/>
          <a:p>
            <a:pPr algn="ctr">
              <a:lnSpc>
                <a:spcPts val="2538"/>
              </a:lnSpc>
            </a:pPr>
            <a:r>
              <a:rPr lang="en-US" sz="1813">
                <a:solidFill>
                  <a:srgbClr val="000000"/>
                </a:solidFill>
                <a:latin typeface="Canva Sans"/>
                <a:ea typeface="Canva Sans"/>
                <a:cs typeface="Canva Sans"/>
                <a:sym typeface="Canva Sans"/>
              </a:rPr>
              <a:t>Création des conteneurs Docker</a:t>
            </a:r>
          </a:p>
        </p:txBody>
      </p:sp>
      <p:sp>
        <p:nvSpPr>
          <p:cNvPr name="TextBox 118" id="118"/>
          <p:cNvSpPr txBox="true"/>
          <p:nvPr/>
        </p:nvSpPr>
        <p:spPr>
          <a:xfrm rot="0">
            <a:off x="4912658" y="8567984"/>
            <a:ext cx="1588606" cy="611163"/>
          </a:xfrm>
          <a:prstGeom prst="rect">
            <a:avLst/>
          </a:prstGeom>
        </p:spPr>
        <p:txBody>
          <a:bodyPr anchor="t" rtlCol="false" tIns="0" lIns="0" bIns="0" rIns="0">
            <a:spAutoFit/>
          </a:bodyPr>
          <a:lstStyle/>
          <a:p>
            <a:pPr algn="ctr">
              <a:lnSpc>
                <a:spcPts val="2538"/>
              </a:lnSpc>
            </a:pPr>
            <a:r>
              <a:rPr lang="en-US" sz="1813">
                <a:solidFill>
                  <a:srgbClr val="000000"/>
                </a:solidFill>
                <a:latin typeface="Canva Sans"/>
                <a:ea typeface="Canva Sans"/>
                <a:cs typeface="Canva Sans"/>
                <a:sym typeface="Canva Sans"/>
              </a:rPr>
              <a:t>Déploiement sur AWS EC2</a:t>
            </a:r>
          </a:p>
        </p:txBody>
      </p:sp>
      <p:sp>
        <p:nvSpPr>
          <p:cNvPr name="Freeform 119" id="119"/>
          <p:cNvSpPr/>
          <p:nvPr/>
        </p:nvSpPr>
        <p:spPr>
          <a:xfrm flipH="false" flipV="false" rot="10703147">
            <a:off x="6664232" y="6573888"/>
            <a:ext cx="1629157" cy="1161548"/>
          </a:xfrm>
          <a:custGeom>
            <a:avLst/>
            <a:gdLst/>
            <a:ahLst/>
            <a:cxnLst/>
            <a:rect r="r" b="b" t="t" l="l"/>
            <a:pathLst>
              <a:path h="1161548" w="1629157">
                <a:moveTo>
                  <a:pt x="0" y="0"/>
                </a:moveTo>
                <a:lnTo>
                  <a:pt x="1629156" y="0"/>
                </a:lnTo>
                <a:lnTo>
                  <a:pt x="1629156" y="1161549"/>
                </a:lnTo>
                <a:lnTo>
                  <a:pt x="0" y="1161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32381"/>
            <a:chOff x="0" y="0"/>
            <a:chExt cx="4816593" cy="166553"/>
          </a:xfrm>
        </p:grpSpPr>
        <p:sp>
          <p:nvSpPr>
            <p:cNvPr name="Freeform 3" id="3"/>
            <p:cNvSpPr/>
            <p:nvPr/>
          </p:nvSpPr>
          <p:spPr>
            <a:xfrm flipH="false" flipV="false" rot="0">
              <a:off x="0" y="0"/>
              <a:ext cx="4816592" cy="166553"/>
            </a:xfrm>
            <a:custGeom>
              <a:avLst/>
              <a:gdLst/>
              <a:ahLst/>
              <a:cxnLst/>
              <a:rect r="r" b="b" t="t" l="l"/>
              <a:pathLst>
                <a:path h="166553" w="4816592">
                  <a:moveTo>
                    <a:pt x="0" y="0"/>
                  </a:moveTo>
                  <a:lnTo>
                    <a:pt x="4816592" y="0"/>
                  </a:lnTo>
                  <a:lnTo>
                    <a:pt x="4816592" y="166553"/>
                  </a:lnTo>
                  <a:lnTo>
                    <a:pt x="0" y="166553"/>
                  </a:lnTo>
                  <a:close/>
                </a:path>
              </a:pathLst>
            </a:custGeom>
            <a:solidFill>
              <a:srgbClr val="145DA0"/>
            </a:solidFill>
            <a:ln cap="sq">
              <a:noFill/>
              <a:prstDash val="solid"/>
              <a:miter/>
            </a:ln>
          </p:spPr>
        </p:sp>
        <p:sp>
          <p:nvSpPr>
            <p:cNvPr name="TextBox 4" id="4"/>
            <p:cNvSpPr txBox="true"/>
            <p:nvPr/>
          </p:nvSpPr>
          <p:spPr>
            <a:xfrm>
              <a:off x="0" y="-57150"/>
              <a:ext cx="4816593" cy="223703"/>
            </a:xfrm>
            <a:prstGeom prst="rect">
              <a:avLst/>
            </a:prstGeom>
          </p:spPr>
          <p:txBody>
            <a:bodyPr anchor="ctr" rtlCol="false" tIns="50800" lIns="50800" bIns="50800" rIns="50800"/>
            <a:lstStyle/>
            <a:p>
              <a:pPr algn="l" marL="0" indent="0" lvl="0">
                <a:lnSpc>
                  <a:spcPts val="3779"/>
                </a:lnSpc>
                <a:spcBef>
                  <a:spcPct val="0"/>
                </a:spcBef>
              </a:pPr>
              <a:r>
                <a:rPr lang="en-US" sz="2699">
                  <a:solidFill>
                    <a:srgbClr val="FDFDFD"/>
                  </a:solidFill>
                  <a:latin typeface="Open Sans Extra Bold"/>
                  <a:ea typeface="Open Sans Extra Bold"/>
                  <a:cs typeface="Open Sans Extra Bold"/>
                  <a:sym typeface="Open Sans Extra Bold"/>
                </a:rPr>
                <a:t>  Conception| Flux Opérationnel du Pipeline</a:t>
              </a:r>
            </a:p>
          </p:txBody>
        </p:sp>
      </p:grpSp>
      <p:sp>
        <p:nvSpPr>
          <p:cNvPr name="Freeform 5" id="5"/>
          <p:cNvSpPr/>
          <p:nvPr/>
        </p:nvSpPr>
        <p:spPr>
          <a:xfrm flipH="false" flipV="false" rot="0">
            <a:off x="4286891" y="632381"/>
            <a:ext cx="8972684" cy="9682392"/>
          </a:xfrm>
          <a:custGeom>
            <a:avLst/>
            <a:gdLst/>
            <a:ahLst/>
            <a:cxnLst/>
            <a:rect r="r" b="b" t="t" l="l"/>
            <a:pathLst>
              <a:path h="9682392" w="8972684">
                <a:moveTo>
                  <a:pt x="0" y="0"/>
                </a:moveTo>
                <a:lnTo>
                  <a:pt x="8972684" y="0"/>
                </a:lnTo>
                <a:lnTo>
                  <a:pt x="8972684" y="9682392"/>
                </a:lnTo>
                <a:lnTo>
                  <a:pt x="0" y="9682392"/>
                </a:lnTo>
                <a:lnTo>
                  <a:pt x="0" y="0"/>
                </a:lnTo>
                <a:close/>
              </a:path>
            </a:pathLst>
          </a:custGeom>
          <a:blipFill>
            <a:blip r:embed="rId2"/>
            <a:stretch>
              <a:fillRect l="-510" t="0" r="-2891" b="0"/>
            </a:stretch>
          </a:blipFill>
        </p:spPr>
      </p:sp>
      <p:grpSp>
        <p:nvGrpSpPr>
          <p:cNvPr name="Group 6" id="6"/>
          <p:cNvGrpSpPr/>
          <p:nvPr/>
        </p:nvGrpSpPr>
        <p:grpSpPr>
          <a:xfrm rot="0">
            <a:off x="15238003" y="8290589"/>
            <a:ext cx="7523780" cy="75237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17589660" y="9356025"/>
            <a:ext cx="698340"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632381"/>
            <a:chOff x="0" y="0"/>
            <a:chExt cx="4816593" cy="166553"/>
          </a:xfrm>
        </p:grpSpPr>
        <p:sp>
          <p:nvSpPr>
            <p:cNvPr name="Freeform 3" id="3"/>
            <p:cNvSpPr/>
            <p:nvPr/>
          </p:nvSpPr>
          <p:spPr>
            <a:xfrm flipH="false" flipV="false" rot="0">
              <a:off x="0" y="0"/>
              <a:ext cx="4816592" cy="166553"/>
            </a:xfrm>
            <a:custGeom>
              <a:avLst/>
              <a:gdLst/>
              <a:ahLst/>
              <a:cxnLst/>
              <a:rect r="r" b="b" t="t" l="l"/>
              <a:pathLst>
                <a:path h="166553" w="4816592">
                  <a:moveTo>
                    <a:pt x="0" y="0"/>
                  </a:moveTo>
                  <a:lnTo>
                    <a:pt x="4816592" y="0"/>
                  </a:lnTo>
                  <a:lnTo>
                    <a:pt x="4816592" y="166553"/>
                  </a:lnTo>
                  <a:lnTo>
                    <a:pt x="0" y="166553"/>
                  </a:lnTo>
                  <a:close/>
                </a:path>
              </a:pathLst>
            </a:custGeom>
            <a:solidFill>
              <a:srgbClr val="145DA0"/>
            </a:solidFill>
            <a:ln cap="sq">
              <a:noFill/>
              <a:prstDash val="solid"/>
              <a:miter/>
            </a:ln>
          </p:spPr>
        </p:sp>
        <p:sp>
          <p:nvSpPr>
            <p:cNvPr name="TextBox 4" id="4"/>
            <p:cNvSpPr txBox="true"/>
            <p:nvPr/>
          </p:nvSpPr>
          <p:spPr>
            <a:xfrm>
              <a:off x="0" y="-57150"/>
              <a:ext cx="4816593" cy="223703"/>
            </a:xfrm>
            <a:prstGeom prst="rect">
              <a:avLst/>
            </a:prstGeom>
          </p:spPr>
          <p:txBody>
            <a:bodyPr anchor="ctr" rtlCol="false" tIns="50800" lIns="50800" bIns="50800" rIns="50800"/>
            <a:lstStyle/>
            <a:p>
              <a:pPr algn="l" marL="0" indent="0" lvl="0">
                <a:lnSpc>
                  <a:spcPts val="3779"/>
                </a:lnSpc>
                <a:spcBef>
                  <a:spcPct val="0"/>
                </a:spcBef>
              </a:pPr>
              <a:r>
                <a:rPr lang="en-US" sz="2699">
                  <a:solidFill>
                    <a:srgbClr val="FDFDFD"/>
                  </a:solidFill>
                  <a:latin typeface="Open Sans Extra Bold"/>
                  <a:ea typeface="Open Sans Extra Bold"/>
                  <a:cs typeface="Open Sans Extra Bold"/>
                  <a:sym typeface="Open Sans Extra Bold"/>
                </a:rPr>
                <a:t>  Conception|Déploiement CI/CD avec GitHub Actions et aws service</a:t>
              </a:r>
            </a:p>
          </p:txBody>
        </p:sp>
      </p:grpSp>
      <p:sp>
        <p:nvSpPr>
          <p:cNvPr name="Freeform 5" id="5"/>
          <p:cNvSpPr/>
          <p:nvPr/>
        </p:nvSpPr>
        <p:spPr>
          <a:xfrm flipH="false" flipV="false" rot="0">
            <a:off x="2634316" y="1295952"/>
            <a:ext cx="11568978" cy="8170591"/>
          </a:xfrm>
          <a:custGeom>
            <a:avLst/>
            <a:gdLst/>
            <a:ahLst/>
            <a:cxnLst/>
            <a:rect r="r" b="b" t="t" l="l"/>
            <a:pathLst>
              <a:path h="8170591" w="11568978">
                <a:moveTo>
                  <a:pt x="0" y="0"/>
                </a:moveTo>
                <a:lnTo>
                  <a:pt x="11568978" y="0"/>
                </a:lnTo>
                <a:lnTo>
                  <a:pt x="11568978" y="8170591"/>
                </a:lnTo>
                <a:lnTo>
                  <a:pt x="0" y="8170591"/>
                </a:lnTo>
                <a:lnTo>
                  <a:pt x="0" y="0"/>
                </a:lnTo>
                <a:close/>
              </a:path>
            </a:pathLst>
          </a:custGeom>
          <a:blipFill>
            <a:blip r:embed="rId2"/>
            <a:stretch>
              <a:fillRect l="0" t="0" r="0" b="0"/>
            </a:stretch>
          </a:blipFill>
        </p:spPr>
      </p:sp>
      <p:sp>
        <p:nvSpPr>
          <p:cNvPr name="Freeform 6" id="6"/>
          <p:cNvSpPr/>
          <p:nvPr/>
        </p:nvSpPr>
        <p:spPr>
          <a:xfrm flipH="false" flipV="false" rot="0">
            <a:off x="6444745" y="2520723"/>
            <a:ext cx="1107250" cy="617156"/>
          </a:xfrm>
          <a:custGeom>
            <a:avLst/>
            <a:gdLst/>
            <a:ahLst/>
            <a:cxnLst/>
            <a:rect r="r" b="b" t="t" l="l"/>
            <a:pathLst>
              <a:path h="617156" w="1107250">
                <a:moveTo>
                  <a:pt x="0" y="0"/>
                </a:moveTo>
                <a:lnTo>
                  <a:pt x="1107250" y="0"/>
                </a:lnTo>
                <a:lnTo>
                  <a:pt x="1107250" y="617156"/>
                </a:lnTo>
                <a:lnTo>
                  <a:pt x="0" y="617156"/>
                </a:lnTo>
                <a:lnTo>
                  <a:pt x="0" y="0"/>
                </a:lnTo>
                <a:close/>
              </a:path>
            </a:pathLst>
          </a:custGeom>
          <a:blipFill>
            <a:blip r:embed="rId3"/>
            <a:stretch>
              <a:fillRect l="0" t="0" r="0" b="0"/>
            </a:stretch>
          </a:blipFill>
        </p:spPr>
      </p:sp>
      <p:grpSp>
        <p:nvGrpSpPr>
          <p:cNvPr name="Group 7" id="7"/>
          <p:cNvGrpSpPr/>
          <p:nvPr/>
        </p:nvGrpSpPr>
        <p:grpSpPr>
          <a:xfrm rot="0">
            <a:off x="15238003" y="8290589"/>
            <a:ext cx="7523780" cy="752378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7589660" y="9356025"/>
            <a:ext cx="698340" cy="883545"/>
          </a:xfrm>
          <a:prstGeom prst="rect">
            <a:avLst/>
          </a:prstGeom>
        </p:spPr>
        <p:txBody>
          <a:bodyPr anchor="t" rtlCol="false" tIns="0" lIns="0" bIns="0" rIns="0">
            <a:spAutoFit/>
          </a:bodyPr>
          <a:lstStyle/>
          <a:p>
            <a:pPr algn="r">
              <a:lnSpc>
                <a:spcPts val="6950"/>
              </a:lnSpc>
              <a:spcBef>
                <a:spcPct val="0"/>
              </a:spcBef>
            </a:pPr>
            <a:r>
              <a:rPr lang="en-US" b="true" sz="4964" spc="-99">
                <a:solidFill>
                  <a:srgbClr val="FFFFFF"/>
                </a:solidFill>
                <a:latin typeface="Poppins Bold"/>
                <a:ea typeface="Poppins Bold"/>
                <a:cs typeface="Poppins Bold"/>
                <a:sym typeface="Poppins Bold"/>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32785"/>
            <a:ext cx="5409888" cy="6530611"/>
          </a:xfrm>
          <a:custGeom>
            <a:avLst/>
            <a:gdLst/>
            <a:ahLst/>
            <a:cxnLst/>
            <a:rect r="r" b="b" t="t" l="l"/>
            <a:pathLst>
              <a:path h="6530611" w="5409888">
                <a:moveTo>
                  <a:pt x="0" y="0"/>
                </a:moveTo>
                <a:lnTo>
                  <a:pt x="5409888" y="0"/>
                </a:lnTo>
                <a:lnTo>
                  <a:pt x="5409888" y="6530611"/>
                </a:lnTo>
                <a:lnTo>
                  <a:pt x="0" y="6530611"/>
                </a:lnTo>
                <a:lnTo>
                  <a:pt x="0" y="0"/>
                </a:lnTo>
                <a:close/>
              </a:path>
            </a:pathLst>
          </a:custGeom>
          <a:blipFill>
            <a:blip r:embed="rId2"/>
            <a:stretch>
              <a:fillRect l="-7982" t="0" r="-9111" b="-3114"/>
            </a:stretch>
          </a:blipFill>
        </p:spPr>
      </p:sp>
      <p:sp>
        <p:nvSpPr>
          <p:cNvPr name="Freeform 3" id="3"/>
          <p:cNvSpPr/>
          <p:nvPr/>
        </p:nvSpPr>
        <p:spPr>
          <a:xfrm flipH="false" flipV="false" rot="0">
            <a:off x="6859344" y="3132785"/>
            <a:ext cx="4881948" cy="6660904"/>
          </a:xfrm>
          <a:custGeom>
            <a:avLst/>
            <a:gdLst/>
            <a:ahLst/>
            <a:cxnLst/>
            <a:rect r="r" b="b" t="t" l="l"/>
            <a:pathLst>
              <a:path h="6660904" w="4881948">
                <a:moveTo>
                  <a:pt x="0" y="0"/>
                </a:moveTo>
                <a:lnTo>
                  <a:pt x="4881948" y="0"/>
                </a:lnTo>
                <a:lnTo>
                  <a:pt x="4881948" y="6660903"/>
                </a:lnTo>
                <a:lnTo>
                  <a:pt x="0" y="6660903"/>
                </a:lnTo>
                <a:lnTo>
                  <a:pt x="0" y="0"/>
                </a:lnTo>
                <a:close/>
              </a:path>
            </a:pathLst>
          </a:custGeom>
          <a:blipFill>
            <a:blip r:embed="rId3"/>
            <a:stretch>
              <a:fillRect l="0" t="0" r="-62969" b="0"/>
            </a:stretch>
          </a:blipFill>
        </p:spPr>
      </p:sp>
      <p:sp>
        <p:nvSpPr>
          <p:cNvPr name="Freeform 4" id="4"/>
          <p:cNvSpPr/>
          <p:nvPr/>
        </p:nvSpPr>
        <p:spPr>
          <a:xfrm flipH="false" flipV="false" rot="0">
            <a:off x="12452202" y="3132785"/>
            <a:ext cx="5291849" cy="6660904"/>
          </a:xfrm>
          <a:custGeom>
            <a:avLst/>
            <a:gdLst/>
            <a:ahLst/>
            <a:cxnLst/>
            <a:rect r="r" b="b" t="t" l="l"/>
            <a:pathLst>
              <a:path h="6660904" w="5291849">
                <a:moveTo>
                  <a:pt x="0" y="0"/>
                </a:moveTo>
                <a:lnTo>
                  <a:pt x="5291849" y="0"/>
                </a:lnTo>
                <a:lnTo>
                  <a:pt x="5291849" y="6660903"/>
                </a:lnTo>
                <a:lnTo>
                  <a:pt x="0" y="6660903"/>
                </a:lnTo>
                <a:lnTo>
                  <a:pt x="0" y="0"/>
                </a:lnTo>
                <a:close/>
              </a:path>
            </a:pathLst>
          </a:custGeom>
          <a:blipFill>
            <a:blip r:embed="rId4"/>
            <a:stretch>
              <a:fillRect l="0" t="-2360" r="-9229" b="-1246"/>
            </a:stretch>
          </a:blipFill>
        </p:spPr>
      </p:sp>
      <p:grpSp>
        <p:nvGrpSpPr>
          <p:cNvPr name="Group 5" id="5"/>
          <p:cNvGrpSpPr/>
          <p:nvPr/>
        </p:nvGrpSpPr>
        <p:grpSpPr>
          <a:xfrm rot="0">
            <a:off x="0" y="0"/>
            <a:ext cx="18288000" cy="632381"/>
            <a:chOff x="0" y="0"/>
            <a:chExt cx="4816593" cy="166553"/>
          </a:xfrm>
        </p:grpSpPr>
        <p:sp>
          <p:nvSpPr>
            <p:cNvPr name="Freeform 6" id="6"/>
            <p:cNvSpPr/>
            <p:nvPr/>
          </p:nvSpPr>
          <p:spPr>
            <a:xfrm flipH="false" flipV="false" rot="0">
              <a:off x="0" y="0"/>
              <a:ext cx="4816592" cy="166553"/>
            </a:xfrm>
            <a:custGeom>
              <a:avLst/>
              <a:gdLst/>
              <a:ahLst/>
              <a:cxnLst/>
              <a:rect r="r" b="b" t="t" l="l"/>
              <a:pathLst>
                <a:path h="166553" w="4816592">
                  <a:moveTo>
                    <a:pt x="0" y="0"/>
                  </a:moveTo>
                  <a:lnTo>
                    <a:pt x="4816592" y="0"/>
                  </a:lnTo>
                  <a:lnTo>
                    <a:pt x="4816592" y="166553"/>
                  </a:lnTo>
                  <a:lnTo>
                    <a:pt x="0" y="166553"/>
                  </a:lnTo>
                  <a:close/>
                </a:path>
              </a:pathLst>
            </a:custGeom>
            <a:solidFill>
              <a:srgbClr val="145DA0"/>
            </a:solidFill>
            <a:ln cap="sq">
              <a:noFill/>
              <a:prstDash val="solid"/>
              <a:miter/>
            </a:ln>
          </p:spPr>
        </p:sp>
        <p:sp>
          <p:nvSpPr>
            <p:cNvPr name="TextBox 7" id="7"/>
            <p:cNvSpPr txBox="true"/>
            <p:nvPr/>
          </p:nvSpPr>
          <p:spPr>
            <a:xfrm>
              <a:off x="0" y="-57150"/>
              <a:ext cx="4816593" cy="223703"/>
            </a:xfrm>
            <a:prstGeom prst="rect">
              <a:avLst/>
            </a:prstGeom>
          </p:spPr>
          <p:txBody>
            <a:bodyPr anchor="ctr" rtlCol="false" tIns="50800" lIns="50800" bIns="50800" rIns="50800"/>
            <a:lstStyle/>
            <a:p>
              <a:pPr algn="l" marL="0" indent="0" lvl="0">
                <a:lnSpc>
                  <a:spcPts val="3779"/>
                </a:lnSpc>
                <a:spcBef>
                  <a:spcPct val="0"/>
                </a:spcBef>
              </a:pPr>
              <a:r>
                <a:rPr lang="en-US" sz="2699">
                  <a:solidFill>
                    <a:srgbClr val="FDFDFD"/>
                  </a:solidFill>
                  <a:latin typeface="Open Sans Extra Bold"/>
                  <a:ea typeface="Open Sans Extra Bold"/>
                  <a:cs typeface="Open Sans Extra Bold"/>
                  <a:sym typeface="Open Sans Extra Bold"/>
                </a:rPr>
                <a:t>  Conception|Déploiement CI/CD avec GitHub Actions et aws service</a:t>
              </a:r>
            </a:p>
          </p:txBody>
        </p:sp>
      </p:grpSp>
      <p:sp>
        <p:nvSpPr>
          <p:cNvPr name="Freeform 8" id="8"/>
          <p:cNvSpPr/>
          <p:nvPr/>
        </p:nvSpPr>
        <p:spPr>
          <a:xfrm flipH="false" flipV="false" rot="0">
            <a:off x="1181327" y="1426039"/>
            <a:ext cx="16406369" cy="1584644"/>
          </a:xfrm>
          <a:custGeom>
            <a:avLst/>
            <a:gdLst/>
            <a:ahLst/>
            <a:cxnLst/>
            <a:rect r="r" b="b" t="t" l="l"/>
            <a:pathLst>
              <a:path h="1584644" w="16406369">
                <a:moveTo>
                  <a:pt x="0" y="0"/>
                </a:moveTo>
                <a:lnTo>
                  <a:pt x="16406368" y="0"/>
                </a:lnTo>
                <a:lnTo>
                  <a:pt x="16406368" y="1584645"/>
                </a:lnTo>
                <a:lnTo>
                  <a:pt x="0" y="1584645"/>
                </a:lnTo>
                <a:lnTo>
                  <a:pt x="0" y="0"/>
                </a:lnTo>
                <a:close/>
              </a:path>
            </a:pathLst>
          </a:custGeom>
          <a:blipFill>
            <a:blip r:embed="rId5"/>
            <a:stretch>
              <a:fillRect l="0" t="-94315" r="0" b="-34752"/>
            </a:stretch>
          </a:blipFill>
        </p:spPr>
      </p:sp>
      <p:grpSp>
        <p:nvGrpSpPr>
          <p:cNvPr name="Group 9" id="9"/>
          <p:cNvGrpSpPr/>
          <p:nvPr/>
        </p:nvGrpSpPr>
        <p:grpSpPr>
          <a:xfrm rot="0">
            <a:off x="16062186" y="9114772"/>
            <a:ext cx="6699596" cy="669959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00000">
                      <a:alpha val="95686"/>
                    </a:srgbClr>
                  </a:solidFill>
                  <a:latin typeface="Open Sans Extra Bold"/>
                  <a:ea typeface="Open Sans Extra Bold"/>
                  <a:cs typeface="Open Sans Extra Bold"/>
                  <a:sym typeface="Open Sans Extra Bold"/>
                </a:rPr>
                <a:t>18</a:t>
              </a:r>
            </a:p>
          </p:txBody>
        </p:sp>
      </p:grpSp>
      <p:sp>
        <p:nvSpPr>
          <p:cNvPr name="TextBox 12" id="12"/>
          <p:cNvSpPr txBox="true"/>
          <p:nvPr/>
        </p:nvSpPr>
        <p:spPr>
          <a:xfrm rot="0">
            <a:off x="17744051" y="9540931"/>
            <a:ext cx="543949" cy="698639"/>
          </a:xfrm>
          <a:prstGeom prst="rect">
            <a:avLst/>
          </a:prstGeom>
        </p:spPr>
        <p:txBody>
          <a:bodyPr anchor="t" rtlCol="false" tIns="0" lIns="0" bIns="0" rIns="0">
            <a:spAutoFit/>
          </a:bodyPr>
          <a:lstStyle/>
          <a:p>
            <a:pPr algn="r">
              <a:lnSpc>
                <a:spcPts val="5413"/>
              </a:lnSpc>
              <a:spcBef>
                <a:spcPct val="0"/>
              </a:spcBef>
            </a:pPr>
            <a:r>
              <a:rPr lang="en-US" b="true" sz="3867" spc="-77">
                <a:solidFill>
                  <a:srgbClr val="FFFFFF"/>
                </a:solidFill>
                <a:latin typeface="Poppins Bold"/>
                <a:ea typeface="Poppins Bold"/>
                <a:cs typeface="Poppins Bold"/>
                <a:sym typeface="Poppins Bold"/>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1483589" y="1214329"/>
            <a:ext cx="12885841" cy="8178737"/>
          </a:xfrm>
          <a:custGeom>
            <a:avLst/>
            <a:gdLst/>
            <a:ahLst/>
            <a:cxnLst/>
            <a:rect r="r" b="b" t="t" l="l"/>
            <a:pathLst>
              <a:path h="8178737" w="12885841">
                <a:moveTo>
                  <a:pt x="0" y="0"/>
                </a:moveTo>
                <a:lnTo>
                  <a:pt x="12885841" y="0"/>
                </a:lnTo>
                <a:lnTo>
                  <a:pt x="12885841" y="8178737"/>
                </a:lnTo>
                <a:lnTo>
                  <a:pt x="0" y="8178737"/>
                </a:lnTo>
                <a:lnTo>
                  <a:pt x="0" y="0"/>
                </a:lnTo>
                <a:close/>
              </a:path>
            </a:pathLst>
          </a:custGeom>
          <a:blipFill>
            <a:blip r:embed="rId2"/>
            <a:stretch>
              <a:fillRect l="0" t="0" r="-53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1313163">
            <a:off x="-4261137" y="6573910"/>
            <a:ext cx="9085628" cy="5368780"/>
          </a:xfrm>
          <a:custGeom>
            <a:avLst/>
            <a:gdLst/>
            <a:ahLst/>
            <a:cxnLst/>
            <a:rect r="r" b="b" t="t" l="l"/>
            <a:pathLst>
              <a:path h="5368780" w="9085628">
                <a:moveTo>
                  <a:pt x="0" y="0"/>
                </a:moveTo>
                <a:lnTo>
                  <a:pt x="9085628" y="0"/>
                </a:lnTo>
                <a:lnTo>
                  <a:pt x="9085628" y="5368780"/>
                </a:lnTo>
                <a:lnTo>
                  <a:pt x="0" y="5368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67961" y="8412696"/>
            <a:ext cx="4319810" cy="426581"/>
          </a:xfrm>
          <a:custGeom>
            <a:avLst/>
            <a:gdLst/>
            <a:ahLst/>
            <a:cxnLst/>
            <a:rect r="r" b="b" t="t" l="l"/>
            <a:pathLst>
              <a:path h="426581" w="4319810">
                <a:moveTo>
                  <a:pt x="0" y="0"/>
                </a:moveTo>
                <a:lnTo>
                  <a:pt x="4319809" y="0"/>
                </a:lnTo>
                <a:lnTo>
                  <a:pt x="4319809" y="426581"/>
                </a:lnTo>
                <a:lnTo>
                  <a:pt x="0" y="426581"/>
                </a:lnTo>
                <a:lnTo>
                  <a:pt x="0" y="0"/>
                </a:lnTo>
                <a:close/>
              </a:path>
            </a:pathLst>
          </a:custGeom>
          <a:blipFill>
            <a:blip r:embed="rId4"/>
            <a:stretch>
              <a:fillRect l="0" t="-99999" r="0" b="0"/>
            </a:stretch>
          </a:blipFill>
        </p:spPr>
      </p:sp>
      <p:sp>
        <p:nvSpPr>
          <p:cNvPr name="Freeform 4" id="4"/>
          <p:cNvSpPr/>
          <p:nvPr/>
        </p:nvSpPr>
        <p:spPr>
          <a:xfrm flipH="false" flipV="false" rot="0">
            <a:off x="6984095" y="8412696"/>
            <a:ext cx="4319810" cy="426581"/>
          </a:xfrm>
          <a:custGeom>
            <a:avLst/>
            <a:gdLst/>
            <a:ahLst/>
            <a:cxnLst/>
            <a:rect r="r" b="b" t="t" l="l"/>
            <a:pathLst>
              <a:path h="426581" w="4319810">
                <a:moveTo>
                  <a:pt x="0" y="0"/>
                </a:moveTo>
                <a:lnTo>
                  <a:pt x="4319810" y="0"/>
                </a:lnTo>
                <a:lnTo>
                  <a:pt x="4319810" y="426581"/>
                </a:lnTo>
                <a:lnTo>
                  <a:pt x="0" y="426581"/>
                </a:lnTo>
                <a:lnTo>
                  <a:pt x="0" y="0"/>
                </a:lnTo>
                <a:close/>
              </a:path>
            </a:pathLst>
          </a:custGeom>
          <a:blipFill>
            <a:blip r:embed="rId4"/>
            <a:stretch>
              <a:fillRect l="0" t="-99999" r="0" b="0"/>
            </a:stretch>
          </a:blipFill>
        </p:spPr>
      </p:sp>
      <p:sp>
        <p:nvSpPr>
          <p:cNvPr name="Freeform 5" id="5"/>
          <p:cNvSpPr/>
          <p:nvPr/>
        </p:nvSpPr>
        <p:spPr>
          <a:xfrm flipH="false" flipV="false" rot="0">
            <a:off x="11703955" y="8412696"/>
            <a:ext cx="4319810" cy="426581"/>
          </a:xfrm>
          <a:custGeom>
            <a:avLst/>
            <a:gdLst/>
            <a:ahLst/>
            <a:cxnLst/>
            <a:rect r="r" b="b" t="t" l="l"/>
            <a:pathLst>
              <a:path h="426581" w="4319810">
                <a:moveTo>
                  <a:pt x="0" y="0"/>
                </a:moveTo>
                <a:lnTo>
                  <a:pt x="4319809" y="0"/>
                </a:lnTo>
                <a:lnTo>
                  <a:pt x="4319809" y="426581"/>
                </a:lnTo>
                <a:lnTo>
                  <a:pt x="0" y="426581"/>
                </a:lnTo>
                <a:lnTo>
                  <a:pt x="0" y="0"/>
                </a:lnTo>
                <a:close/>
              </a:path>
            </a:pathLst>
          </a:custGeom>
          <a:blipFill>
            <a:blip r:embed="rId4"/>
            <a:stretch>
              <a:fillRect l="0" t="-99999" r="0" b="0"/>
            </a:stretch>
          </a:blipFill>
        </p:spPr>
      </p:sp>
      <p:grpSp>
        <p:nvGrpSpPr>
          <p:cNvPr name="Group 6" id="6"/>
          <p:cNvGrpSpPr/>
          <p:nvPr/>
        </p:nvGrpSpPr>
        <p:grpSpPr>
          <a:xfrm rot="0">
            <a:off x="2290722" y="4206681"/>
            <a:ext cx="4297048" cy="4206015"/>
            <a:chOff x="0" y="0"/>
            <a:chExt cx="1131733" cy="1107757"/>
          </a:xfrm>
        </p:grpSpPr>
        <p:sp>
          <p:nvSpPr>
            <p:cNvPr name="Freeform 7" id="7"/>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CFF4FF"/>
            </a:solidFill>
            <a:ln w="19050" cap="sq">
              <a:solidFill>
                <a:srgbClr val="FFFFFF"/>
              </a:solidFill>
              <a:prstDash val="solid"/>
              <a:miter/>
            </a:ln>
          </p:spPr>
        </p:sp>
        <p:sp>
          <p:nvSpPr>
            <p:cNvPr name="TextBox 8" id="8"/>
            <p:cNvSpPr txBox="true"/>
            <p:nvPr/>
          </p:nvSpPr>
          <p:spPr>
            <a:xfrm>
              <a:off x="0" y="-38100"/>
              <a:ext cx="1131733" cy="1145857"/>
            </a:xfrm>
            <a:prstGeom prst="rect">
              <a:avLst/>
            </a:prstGeom>
          </p:spPr>
          <p:txBody>
            <a:bodyPr anchor="ctr" rtlCol="false" tIns="50800" lIns="50800" bIns="50800" rIns="50800"/>
            <a:lstStyle/>
            <a:p>
              <a:pPr algn="ctr">
                <a:lnSpc>
                  <a:spcPts val="2605"/>
                </a:lnSpc>
              </a:pPr>
            </a:p>
          </p:txBody>
        </p:sp>
      </p:grpSp>
      <p:grpSp>
        <p:nvGrpSpPr>
          <p:cNvPr name="Group 9" id="9"/>
          <p:cNvGrpSpPr/>
          <p:nvPr/>
        </p:nvGrpSpPr>
        <p:grpSpPr>
          <a:xfrm rot="0">
            <a:off x="6993607" y="4206681"/>
            <a:ext cx="4297048" cy="4206015"/>
            <a:chOff x="0" y="0"/>
            <a:chExt cx="1131733" cy="1107757"/>
          </a:xfrm>
        </p:grpSpPr>
        <p:sp>
          <p:nvSpPr>
            <p:cNvPr name="Freeform 10" id="10"/>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CFF4FF"/>
            </a:solidFill>
            <a:ln w="19050" cap="sq">
              <a:solidFill>
                <a:srgbClr val="FFFFFF"/>
              </a:solidFill>
              <a:prstDash val="solid"/>
              <a:miter/>
            </a:ln>
          </p:spPr>
        </p:sp>
        <p:sp>
          <p:nvSpPr>
            <p:cNvPr name="TextBox 11" id="11"/>
            <p:cNvSpPr txBox="true"/>
            <p:nvPr/>
          </p:nvSpPr>
          <p:spPr>
            <a:xfrm>
              <a:off x="0" y="-38100"/>
              <a:ext cx="1131733" cy="1145857"/>
            </a:xfrm>
            <a:prstGeom prst="rect">
              <a:avLst/>
            </a:prstGeom>
          </p:spPr>
          <p:txBody>
            <a:bodyPr anchor="ctr" rtlCol="false" tIns="50800" lIns="50800" bIns="50800" rIns="50800"/>
            <a:lstStyle/>
            <a:p>
              <a:pPr algn="ctr">
                <a:lnSpc>
                  <a:spcPts val="2605"/>
                </a:lnSpc>
              </a:pPr>
            </a:p>
          </p:txBody>
        </p:sp>
      </p:grpSp>
      <p:grpSp>
        <p:nvGrpSpPr>
          <p:cNvPr name="Group 12" id="12"/>
          <p:cNvGrpSpPr/>
          <p:nvPr/>
        </p:nvGrpSpPr>
        <p:grpSpPr>
          <a:xfrm rot="0">
            <a:off x="11700230" y="4206681"/>
            <a:ext cx="4297048" cy="4206015"/>
            <a:chOff x="0" y="0"/>
            <a:chExt cx="1131733" cy="1107757"/>
          </a:xfrm>
        </p:grpSpPr>
        <p:sp>
          <p:nvSpPr>
            <p:cNvPr name="Freeform 13" id="13"/>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CFF4FF"/>
            </a:solidFill>
            <a:ln w="19050" cap="sq">
              <a:solidFill>
                <a:srgbClr val="FFFFFF"/>
              </a:solidFill>
              <a:prstDash val="solid"/>
              <a:miter/>
            </a:ln>
          </p:spPr>
        </p:sp>
        <p:sp>
          <p:nvSpPr>
            <p:cNvPr name="TextBox 14" id="14"/>
            <p:cNvSpPr txBox="true"/>
            <p:nvPr/>
          </p:nvSpPr>
          <p:spPr>
            <a:xfrm>
              <a:off x="0" y="-38100"/>
              <a:ext cx="1131733" cy="1145857"/>
            </a:xfrm>
            <a:prstGeom prst="rect">
              <a:avLst/>
            </a:prstGeom>
          </p:spPr>
          <p:txBody>
            <a:bodyPr anchor="ctr" rtlCol="false" tIns="50800" lIns="50800" bIns="50800" rIns="50800"/>
            <a:lstStyle/>
            <a:p>
              <a:pPr algn="ctr">
                <a:lnSpc>
                  <a:spcPts val="2605"/>
                </a:lnSpc>
              </a:pPr>
            </a:p>
          </p:txBody>
        </p:sp>
      </p:grpSp>
      <p:sp>
        <p:nvSpPr>
          <p:cNvPr name="Freeform 15" id="15"/>
          <p:cNvSpPr/>
          <p:nvPr/>
        </p:nvSpPr>
        <p:spPr>
          <a:xfrm flipH="false" flipV="false" rot="1313163">
            <a:off x="14330817" y="-1655690"/>
            <a:ext cx="9085628" cy="5368780"/>
          </a:xfrm>
          <a:custGeom>
            <a:avLst/>
            <a:gdLst/>
            <a:ahLst/>
            <a:cxnLst/>
            <a:rect r="r" b="b" t="t" l="l"/>
            <a:pathLst>
              <a:path h="5368780" w="9085628">
                <a:moveTo>
                  <a:pt x="0" y="0"/>
                </a:moveTo>
                <a:lnTo>
                  <a:pt x="9085629" y="0"/>
                </a:lnTo>
                <a:lnTo>
                  <a:pt x="9085629" y="5368780"/>
                </a:lnTo>
                <a:lnTo>
                  <a:pt x="0" y="5368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5045356" y="1718581"/>
            <a:ext cx="8197288" cy="818374"/>
          </a:xfrm>
          <a:prstGeom prst="rect">
            <a:avLst/>
          </a:prstGeom>
        </p:spPr>
        <p:txBody>
          <a:bodyPr anchor="t" rtlCol="false" tIns="0" lIns="0" bIns="0" rIns="0">
            <a:spAutoFit/>
          </a:bodyPr>
          <a:lstStyle/>
          <a:p>
            <a:pPr algn="ctr" marL="0" indent="0" lvl="0">
              <a:lnSpc>
                <a:spcPts val="6451"/>
              </a:lnSpc>
              <a:spcBef>
                <a:spcPct val="0"/>
              </a:spcBef>
            </a:pPr>
            <a:r>
              <a:rPr lang="en-US" b="true" sz="5376">
                <a:solidFill>
                  <a:srgbClr val="FFFFFF"/>
                </a:solidFill>
                <a:latin typeface="Now Bold"/>
                <a:ea typeface="Now Bold"/>
                <a:cs typeface="Now Bold"/>
                <a:sym typeface="Now Bold"/>
              </a:rPr>
              <a:t>NEXT PROJECT</a:t>
            </a:r>
          </a:p>
        </p:txBody>
      </p:sp>
      <p:sp>
        <p:nvSpPr>
          <p:cNvPr name="TextBox 17" id="17"/>
          <p:cNvSpPr txBox="true"/>
          <p:nvPr/>
        </p:nvSpPr>
        <p:spPr>
          <a:xfrm rot="0">
            <a:off x="3843721" y="2641730"/>
            <a:ext cx="10596820" cy="790806"/>
          </a:xfrm>
          <a:prstGeom prst="rect">
            <a:avLst/>
          </a:prstGeom>
        </p:spPr>
        <p:txBody>
          <a:bodyPr anchor="t" rtlCol="false" tIns="0" lIns="0" bIns="0" rIns="0">
            <a:spAutoFit/>
          </a:bodyPr>
          <a:lstStyle/>
          <a:p>
            <a:pPr algn="ctr" marL="0" indent="0" lvl="0">
              <a:lnSpc>
                <a:spcPts val="3235"/>
              </a:lnSpc>
              <a:spcBef>
                <a:spcPct val="0"/>
              </a:spcBef>
            </a:pPr>
            <a:r>
              <a:rPr lang="en-US" sz="2344">
                <a:solidFill>
                  <a:srgbClr val="FFFFFF"/>
                </a:solidFill>
                <a:latin typeface="DM Sans"/>
                <a:ea typeface="DM Sans"/>
                <a:cs typeface="DM Sans"/>
                <a:sym typeface="DM Sans"/>
              </a:rPr>
              <a:t>Lorem ipsum dolor sit amet, consectetur adipiscing elit. Duis vulputate nulla at ante rhoncus, vel efficitur felis condimentum. Proin odio odio.</a:t>
            </a:r>
          </a:p>
        </p:txBody>
      </p:sp>
      <p:sp>
        <p:nvSpPr>
          <p:cNvPr name="TextBox 18" id="18"/>
          <p:cNvSpPr txBox="true"/>
          <p:nvPr/>
        </p:nvSpPr>
        <p:spPr>
          <a:xfrm rot="0">
            <a:off x="2711792" y="6262377"/>
            <a:ext cx="3432147" cy="385572"/>
          </a:xfrm>
          <a:prstGeom prst="rect">
            <a:avLst/>
          </a:prstGeom>
        </p:spPr>
        <p:txBody>
          <a:bodyPr anchor="t" rtlCol="false" tIns="0" lIns="0" bIns="0" rIns="0">
            <a:spAutoFit/>
          </a:bodyPr>
          <a:lstStyle/>
          <a:p>
            <a:pPr algn="ctr" marL="0" indent="0" lvl="0">
              <a:lnSpc>
                <a:spcPts val="3174"/>
              </a:lnSpc>
              <a:spcBef>
                <a:spcPct val="0"/>
              </a:spcBef>
            </a:pPr>
            <a:r>
              <a:rPr lang="en-US" b="true" sz="2300">
                <a:solidFill>
                  <a:srgbClr val="0071C9"/>
                </a:solidFill>
                <a:latin typeface="DM Sans Bold"/>
                <a:ea typeface="DM Sans Bold"/>
                <a:cs typeface="DM Sans Bold"/>
                <a:sym typeface="DM Sans Bold"/>
              </a:rPr>
              <a:t>Project 1</a:t>
            </a:r>
          </a:p>
        </p:txBody>
      </p:sp>
      <p:sp>
        <p:nvSpPr>
          <p:cNvPr name="TextBox 19" id="19"/>
          <p:cNvSpPr txBox="true"/>
          <p:nvPr/>
        </p:nvSpPr>
        <p:spPr>
          <a:xfrm rot="0">
            <a:off x="7543627" y="6762249"/>
            <a:ext cx="3200745" cy="1367849"/>
          </a:xfrm>
          <a:prstGeom prst="rect">
            <a:avLst/>
          </a:prstGeom>
        </p:spPr>
        <p:txBody>
          <a:bodyPr anchor="t" rtlCol="false" tIns="0" lIns="0" bIns="0" rIns="0">
            <a:spAutoFit/>
          </a:bodyPr>
          <a:lstStyle/>
          <a:p>
            <a:pPr algn="ctr" marL="0" indent="0" lvl="0">
              <a:lnSpc>
                <a:spcPts val="2169"/>
              </a:lnSpc>
              <a:spcBef>
                <a:spcPct val="0"/>
              </a:spcBef>
            </a:pPr>
            <a:r>
              <a:rPr lang="en-US" sz="1572" strike="noStrike" u="none">
                <a:solidFill>
                  <a:srgbClr val="051D40"/>
                </a:solidFill>
                <a:latin typeface="DM Sans"/>
                <a:ea typeface="DM Sans"/>
                <a:cs typeface="DM Sans"/>
                <a:sym typeface="DM Sans"/>
              </a:rPr>
              <a:t>Lorem ipsum dolor sit amet, consectetur adipiscing elit. Duis vulputate nulla at ante rhoncus, vel efficitur felis condimentum. Proin odio odio.</a:t>
            </a:r>
          </a:p>
        </p:txBody>
      </p:sp>
      <p:sp>
        <p:nvSpPr>
          <p:cNvPr name="TextBox 20" id="20"/>
          <p:cNvSpPr txBox="true"/>
          <p:nvPr/>
        </p:nvSpPr>
        <p:spPr>
          <a:xfrm rot="0">
            <a:off x="7946418" y="6262377"/>
            <a:ext cx="2395164" cy="385572"/>
          </a:xfrm>
          <a:prstGeom prst="rect">
            <a:avLst/>
          </a:prstGeom>
        </p:spPr>
        <p:txBody>
          <a:bodyPr anchor="t" rtlCol="false" tIns="0" lIns="0" bIns="0" rIns="0">
            <a:spAutoFit/>
          </a:bodyPr>
          <a:lstStyle/>
          <a:p>
            <a:pPr algn="ctr" marL="0" indent="0" lvl="0">
              <a:lnSpc>
                <a:spcPts val="3174"/>
              </a:lnSpc>
              <a:spcBef>
                <a:spcPct val="0"/>
              </a:spcBef>
            </a:pPr>
            <a:r>
              <a:rPr lang="en-US" b="true" sz="2300">
                <a:solidFill>
                  <a:srgbClr val="F1945B"/>
                </a:solidFill>
                <a:latin typeface="DM Sans Bold"/>
                <a:ea typeface="DM Sans Bold"/>
                <a:cs typeface="DM Sans Bold"/>
                <a:sym typeface="DM Sans Bold"/>
              </a:rPr>
              <a:t>Project 2</a:t>
            </a:r>
          </a:p>
        </p:txBody>
      </p:sp>
      <p:sp>
        <p:nvSpPr>
          <p:cNvPr name="Freeform 21" id="21"/>
          <p:cNvSpPr/>
          <p:nvPr/>
        </p:nvSpPr>
        <p:spPr>
          <a:xfrm flipH="false" flipV="false" rot="0">
            <a:off x="3728082" y="4615159"/>
            <a:ext cx="1399568" cy="1399568"/>
          </a:xfrm>
          <a:custGeom>
            <a:avLst/>
            <a:gdLst/>
            <a:ahLst/>
            <a:cxnLst/>
            <a:rect r="r" b="b" t="t" l="l"/>
            <a:pathLst>
              <a:path h="1399568" w="1399568">
                <a:moveTo>
                  <a:pt x="0" y="0"/>
                </a:moveTo>
                <a:lnTo>
                  <a:pt x="1399567" y="0"/>
                </a:lnTo>
                <a:lnTo>
                  <a:pt x="1399567" y="1399568"/>
                </a:lnTo>
                <a:lnTo>
                  <a:pt x="0" y="13995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3369571" y="4680294"/>
            <a:ext cx="958365" cy="1334433"/>
          </a:xfrm>
          <a:custGeom>
            <a:avLst/>
            <a:gdLst/>
            <a:ahLst/>
            <a:cxnLst/>
            <a:rect r="r" b="b" t="t" l="l"/>
            <a:pathLst>
              <a:path h="1334433" w="958365">
                <a:moveTo>
                  <a:pt x="0" y="0"/>
                </a:moveTo>
                <a:lnTo>
                  <a:pt x="958365" y="0"/>
                </a:lnTo>
                <a:lnTo>
                  <a:pt x="958365" y="1334433"/>
                </a:lnTo>
                <a:lnTo>
                  <a:pt x="0" y="133443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8400786" y="4507372"/>
            <a:ext cx="1482689" cy="1507355"/>
          </a:xfrm>
          <a:custGeom>
            <a:avLst/>
            <a:gdLst/>
            <a:ahLst/>
            <a:cxnLst/>
            <a:rect r="r" b="b" t="t" l="l"/>
            <a:pathLst>
              <a:path h="1507355" w="1482689">
                <a:moveTo>
                  <a:pt x="0" y="0"/>
                </a:moveTo>
                <a:lnTo>
                  <a:pt x="1482689" y="0"/>
                </a:lnTo>
                <a:lnTo>
                  <a:pt x="1482689" y="1507355"/>
                </a:lnTo>
                <a:lnTo>
                  <a:pt x="0" y="150735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4" id="24"/>
          <p:cNvSpPr txBox="true"/>
          <p:nvPr/>
        </p:nvSpPr>
        <p:spPr>
          <a:xfrm rot="0">
            <a:off x="12263487" y="6762249"/>
            <a:ext cx="3200745" cy="1367849"/>
          </a:xfrm>
          <a:prstGeom prst="rect">
            <a:avLst/>
          </a:prstGeom>
        </p:spPr>
        <p:txBody>
          <a:bodyPr anchor="t" rtlCol="false" tIns="0" lIns="0" bIns="0" rIns="0">
            <a:spAutoFit/>
          </a:bodyPr>
          <a:lstStyle/>
          <a:p>
            <a:pPr algn="ctr" marL="0" indent="0" lvl="0">
              <a:lnSpc>
                <a:spcPts val="2169"/>
              </a:lnSpc>
              <a:spcBef>
                <a:spcPct val="0"/>
              </a:spcBef>
            </a:pPr>
            <a:r>
              <a:rPr lang="en-US" sz="1572" strike="noStrike" u="none">
                <a:solidFill>
                  <a:srgbClr val="051D40"/>
                </a:solidFill>
                <a:latin typeface="DM Sans"/>
                <a:ea typeface="DM Sans"/>
                <a:cs typeface="DM Sans"/>
                <a:sym typeface="DM Sans"/>
              </a:rPr>
              <a:t>Lorem ipsum dolor sit amet, consectetur adipiscing elit. Duis vulputate nulla at ante rhoncus, vel efficitur felis condimentum. Proin odio odio.</a:t>
            </a:r>
          </a:p>
        </p:txBody>
      </p:sp>
      <p:sp>
        <p:nvSpPr>
          <p:cNvPr name="TextBox 25" id="25"/>
          <p:cNvSpPr txBox="true"/>
          <p:nvPr/>
        </p:nvSpPr>
        <p:spPr>
          <a:xfrm rot="0">
            <a:off x="12666278" y="6262377"/>
            <a:ext cx="2395164" cy="385572"/>
          </a:xfrm>
          <a:prstGeom prst="rect">
            <a:avLst/>
          </a:prstGeom>
        </p:spPr>
        <p:txBody>
          <a:bodyPr anchor="t" rtlCol="false" tIns="0" lIns="0" bIns="0" rIns="0">
            <a:spAutoFit/>
          </a:bodyPr>
          <a:lstStyle/>
          <a:p>
            <a:pPr algn="ctr" marL="0" indent="0" lvl="0">
              <a:lnSpc>
                <a:spcPts val="3174"/>
              </a:lnSpc>
              <a:spcBef>
                <a:spcPct val="0"/>
              </a:spcBef>
            </a:pPr>
            <a:r>
              <a:rPr lang="en-US" b="true" sz="2300">
                <a:solidFill>
                  <a:srgbClr val="39B54A"/>
                </a:solidFill>
                <a:latin typeface="DM Sans Bold"/>
                <a:ea typeface="DM Sans Bold"/>
                <a:cs typeface="DM Sans Bold"/>
                <a:sym typeface="DM Sans Bold"/>
              </a:rPr>
              <a:t>Project 3</a:t>
            </a:r>
          </a:p>
        </p:txBody>
      </p:sp>
      <p:sp>
        <p:nvSpPr>
          <p:cNvPr name="TextBox 26" id="26"/>
          <p:cNvSpPr txBox="true"/>
          <p:nvPr/>
        </p:nvSpPr>
        <p:spPr>
          <a:xfrm rot="0">
            <a:off x="2840362" y="6762249"/>
            <a:ext cx="3200745" cy="1367849"/>
          </a:xfrm>
          <a:prstGeom prst="rect">
            <a:avLst/>
          </a:prstGeom>
        </p:spPr>
        <p:txBody>
          <a:bodyPr anchor="t" rtlCol="false" tIns="0" lIns="0" bIns="0" rIns="0">
            <a:spAutoFit/>
          </a:bodyPr>
          <a:lstStyle/>
          <a:p>
            <a:pPr algn="ctr" marL="0" indent="0" lvl="0">
              <a:lnSpc>
                <a:spcPts val="2169"/>
              </a:lnSpc>
              <a:spcBef>
                <a:spcPct val="0"/>
              </a:spcBef>
            </a:pPr>
            <a:r>
              <a:rPr lang="en-US" sz="1572" strike="noStrike" u="none">
                <a:solidFill>
                  <a:srgbClr val="051D40"/>
                </a:solidFill>
                <a:latin typeface="DM Sans"/>
                <a:ea typeface="DM Sans"/>
                <a:cs typeface="DM Sans"/>
                <a:sym typeface="DM Sans"/>
              </a:rPr>
              <a:t>Lorem ipsum dolor sit amet, consectetur adipiscing elit. Duis vulputate nulla at ante rhoncus, vel efficitur felis condimentum. Proin odio odio.</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3266830" y="0"/>
            <a:ext cx="5021170" cy="10287000"/>
            <a:chOff x="0" y="0"/>
            <a:chExt cx="1322448" cy="2709333"/>
          </a:xfrm>
        </p:grpSpPr>
        <p:sp>
          <p:nvSpPr>
            <p:cNvPr name="Freeform 3" id="3"/>
            <p:cNvSpPr/>
            <p:nvPr/>
          </p:nvSpPr>
          <p:spPr>
            <a:xfrm flipH="false" flipV="false" rot="0">
              <a:off x="0" y="0"/>
              <a:ext cx="1322448" cy="2709333"/>
            </a:xfrm>
            <a:custGeom>
              <a:avLst/>
              <a:gdLst/>
              <a:ahLst/>
              <a:cxnLst/>
              <a:rect r="r" b="b" t="t" l="l"/>
              <a:pathLst>
                <a:path h="2709333" w="1322448">
                  <a:moveTo>
                    <a:pt x="0" y="0"/>
                  </a:moveTo>
                  <a:lnTo>
                    <a:pt x="1322448" y="0"/>
                  </a:lnTo>
                  <a:lnTo>
                    <a:pt x="1322448" y="2709333"/>
                  </a:lnTo>
                  <a:lnTo>
                    <a:pt x="0" y="2709333"/>
                  </a:lnTo>
                  <a:close/>
                </a:path>
              </a:pathLst>
            </a:custGeom>
            <a:solidFill>
              <a:srgbClr val="051D40"/>
            </a:solidFill>
          </p:spPr>
        </p:sp>
        <p:sp>
          <p:nvSpPr>
            <p:cNvPr name="TextBox 4" id="4"/>
            <p:cNvSpPr txBox="true"/>
            <p:nvPr/>
          </p:nvSpPr>
          <p:spPr>
            <a:xfrm>
              <a:off x="0" y="-38100"/>
              <a:ext cx="1322448"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609132" y="1222804"/>
            <a:ext cx="7922504" cy="771523"/>
          </a:xfrm>
          <a:prstGeom prst="rect">
            <a:avLst/>
          </a:prstGeom>
        </p:spPr>
        <p:txBody>
          <a:bodyPr anchor="t" rtlCol="false" tIns="0" lIns="0" bIns="0" rIns="0">
            <a:spAutoFit/>
          </a:bodyPr>
          <a:lstStyle/>
          <a:p>
            <a:pPr algn="l" marL="0" indent="0" lvl="0">
              <a:lnSpc>
                <a:spcPts val="6300"/>
              </a:lnSpc>
              <a:spcBef>
                <a:spcPct val="0"/>
              </a:spcBef>
            </a:pPr>
            <a:r>
              <a:rPr lang="en-US" b="true" sz="4500" strike="noStrike" u="none">
                <a:solidFill>
                  <a:srgbClr val="051D40"/>
                </a:solidFill>
                <a:latin typeface="Open Sans Extra Bold"/>
                <a:ea typeface="Open Sans Extra Bold"/>
                <a:cs typeface="Open Sans Extra Bold"/>
                <a:sym typeface="Open Sans Extra Bold"/>
              </a:rPr>
              <a:t>Problems</a:t>
            </a:r>
          </a:p>
        </p:txBody>
      </p:sp>
      <p:grpSp>
        <p:nvGrpSpPr>
          <p:cNvPr name="Group 6" id="6"/>
          <p:cNvGrpSpPr/>
          <p:nvPr/>
        </p:nvGrpSpPr>
        <p:grpSpPr>
          <a:xfrm rot="0">
            <a:off x="-2393222" y="-1378680"/>
            <a:ext cx="3564204" cy="35642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09132" y="2128374"/>
            <a:ext cx="9006427" cy="2496117"/>
          </a:xfrm>
          <a:prstGeom prst="rect">
            <a:avLst/>
          </a:prstGeom>
        </p:spPr>
        <p:txBody>
          <a:bodyPr anchor="t" rtlCol="false" tIns="0" lIns="0" bIns="0" rIns="0">
            <a:spAutoFit/>
          </a:bodyPr>
          <a:lstStyle/>
          <a:p>
            <a:pPr algn="l" marL="0" indent="0" lvl="0">
              <a:lnSpc>
                <a:spcPts val="2843"/>
              </a:lnSpc>
              <a:spcBef>
                <a:spcPct val="0"/>
              </a:spcBef>
            </a:pPr>
            <a:r>
              <a:rPr lang="en-US" sz="2030" spc="-40" strike="noStrike" u="none">
                <a:solidFill>
                  <a:srgbClr val="051D40"/>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p>
          <a:p>
            <a:pPr algn="l" marL="0" indent="0" lvl="0">
              <a:lnSpc>
                <a:spcPts val="2843"/>
              </a:lnSpc>
              <a:spcBef>
                <a:spcPct val="0"/>
              </a:spcBef>
            </a:pPr>
          </a:p>
          <a:p>
            <a:pPr algn="l" marL="0" indent="0" lvl="0">
              <a:lnSpc>
                <a:spcPts val="2843"/>
              </a:lnSpc>
              <a:spcBef>
                <a:spcPct val="0"/>
              </a:spcBef>
            </a:pPr>
            <a:r>
              <a:rPr lang="en-US" sz="2030" spc="-40" strike="noStrike" u="none">
                <a:solidFill>
                  <a:srgbClr val="051D40"/>
                </a:solidFill>
                <a:latin typeface="Poppins"/>
                <a:ea typeface="Poppins"/>
                <a:cs typeface="Poppins"/>
                <a:sym typeface="Poppins"/>
              </a:rPr>
              <a:t>Praesent vel felis quis mi pulvinar sagittis. Pellentesque viverra ipsum ante, in congue ante eleifend eget. Aenean tortor tellus, efficitur ac rhoncus et, eleifend sit amet mi. Sed ut lectus ac nibh molestie rhoncus.</a:t>
            </a:r>
          </a:p>
        </p:txBody>
      </p:sp>
      <p:grpSp>
        <p:nvGrpSpPr>
          <p:cNvPr name="Group 10" id="10"/>
          <p:cNvGrpSpPr>
            <a:grpSpLocks noChangeAspect="true"/>
          </p:cNvGrpSpPr>
          <p:nvPr/>
        </p:nvGrpSpPr>
        <p:grpSpPr>
          <a:xfrm rot="0">
            <a:off x="9966307" y="300249"/>
            <a:ext cx="8027935" cy="9598729"/>
            <a:chOff x="0" y="0"/>
            <a:chExt cx="8603361" cy="10286746"/>
          </a:xfrm>
        </p:grpSpPr>
        <p:sp>
          <p:nvSpPr>
            <p:cNvPr name="Freeform 11" id="11"/>
            <p:cNvSpPr/>
            <p:nvPr/>
          </p:nvSpPr>
          <p:spPr>
            <a:xfrm flipH="false" flipV="false" rot="0">
              <a:off x="-2794" y="-128"/>
              <a:ext cx="8606155" cy="10286874"/>
            </a:xfrm>
            <a:custGeom>
              <a:avLst/>
              <a:gdLst/>
              <a:ahLst/>
              <a:cxnLst/>
              <a:rect r="r" b="b" t="t" l="l"/>
              <a:pathLst>
                <a:path h="10286874" w="8606155">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blipFill>
              <a:blip r:embed="rId2"/>
              <a:stretch>
                <a:fillRect l="-28002" t="0" r="-51461" b="0"/>
              </a:stretch>
            </a:blipFill>
          </p:spPr>
        </p:sp>
      </p:grpSp>
      <p:grpSp>
        <p:nvGrpSpPr>
          <p:cNvPr name="Group 12" id="12"/>
          <p:cNvGrpSpPr/>
          <p:nvPr/>
        </p:nvGrpSpPr>
        <p:grpSpPr>
          <a:xfrm rot="0">
            <a:off x="14700679" y="7074186"/>
            <a:ext cx="5946973" cy="594697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594175" y="8410948"/>
            <a:ext cx="11402164" cy="711357"/>
          </a:xfrm>
          <a:custGeom>
            <a:avLst/>
            <a:gdLst/>
            <a:ahLst/>
            <a:cxnLst/>
            <a:rect r="r" b="b" t="t" l="l"/>
            <a:pathLst>
              <a:path h="711357" w="11402164">
                <a:moveTo>
                  <a:pt x="0" y="0"/>
                </a:moveTo>
                <a:lnTo>
                  <a:pt x="11402164" y="0"/>
                </a:lnTo>
                <a:lnTo>
                  <a:pt x="11402164" y="711358"/>
                </a:lnTo>
                <a:lnTo>
                  <a:pt x="0" y="711358"/>
                </a:lnTo>
                <a:lnTo>
                  <a:pt x="0" y="0"/>
                </a:lnTo>
                <a:close/>
              </a:path>
            </a:pathLst>
          </a:custGeom>
          <a:blipFill>
            <a:blip r:embed="rId3"/>
            <a:stretch>
              <a:fillRect l="0" t="-216567" r="0" b="0"/>
            </a:stretch>
          </a:blipFill>
        </p:spPr>
      </p:sp>
      <p:grpSp>
        <p:nvGrpSpPr>
          <p:cNvPr name="Group 16" id="16"/>
          <p:cNvGrpSpPr/>
          <p:nvPr/>
        </p:nvGrpSpPr>
        <p:grpSpPr>
          <a:xfrm rot="0">
            <a:off x="1609132" y="5143500"/>
            <a:ext cx="11387207" cy="3298724"/>
            <a:chOff x="0" y="0"/>
            <a:chExt cx="2999100" cy="868800"/>
          </a:xfrm>
        </p:grpSpPr>
        <p:sp>
          <p:nvSpPr>
            <p:cNvPr name="Freeform 17" id="17"/>
            <p:cNvSpPr/>
            <p:nvPr/>
          </p:nvSpPr>
          <p:spPr>
            <a:xfrm flipH="false" flipV="false" rot="0">
              <a:off x="0" y="0"/>
              <a:ext cx="2999100" cy="868800"/>
            </a:xfrm>
            <a:custGeom>
              <a:avLst/>
              <a:gdLst/>
              <a:ahLst/>
              <a:cxnLst/>
              <a:rect r="r" b="b" t="t" l="l"/>
              <a:pathLst>
                <a:path h="868800" w="2999100">
                  <a:moveTo>
                    <a:pt x="9518" y="0"/>
                  </a:moveTo>
                  <a:lnTo>
                    <a:pt x="2989581" y="0"/>
                  </a:lnTo>
                  <a:cubicBezTo>
                    <a:pt x="2992106" y="0"/>
                    <a:pt x="2994527" y="1003"/>
                    <a:pt x="2996312" y="2788"/>
                  </a:cubicBezTo>
                  <a:cubicBezTo>
                    <a:pt x="2998097" y="4573"/>
                    <a:pt x="2999100" y="6994"/>
                    <a:pt x="2999100" y="9518"/>
                  </a:cubicBezTo>
                  <a:lnTo>
                    <a:pt x="2999100" y="859282"/>
                  </a:lnTo>
                  <a:cubicBezTo>
                    <a:pt x="2999100" y="861806"/>
                    <a:pt x="2998097" y="864227"/>
                    <a:pt x="2996312" y="866012"/>
                  </a:cubicBezTo>
                  <a:cubicBezTo>
                    <a:pt x="2994527" y="867797"/>
                    <a:pt x="2992106" y="868800"/>
                    <a:pt x="2989581" y="868800"/>
                  </a:cubicBezTo>
                  <a:lnTo>
                    <a:pt x="9518" y="868800"/>
                  </a:lnTo>
                  <a:cubicBezTo>
                    <a:pt x="4261" y="868800"/>
                    <a:pt x="0" y="864538"/>
                    <a:pt x="0" y="859282"/>
                  </a:cubicBezTo>
                  <a:lnTo>
                    <a:pt x="0" y="9518"/>
                  </a:lnTo>
                  <a:cubicBezTo>
                    <a:pt x="0" y="6994"/>
                    <a:pt x="1003" y="4573"/>
                    <a:pt x="2788" y="2788"/>
                  </a:cubicBezTo>
                  <a:cubicBezTo>
                    <a:pt x="4573" y="1003"/>
                    <a:pt x="6994" y="0"/>
                    <a:pt x="9518" y="0"/>
                  </a:cubicBezTo>
                  <a:close/>
                </a:path>
              </a:pathLst>
            </a:custGeom>
            <a:solidFill>
              <a:srgbClr val="00569E"/>
            </a:solidFill>
          </p:spPr>
        </p:sp>
        <p:sp>
          <p:nvSpPr>
            <p:cNvPr name="TextBox 18" id="18"/>
            <p:cNvSpPr txBox="true"/>
            <p:nvPr/>
          </p:nvSpPr>
          <p:spPr>
            <a:xfrm>
              <a:off x="0" y="-38100"/>
              <a:ext cx="2999100" cy="9069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2255593" y="4814991"/>
            <a:ext cx="2772169" cy="685553"/>
            <a:chOff x="0" y="0"/>
            <a:chExt cx="1013291" cy="250585"/>
          </a:xfrm>
        </p:grpSpPr>
        <p:sp>
          <p:nvSpPr>
            <p:cNvPr name="Freeform 20" id="20"/>
            <p:cNvSpPr/>
            <p:nvPr/>
          </p:nvSpPr>
          <p:spPr>
            <a:xfrm flipH="false" flipV="false" rot="0">
              <a:off x="0" y="0"/>
              <a:ext cx="1013291" cy="250585"/>
            </a:xfrm>
            <a:custGeom>
              <a:avLst/>
              <a:gdLst/>
              <a:ahLst/>
              <a:cxnLst/>
              <a:rect r="r" b="b" t="t" l="l"/>
              <a:pathLst>
                <a:path h="250585" w="1013291">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1" id="21"/>
            <p:cNvSpPr txBox="true"/>
            <p:nvPr/>
          </p:nvSpPr>
          <p:spPr>
            <a:xfrm>
              <a:off x="0" y="-66675"/>
              <a:ext cx="1013291" cy="317260"/>
            </a:xfrm>
            <a:prstGeom prst="rect">
              <a:avLst/>
            </a:prstGeom>
          </p:spPr>
          <p:txBody>
            <a:bodyPr anchor="ctr" rtlCol="false" tIns="0" lIns="0" bIns="0" rIns="0"/>
            <a:lstStyle/>
            <a:p>
              <a:pPr algn="ctr" marL="0" indent="0" lvl="0">
                <a:lnSpc>
                  <a:spcPts val="3480"/>
                </a:lnSpc>
                <a:spcBef>
                  <a:spcPct val="0"/>
                </a:spcBef>
              </a:pPr>
              <a:r>
                <a:rPr lang="en-US" b="true" sz="2486" strike="noStrike" u="none">
                  <a:solidFill>
                    <a:srgbClr val="FFFFFF"/>
                  </a:solidFill>
                  <a:latin typeface="Poppins Bold"/>
                  <a:ea typeface="Poppins Bold"/>
                  <a:cs typeface="Poppins Bold"/>
                  <a:sym typeface="Poppins Bold"/>
                </a:rPr>
                <a:t>Problem 01</a:t>
              </a:r>
            </a:p>
          </p:txBody>
        </p:sp>
      </p:grpSp>
      <p:grpSp>
        <p:nvGrpSpPr>
          <p:cNvPr name="Group 22" id="22"/>
          <p:cNvGrpSpPr/>
          <p:nvPr/>
        </p:nvGrpSpPr>
        <p:grpSpPr>
          <a:xfrm rot="0">
            <a:off x="5912407" y="4814991"/>
            <a:ext cx="2772169" cy="685553"/>
            <a:chOff x="0" y="0"/>
            <a:chExt cx="1013291" cy="250585"/>
          </a:xfrm>
        </p:grpSpPr>
        <p:sp>
          <p:nvSpPr>
            <p:cNvPr name="Freeform 23" id="23"/>
            <p:cNvSpPr/>
            <p:nvPr/>
          </p:nvSpPr>
          <p:spPr>
            <a:xfrm flipH="false" flipV="false" rot="0">
              <a:off x="0" y="0"/>
              <a:ext cx="1013291" cy="250585"/>
            </a:xfrm>
            <a:custGeom>
              <a:avLst/>
              <a:gdLst/>
              <a:ahLst/>
              <a:cxnLst/>
              <a:rect r="r" b="b" t="t" l="l"/>
              <a:pathLst>
                <a:path h="250585" w="1013291">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4" id="24"/>
            <p:cNvSpPr txBox="true"/>
            <p:nvPr/>
          </p:nvSpPr>
          <p:spPr>
            <a:xfrm>
              <a:off x="0" y="-66675"/>
              <a:ext cx="1013291" cy="317260"/>
            </a:xfrm>
            <a:prstGeom prst="rect">
              <a:avLst/>
            </a:prstGeom>
          </p:spPr>
          <p:txBody>
            <a:bodyPr anchor="ctr" rtlCol="false" tIns="0" lIns="0" bIns="0" rIns="0"/>
            <a:lstStyle/>
            <a:p>
              <a:pPr algn="ctr" marL="0" indent="0" lvl="0">
                <a:lnSpc>
                  <a:spcPts val="3480"/>
                </a:lnSpc>
                <a:spcBef>
                  <a:spcPct val="0"/>
                </a:spcBef>
              </a:pPr>
              <a:r>
                <a:rPr lang="en-US" b="true" sz="2486" strike="noStrike" u="none">
                  <a:solidFill>
                    <a:srgbClr val="FFFFFF"/>
                  </a:solidFill>
                  <a:latin typeface="Poppins Bold"/>
                  <a:ea typeface="Poppins Bold"/>
                  <a:cs typeface="Poppins Bold"/>
                  <a:sym typeface="Poppins Bold"/>
                </a:rPr>
                <a:t>Problem 02</a:t>
              </a:r>
            </a:p>
          </p:txBody>
        </p:sp>
      </p:grpSp>
      <p:grpSp>
        <p:nvGrpSpPr>
          <p:cNvPr name="Group 25" id="25"/>
          <p:cNvGrpSpPr/>
          <p:nvPr/>
        </p:nvGrpSpPr>
        <p:grpSpPr>
          <a:xfrm rot="0">
            <a:off x="9569222" y="4814991"/>
            <a:ext cx="2670160" cy="685553"/>
            <a:chOff x="0" y="0"/>
            <a:chExt cx="976004" cy="250585"/>
          </a:xfrm>
        </p:grpSpPr>
        <p:sp>
          <p:nvSpPr>
            <p:cNvPr name="Freeform 26" id="26"/>
            <p:cNvSpPr/>
            <p:nvPr/>
          </p:nvSpPr>
          <p:spPr>
            <a:xfrm flipH="false" flipV="false" rot="0">
              <a:off x="0" y="0"/>
              <a:ext cx="976004" cy="250585"/>
            </a:xfrm>
            <a:custGeom>
              <a:avLst/>
              <a:gdLst/>
              <a:ahLst/>
              <a:cxnLst/>
              <a:rect r="r" b="b" t="t" l="l"/>
              <a:pathLst>
                <a:path h="250585" w="976004">
                  <a:moveTo>
                    <a:pt x="125293" y="0"/>
                  </a:moveTo>
                  <a:lnTo>
                    <a:pt x="850712" y="0"/>
                  </a:lnTo>
                  <a:cubicBezTo>
                    <a:pt x="883941" y="0"/>
                    <a:pt x="915810" y="13200"/>
                    <a:pt x="939307" y="36697"/>
                  </a:cubicBezTo>
                  <a:cubicBezTo>
                    <a:pt x="962804" y="60194"/>
                    <a:pt x="976004" y="92063"/>
                    <a:pt x="976004" y="125293"/>
                  </a:cubicBezTo>
                  <a:lnTo>
                    <a:pt x="976004" y="125293"/>
                  </a:lnTo>
                  <a:cubicBezTo>
                    <a:pt x="976004" y="158522"/>
                    <a:pt x="962804" y="190391"/>
                    <a:pt x="939307" y="213888"/>
                  </a:cubicBezTo>
                  <a:cubicBezTo>
                    <a:pt x="915810" y="237385"/>
                    <a:pt x="883941" y="250585"/>
                    <a:pt x="850712"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7" id="27"/>
            <p:cNvSpPr txBox="true"/>
            <p:nvPr/>
          </p:nvSpPr>
          <p:spPr>
            <a:xfrm>
              <a:off x="0" y="-66675"/>
              <a:ext cx="976004" cy="317260"/>
            </a:xfrm>
            <a:prstGeom prst="rect">
              <a:avLst/>
            </a:prstGeom>
          </p:spPr>
          <p:txBody>
            <a:bodyPr anchor="ctr" rtlCol="false" tIns="0" lIns="0" bIns="0" rIns="0"/>
            <a:lstStyle/>
            <a:p>
              <a:pPr algn="ctr" marL="0" indent="0" lvl="0">
                <a:lnSpc>
                  <a:spcPts val="3480"/>
                </a:lnSpc>
                <a:spcBef>
                  <a:spcPct val="0"/>
                </a:spcBef>
              </a:pPr>
              <a:r>
                <a:rPr lang="en-US" b="true" sz="2486" strike="noStrike" u="none">
                  <a:solidFill>
                    <a:srgbClr val="FFFFFF"/>
                  </a:solidFill>
                  <a:latin typeface="Poppins Bold"/>
                  <a:ea typeface="Poppins Bold"/>
                  <a:cs typeface="Poppins Bold"/>
                  <a:sym typeface="Poppins Bold"/>
                </a:rPr>
                <a:t>Problem 03</a:t>
              </a:r>
            </a:p>
          </p:txBody>
        </p:sp>
      </p:grpSp>
      <p:sp>
        <p:nvSpPr>
          <p:cNvPr name="TextBox 28" id="28"/>
          <p:cNvSpPr txBox="true"/>
          <p:nvPr/>
        </p:nvSpPr>
        <p:spPr>
          <a:xfrm rot="0">
            <a:off x="2310929" y="5643420"/>
            <a:ext cx="2661498" cy="2367479"/>
          </a:xfrm>
          <a:prstGeom prst="rect">
            <a:avLst/>
          </a:prstGeom>
        </p:spPr>
        <p:txBody>
          <a:bodyPr anchor="t" rtlCol="false" tIns="0" lIns="0" bIns="0" rIns="0">
            <a:spAutoFit/>
          </a:bodyPr>
          <a:lstStyle/>
          <a:p>
            <a:pPr algn="ctr" marL="0" indent="0" lvl="0">
              <a:lnSpc>
                <a:spcPts val="2334"/>
              </a:lnSpc>
              <a:spcBef>
                <a:spcPct val="0"/>
              </a:spcBef>
            </a:pPr>
            <a:r>
              <a:rPr lang="en-US" sz="1667" spc="-33" strike="noStrike"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p>
        </p:txBody>
      </p:sp>
      <p:sp>
        <p:nvSpPr>
          <p:cNvPr name="TextBox 29" id="29"/>
          <p:cNvSpPr txBox="true"/>
          <p:nvPr/>
        </p:nvSpPr>
        <p:spPr>
          <a:xfrm rot="0">
            <a:off x="5999225" y="5643420"/>
            <a:ext cx="2661498" cy="2367479"/>
          </a:xfrm>
          <a:prstGeom prst="rect">
            <a:avLst/>
          </a:prstGeom>
        </p:spPr>
        <p:txBody>
          <a:bodyPr anchor="t" rtlCol="false" tIns="0" lIns="0" bIns="0" rIns="0">
            <a:spAutoFit/>
          </a:bodyPr>
          <a:lstStyle/>
          <a:p>
            <a:pPr algn="ctr" marL="0" indent="0" lvl="0">
              <a:lnSpc>
                <a:spcPts val="2334"/>
              </a:lnSpc>
              <a:spcBef>
                <a:spcPct val="0"/>
              </a:spcBef>
            </a:pPr>
            <a:r>
              <a:rPr lang="en-US" sz="1667" spc="-33" strike="noStrike"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p>
        </p:txBody>
      </p:sp>
      <p:sp>
        <p:nvSpPr>
          <p:cNvPr name="TextBox 30" id="30"/>
          <p:cNvSpPr txBox="true"/>
          <p:nvPr/>
        </p:nvSpPr>
        <p:spPr>
          <a:xfrm rot="0">
            <a:off x="9689588" y="5643420"/>
            <a:ext cx="2661498" cy="2367479"/>
          </a:xfrm>
          <a:prstGeom prst="rect">
            <a:avLst/>
          </a:prstGeom>
        </p:spPr>
        <p:txBody>
          <a:bodyPr anchor="t" rtlCol="false" tIns="0" lIns="0" bIns="0" rIns="0">
            <a:spAutoFit/>
          </a:bodyPr>
          <a:lstStyle/>
          <a:p>
            <a:pPr algn="ctr" marL="0" indent="0" lvl="0">
              <a:lnSpc>
                <a:spcPts val="2334"/>
              </a:lnSpc>
              <a:spcBef>
                <a:spcPct val="0"/>
              </a:spcBef>
            </a:pPr>
            <a:r>
              <a:rPr lang="en-US" sz="1667" spc="-33" strike="noStrike"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39603" y="1122782"/>
            <a:ext cx="7019697" cy="10556306"/>
            <a:chOff x="0" y="0"/>
            <a:chExt cx="660400" cy="993118"/>
          </a:xfrm>
        </p:grpSpPr>
        <p:sp>
          <p:nvSpPr>
            <p:cNvPr name="Freeform 6" id="6"/>
            <p:cNvSpPr/>
            <p:nvPr/>
          </p:nvSpPr>
          <p:spPr>
            <a:xfrm flipH="false" flipV="false" rot="0">
              <a:off x="0" y="0"/>
              <a:ext cx="660400" cy="993118"/>
            </a:xfrm>
            <a:custGeom>
              <a:avLst/>
              <a:gdLst/>
              <a:ahLst/>
              <a:cxnLst/>
              <a:rect r="r" b="b" t="t" l="l"/>
              <a:pathLst>
                <a:path h="993118"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sp>
        <p:sp>
          <p:nvSpPr>
            <p:cNvPr name="TextBox 7" id="7"/>
            <p:cNvSpPr txBox="true"/>
            <p:nvPr/>
          </p:nvSpPr>
          <p:spPr>
            <a:xfrm>
              <a:off x="0" y="88900"/>
              <a:ext cx="660400" cy="90421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a:grpSpLocks noChangeAspect="true"/>
          </p:cNvGrpSpPr>
          <p:nvPr/>
        </p:nvGrpSpPr>
        <p:grpSpPr>
          <a:xfrm rot="0">
            <a:off x="10614313" y="1459818"/>
            <a:ext cx="6270276" cy="6270276"/>
            <a:chOff x="0" y="0"/>
            <a:chExt cx="8916670" cy="8916670"/>
          </a:xfrm>
        </p:grpSpPr>
        <p:sp>
          <p:nvSpPr>
            <p:cNvPr name="Freeform 9" id="9"/>
            <p:cNvSpPr/>
            <p:nvPr/>
          </p:nvSpPr>
          <p:spPr>
            <a:xfrm flipH="false" flipV="false" rot="0">
              <a:off x="6350" y="6350"/>
              <a:ext cx="8903970" cy="8903970"/>
            </a:xfrm>
            <a:custGeom>
              <a:avLst/>
              <a:gdLst/>
              <a:ahLst/>
              <a:cxnLst/>
              <a:rect r="r" b="b" t="t" l="l"/>
              <a:pathLst>
                <a:path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sp>
        <p:sp>
          <p:nvSpPr>
            <p:cNvPr name="Freeform 10" id="10"/>
            <p:cNvSpPr/>
            <p:nvPr/>
          </p:nvSpPr>
          <p:spPr>
            <a:xfrm flipH="false" flipV="false" rot="0">
              <a:off x="154940" y="154940"/>
              <a:ext cx="8605520" cy="8605520"/>
            </a:xfrm>
            <a:custGeom>
              <a:avLst/>
              <a:gdLst/>
              <a:ahLst/>
              <a:cxnLst/>
              <a:rect r="r" b="b" t="t" l="l"/>
              <a:pathLst>
                <a:path h="8605520" w="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l="-25046" t="0" r="-25046" b="0"/>
              </a:stretch>
            </a:blipFill>
          </p:spPr>
        </p:sp>
      </p:grpSp>
      <p:sp>
        <p:nvSpPr>
          <p:cNvPr name="TextBox 11" id="11"/>
          <p:cNvSpPr txBox="true"/>
          <p:nvPr/>
        </p:nvSpPr>
        <p:spPr>
          <a:xfrm rot="0">
            <a:off x="1518345" y="3122239"/>
            <a:ext cx="8414772" cy="2851911"/>
          </a:xfrm>
          <a:prstGeom prst="rect">
            <a:avLst/>
          </a:prstGeom>
        </p:spPr>
        <p:txBody>
          <a:bodyPr anchor="t" rtlCol="false" tIns="0" lIns="0" bIns="0" rIns="0">
            <a:spAutoFit/>
          </a:bodyPr>
          <a:lstStyle/>
          <a:p>
            <a:pPr algn="l" marL="0" indent="0" lvl="0">
              <a:lnSpc>
                <a:spcPts val="2843"/>
              </a:lnSpc>
              <a:spcBef>
                <a:spcPct val="0"/>
              </a:spcBef>
            </a:pPr>
            <a:r>
              <a:rPr lang="en-US" sz="2030" spc="-40" strike="noStrike" u="none">
                <a:solidFill>
                  <a:srgbClr val="051D40"/>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p>
          <a:p>
            <a:pPr algn="l" marL="0" indent="0" lvl="0">
              <a:lnSpc>
                <a:spcPts val="2843"/>
              </a:lnSpc>
              <a:spcBef>
                <a:spcPct val="0"/>
              </a:spcBef>
            </a:pPr>
          </a:p>
          <a:p>
            <a:pPr algn="l" marL="0" indent="0" lvl="0">
              <a:lnSpc>
                <a:spcPts val="2843"/>
              </a:lnSpc>
              <a:spcBef>
                <a:spcPct val="0"/>
              </a:spcBef>
            </a:pPr>
            <a:r>
              <a:rPr lang="en-US" sz="2030" spc="-40" strike="noStrike" u="none">
                <a:solidFill>
                  <a:srgbClr val="051D40"/>
                </a:solidFill>
                <a:latin typeface="Poppins"/>
                <a:ea typeface="Poppins"/>
                <a:cs typeface="Poppins"/>
                <a:sym typeface="Poppins"/>
              </a:rPr>
              <a:t>Praesent vel felis quis mi pulvinar sagittis. Pellentesque viverra ipsum ante, in congue ante eleifend eget. Aenean tortor tellus, efficitur ac rhoncus et, eleifend sit amet mi. Sed ut lectus ac nibh molestie rhoncus.</a:t>
            </a:r>
          </a:p>
        </p:txBody>
      </p:sp>
      <p:sp>
        <p:nvSpPr>
          <p:cNvPr name="TextBox 12" id="12"/>
          <p:cNvSpPr txBox="true"/>
          <p:nvPr/>
        </p:nvSpPr>
        <p:spPr>
          <a:xfrm rot="0">
            <a:off x="1518345" y="2273750"/>
            <a:ext cx="4155745" cy="768902"/>
          </a:xfrm>
          <a:prstGeom prst="rect">
            <a:avLst/>
          </a:prstGeom>
        </p:spPr>
        <p:txBody>
          <a:bodyPr anchor="t" rtlCol="false" tIns="0" lIns="0" bIns="0" rIns="0">
            <a:spAutoFit/>
          </a:bodyPr>
          <a:lstStyle/>
          <a:p>
            <a:pPr algn="l">
              <a:lnSpc>
                <a:spcPts val="6300"/>
              </a:lnSpc>
              <a:spcBef>
                <a:spcPct val="0"/>
              </a:spcBef>
            </a:pPr>
            <a:r>
              <a:rPr lang="en-US" sz="4500">
                <a:solidFill>
                  <a:srgbClr val="051D40"/>
                </a:solidFill>
                <a:latin typeface="Open Sans Extra Bold"/>
                <a:ea typeface="Open Sans Extra Bold"/>
                <a:cs typeface="Open Sans Extra Bold"/>
                <a:sym typeface="Open Sans Extra Bold"/>
              </a:rPr>
              <a:t>About us</a:t>
            </a:r>
          </a:p>
        </p:txBody>
      </p:sp>
      <p:sp>
        <p:nvSpPr>
          <p:cNvPr name="TextBox 13" id="13"/>
          <p:cNvSpPr txBox="true"/>
          <p:nvPr/>
        </p:nvSpPr>
        <p:spPr>
          <a:xfrm rot="0">
            <a:off x="1518345" y="6854581"/>
            <a:ext cx="8414772" cy="1072943"/>
          </a:xfrm>
          <a:prstGeom prst="rect">
            <a:avLst/>
          </a:prstGeom>
        </p:spPr>
        <p:txBody>
          <a:bodyPr anchor="t" rtlCol="false" tIns="0" lIns="0" bIns="0" rIns="0">
            <a:spAutoFit/>
          </a:bodyPr>
          <a:lstStyle/>
          <a:p>
            <a:pPr algn="l" marL="0" indent="0" lvl="0">
              <a:lnSpc>
                <a:spcPts val="2843"/>
              </a:lnSpc>
              <a:spcBef>
                <a:spcPct val="0"/>
              </a:spcBef>
            </a:pPr>
            <a:r>
              <a:rPr lang="en-US" sz="2030" spc="-40" strike="noStrike" u="none">
                <a:solidFill>
                  <a:srgbClr val="051D40"/>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p>
        </p:txBody>
      </p:sp>
      <p:sp>
        <p:nvSpPr>
          <p:cNvPr name="TextBox 14" id="14"/>
          <p:cNvSpPr txBox="true"/>
          <p:nvPr/>
        </p:nvSpPr>
        <p:spPr>
          <a:xfrm rot="0">
            <a:off x="1518345" y="6353310"/>
            <a:ext cx="3724127" cy="425071"/>
          </a:xfrm>
          <a:prstGeom prst="rect">
            <a:avLst/>
          </a:prstGeom>
        </p:spPr>
        <p:txBody>
          <a:bodyPr anchor="t" rtlCol="false" tIns="0" lIns="0" bIns="0" rIns="0">
            <a:spAutoFit/>
          </a:bodyPr>
          <a:lstStyle/>
          <a:p>
            <a:pPr algn="l">
              <a:lnSpc>
                <a:spcPts val="3480"/>
              </a:lnSpc>
              <a:spcBef>
                <a:spcPct val="0"/>
              </a:spcBef>
            </a:pPr>
            <a:r>
              <a:rPr lang="en-US" sz="2486">
                <a:solidFill>
                  <a:srgbClr val="051D40"/>
                </a:solidFill>
                <a:latin typeface="Open Sans Extra Bold"/>
                <a:ea typeface="Open Sans Extra Bold"/>
                <a:cs typeface="Open Sans Extra Bold"/>
                <a:sym typeface="Open Sans Extra Bold"/>
              </a:rPr>
              <a:t>Company Overview</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0">
            <a:off x="232204" y="7686324"/>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sp>
        <p:nvSpPr>
          <p:cNvPr name="Freeform 3" id="3"/>
          <p:cNvSpPr/>
          <p:nvPr/>
        </p:nvSpPr>
        <p:spPr>
          <a:xfrm flipH="false" flipV="false" rot="0">
            <a:off x="6224860" y="7686324"/>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sp>
        <p:nvSpPr>
          <p:cNvPr name="Freeform 4" id="4"/>
          <p:cNvSpPr/>
          <p:nvPr/>
        </p:nvSpPr>
        <p:spPr>
          <a:xfrm flipH="false" flipV="false" rot="0">
            <a:off x="12213997" y="7686324"/>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grpSp>
        <p:nvGrpSpPr>
          <p:cNvPr name="Group 5" id="5"/>
          <p:cNvGrpSpPr/>
          <p:nvPr/>
        </p:nvGrpSpPr>
        <p:grpSpPr>
          <a:xfrm rot="0">
            <a:off x="12213997" y="3298645"/>
            <a:ext cx="5841799" cy="5146658"/>
            <a:chOff x="0" y="0"/>
            <a:chExt cx="1554321" cy="1369365"/>
          </a:xfrm>
        </p:grpSpPr>
        <p:sp>
          <p:nvSpPr>
            <p:cNvPr name="Freeform 6" id="6"/>
            <p:cNvSpPr/>
            <p:nvPr/>
          </p:nvSpPr>
          <p:spPr>
            <a:xfrm flipH="false" flipV="false" rot="0">
              <a:off x="0" y="0"/>
              <a:ext cx="1554321" cy="1369365"/>
            </a:xfrm>
            <a:custGeom>
              <a:avLst/>
              <a:gdLst/>
              <a:ahLst/>
              <a:cxnLst/>
              <a:rect r="r" b="b" t="t" l="l"/>
              <a:pathLst>
                <a:path h="1369365" w="1554321">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name="TextBox 7" id="7"/>
            <p:cNvSpPr txBox="true"/>
            <p:nvPr/>
          </p:nvSpPr>
          <p:spPr>
            <a:xfrm>
              <a:off x="0" y="-38100"/>
              <a:ext cx="1554321" cy="1407465"/>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8" id="8"/>
          <p:cNvGrpSpPr/>
          <p:nvPr/>
        </p:nvGrpSpPr>
        <p:grpSpPr>
          <a:xfrm rot="0">
            <a:off x="6224860" y="3298645"/>
            <a:ext cx="5841799" cy="5146658"/>
            <a:chOff x="0" y="0"/>
            <a:chExt cx="1554321" cy="1369365"/>
          </a:xfrm>
        </p:grpSpPr>
        <p:sp>
          <p:nvSpPr>
            <p:cNvPr name="Freeform 9" id="9"/>
            <p:cNvSpPr/>
            <p:nvPr/>
          </p:nvSpPr>
          <p:spPr>
            <a:xfrm flipH="false" flipV="false" rot="0">
              <a:off x="0" y="0"/>
              <a:ext cx="1554321" cy="1369365"/>
            </a:xfrm>
            <a:custGeom>
              <a:avLst/>
              <a:gdLst/>
              <a:ahLst/>
              <a:cxnLst/>
              <a:rect r="r" b="b" t="t" l="l"/>
              <a:pathLst>
                <a:path h="1369365" w="1554321">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name="TextBox 10" id="10"/>
            <p:cNvSpPr txBox="true"/>
            <p:nvPr/>
          </p:nvSpPr>
          <p:spPr>
            <a:xfrm>
              <a:off x="0" y="-38100"/>
              <a:ext cx="1554321" cy="1407465"/>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11" id="11"/>
          <p:cNvGrpSpPr/>
          <p:nvPr/>
        </p:nvGrpSpPr>
        <p:grpSpPr>
          <a:xfrm rot="0">
            <a:off x="232204" y="3298645"/>
            <a:ext cx="5841799" cy="5146658"/>
            <a:chOff x="0" y="0"/>
            <a:chExt cx="1554321" cy="1369365"/>
          </a:xfrm>
        </p:grpSpPr>
        <p:sp>
          <p:nvSpPr>
            <p:cNvPr name="Freeform 12" id="12"/>
            <p:cNvSpPr/>
            <p:nvPr/>
          </p:nvSpPr>
          <p:spPr>
            <a:xfrm flipH="false" flipV="false" rot="0">
              <a:off x="0" y="0"/>
              <a:ext cx="1554321" cy="1369365"/>
            </a:xfrm>
            <a:custGeom>
              <a:avLst/>
              <a:gdLst/>
              <a:ahLst/>
              <a:cxnLst/>
              <a:rect r="r" b="b" t="t" l="l"/>
              <a:pathLst>
                <a:path h="1369365" w="1554321">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name="TextBox 13" id="13"/>
            <p:cNvSpPr txBox="true"/>
            <p:nvPr/>
          </p:nvSpPr>
          <p:spPr>
            <a:xfrm>
              <a:off x="0" y="-38100"/>
              <a:ext cx="1554321" cy="1407465"/>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14" id="14"/>
          <p:cNvGrpSpPr/>
          <p:nvPr/>
        </p:nvGrpSpPr>
        <p:grpSpPr>
          <a:xfrm rot="0">
            <a:off x="-2123887" y="-2346523"/>
            <a:ext cx="4693046" cy="469304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5573718" y="7940477"/>
            <a:ext cx="4693046" cy="469304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a:grpSpLocks noChangeAspect="true"/>
          </p:cNvGrpSpPr>
          <p:nvPr/>
        </p:nvGrpSpPr>
        <p:grpSpPr>
          <a:xfrm rot="0">
            <a:off x="384604" y="3447950"/>
            <a:ext cx="5570690" cy="3133474"/>
            <a:chOff x="0" y="0"/>
            <a:chExt cx="11289030" cy="6350000"/>
          </a:xfrm>
        </p:grpSpPr>
        <p:sp>
          <p:nvSpPr>
            <p:cNvPr name="Freeform 21" id="21"/>
            <p:cNvSpPr/>
            <p:nvPr/>
          </p:nvSpPr>
          <p:spPr>
            <a:xfrm flipH="false" flipV="false" rot="0">
              <a:off x="0" y="0"/>
              <a:ext cx="11287761" cy="6350000"/>
            </a:xfrm>
            <a:custGeom>
              <a:avLst/>
              <a:gdLst/>
              <a:ahLst/>
              <a:cxnLst/>
              <a:rect r="r" b="b" t="t" l="l"/>
              <a:pathLst>
                <a:path h="6350000" w="11287761">
                  <a:moveTo>
                    <a:pt x="0" y="5824220"/>
                  </a:moveTo>
                  <a:lnTo>
                    <a:pt x="0" y="525780"/>
                  </a:lnTo>
                  <a:cubicBezTo>
                    <a:pt x="0" y="234950"/>
                    <a:pt x="234950" y="0"/>
                    <a:pt x="525780" y="0"/>
                  </a:cubicBezTo>
                  <a:lnTo>
                    <a:pt x="10761980" y="0"/>
                  </a:lnTo>
                  <a:cubicBezTo>
                    <a:pt x="11052811" y="0"/>
                    <a:pt x="11287761" y="234950"/>
                    <a:pt x="11287761" y="525780"/>
                  </a:cubicBezTo>
                  <a:lnTo>
                    <a:pt x="11287761" y="5822950"/>
                  </a:lnTo>
                  <a:cubicBezTo>
                    <a:pt x="11287761" y="6113780"/>
                    <a:pt x="11052811" y="6348730"/>
                    <a:pt x="10761980" y="6348730"/>
                  </a:cubicBezTo>
                  <a:lnTo>
                    <a:pt x="525780" y="6348730"/>
                  </a:lnTo>
                  <a:cubicBezTo>
                    <a:pt x="236220" y="6350000"/>
                    <a:pt x="0" y="6115050"/>
                    <a:pt x="0" y="5824220"/>
                  </a:cubicBezTo>
                  <a:cubicBezTo>
                    <a:pt x="0" y="5824220"/>
                    <a:pt x="0" y="5824220"/>
                    <a:pt x="0" y="5824220"/>
                  </a:cubicBezTo>
                  <a:close/>
                </a:path>
              </a:pathLst>
            </a:custGeom>
            <a:blipFill>
              <a:blip r:embed="rId3"/>
              <a:stretch>
                <a:fillRect l="0" t="-9339" r="0" b="-9339"/>
              </a:stretch>
            </a:blipFill>
          </p:spPr>
        </p:sp>
      </p:grpSp>
      <p:grpSp>
        <p:nvGrpSpPr>
          <p:cNvPr name="Group 22" id="22"/>
          <p:cNvGrpSpPr>
            <a:grpSpLocks noChangeAspect="true"/>
          </p:cNvGrpSpPr>
          <p:nvPr/>
        </p:nvGrpSpPr>
        <p:grpSpPr>
          <a:xfrm rot="0">
            <a:off x="6358655" y="3447950"/>
            <a:ext cx="5570690" cy="3133474"/>
            <a:chOff x="0" y="0"/>
            <a:chExt cx="11289030" cy="6350000"/>
          </a:xfrm>
        </p:grpSpPr>
        <p:sp>
          <p:nvSpPr>
            <p:cNvPr name="Freeform 23" id="23"/>
            <p:cNvSpPr/>
            <p:nvPr/>
          </p:nvSpPr>
          <p:spPr>
            <a:xfrm flipH="false" flipV="false" rot="0">
              <a:off x="0" y="0"/>
              <a:ext cx="11287761" cy="6350000"/>
            </a:xfrm>
            <a:custGeom>
              <a:avLst/>
              <a:gdLst/>
              <a:ahLst/>
              <a:cxnLst/>
              <a:rect r="r" b="b" t="t" l="l"/>
              <a:pathLst>
                <a:path h="6350000" w="11287761">
                  <a:moveTo>
                    <a:pt x="0" y="5824220"/>
                  </a:moveTo>
                  <a:lnTo>
                    <a:pt x="0" y="525780"/>
                  </a:lnTo>
                  <a:cubicBezTo>
                    <a:pt x="0" y="234950"/>
                    <a:pt x="234950" y="0"/>
                    <a:pt x="525780" y="0"/>
                  </a:cubicBezTo>
                  <a:lnTo>
                    <a:pt x="10761980" y="0"/>
                  </a:lnTo>
                  <a:cubicBezTo>
                    <a:pt x="11052811" y="0"/>
                    <a:pt x="11287761" y="234950"/>
                    <a:pt x="11287761" y="525780"/>
                  </a:cubicBezTo>
                  <a:lnTo>
                    <a:pt x="11287761" y="5822950"/>
                  </a:lnTo>
                  <a:cubicBezTo>
                    <a:pt x="11287761" y="6113780"/>
                    <a:pt x="11052811" y="6348730"/>
                    <a:pt x="10761980" y="6348730"/>
                  </a:cubicBezTo>
                  <a:lnTo>
                    <a:pt x="525780" y="6348730"/>
                  </a:lnTo>
                  <a:cubicBezTo>
                    <a:pt x="236220" y="6350000"/>
                    <a:pt x="0" y="6115050"/>
                    <a:pt x="0" y="5824220"/>
                  </a:cubicBezTo>
                  <a:cubicBezTo>
                    <a:pt x="0" y="5824220"/>
                    <a:pt x="0" y="5824220"/>
                    <a:pt x="0" y="5824220"/>
                  </a:cubicBezTo>
                  <a:close/>
                </a:path>
              </a:pathLst>
            </a:custGeom>
            <a:blipFill>
              <a:blip r:embed="rId4"/>
              <a:stretch>
                <a:fillRect l="0" t="-9061" r="0" b="-9061"/>
              </a:stretch>
            </a:blipFill>
          </p:spPr>
        </p:sp>
      </p:grpSp>
      <p:grpSp>
        <p:nvGrpSpPr>
          <p:cNvPr name="Group 24" id="24"/>
          <p:cNvGrpSpPr>
            <a:grpSpLocks noChangeAspect="true"/>
          </p:cNvGrpSpPr>
          <p:nvPr/>
        </p:nvGrpSpPr>
        <p:grpSpPr>
          <a:xfrm rot="0">
            <a:off x="12349552" y="3446286"/>
            <a:ext cx="5570690" cy="3133474"/>
            <a:chOff x="0" y="0"/>
            <a:chExt cx="11289030" cy="6350000"/>
          </a:xfrm>
        </p:grpSpPr>
        <p:sp>
          <p:nvSpPr>
            <p:cNvPr name="Freeform 25" id="25"/>
            <p:cNvSpPr/>
            <p:nvPr/>
          </p:nvSpPr>
          <p:spPr>
            <a:xfrm flipH="false" flipV="false" rot="0">
              <a:off x="0" y="0"/>
              <a:ext cx="11287761" cy="6350000"/>
            </a:xfrm>
            <a:custGeom>
              <a:avLst/>
              <a:gdLst/>
              <a:ahLst/>
              <a:cxnLst/>
              <a:rect r="r" b="b" t="t" l="l"/>
              <a:pathLst>
                <a:path h="6350000" w="11287761">
                  <a:moveTo>
                    <a:pt x="0" y="5824220"/>
                  </a:moveTo>
                  <a:lnTo>
                    <a:pt x="0" y="525780"/>
                  </a:lnTo>
                  <a:cubicBezTo>
                    <a:pt x="0" y="234950"/>
                    <a:pt x="234950" y="0"/>
                    <a:pt x="525780" y="0"/>
                  </a:cubicBezTo>
                  <a:lnTo>
                    <a:pt x="10761980" y="0"/>
                  </a:lnTo>
                  <a:cubicBezTo>
                    <a:pt x="11052811" y="0"/>
                    <a:pt x="11287761" y="234950"/>
                    <a:pt x="11287761" y="525780"/>
                  </a:cubicBezTo>
                  <a:lnTo>
                    <a:pt x="11287761" y="5822950"/>
                  </a:lnTo>
                  <a:cubicBezTo>
                    <a:pt x="11287761" y="6113780"/>
                    <a:pt x="11052811" y="6348730"/>
                    <a:pt x="10761980" y="6348730"/>
                  </a:cubicBezTo>
                  <a:lnTo>
                    <a:pt x="525780" y="6348730"/>
                  </a:lnTo>
                  <a:cubicBezTo>
                    <a:pt x="236220" y="6350000"/>
                    <a:pt x="0" y="6115050"/>
                    <a:pt x="0" y="5824220"/>
                  </a:cubicBezTo>
                  <a:cubicBezTo>
                    <a:pt x="0" y="5824220"/>
                    <a:pt x="0" y="5824220"/>
                    <a:pt x="0" y="5824220"/>
                  </a:cubicBezTo>
                  <a:close/>
                </a:path>
              </a:pathLst>
            </a:custGeom>
            <a:blipFill>
              <a:blip r:embed="rId5"/>
              <a:stretch>
                <a:fillRect l="0" t="-12895" r="0" b="-12895"/>
              </a:stretch>
            </a:blipFill>
          </p:spPr>
        </p:sp>
      </p:grpSp>
      <p:sp>
        <p:nvSpPr>
          <p:cNvPr name="TextBox 26" id="26"/>
          <p:cNvSpPr txBox="true"/>
          <p:nvPr/>
        </p:nvSpPr>
        <p:spPr>
          <a:xfrm rot="0">
            <a:off x="5417025" y="1886201"/>
            <a:ext cx="7453950" cy="879901"/>
          </a:xfrm>
          <a:prstGeom prst="rect">
            <a:avLst/>
          </a:prstGeom>
        </p:spPr>
        <p:txBody>
          <a:bodyPr anchor="t" rtlCol="false" tIns="0" lIns="0" bIns="0" rIns="0">
            <a:spAutoFit/>
          </a:bodyPr>
          <a:lstStyle/>
          <a:p>
            <a:pPr algn="ctr" marL="0" indent="0" lvl="0">
              <a:lnSpc>
                <a:spcPts val="7151"/>
              </a:lnSpc>
              <a:spcBef>
                <a:spcPct val="0"/>
              </a:spcBef>
            </a:pPr>
            <a:r>
              <a:rPr lang="en-US" sz="5108">
                <a:solidFill>
                  <a:srgbClr val="FDFDFD"/>
                </a:solidFill>
                <a:latin typeface="Open Sans Extra Bold"/>
                <a:ea typeface="Open Sans Extra Bold"/>
                <a:cs typeface="Open Sans Extra Bold"/>
                <a:sym typeface="Open Sans Extra Bold"/>
              </a:rPr>
              <a:t>Concept In Business</a:t>
            </a:r>
          </a:p>
        </p:txBody>
      </p:sp>
      <p:sp>
        <p:nvSpPr>
          <p:cNvPr name="TextBox 27" id="27"/>
          <p:cNvSpPr txBox="true"/>
          <p:nvPr/>
        </p:nvSpPr>
        <p:spPr>
          <a:xfrm rot="0">
            <a:off x="6495061" y="7135947"/>
            <a:ext cx="5297877" cy="1056256"/>
          </a:xfrm>
          <a:prstGeom prst="rect">
            <a:avLst/>
          </a:prstGeom>
        </p:spPr>
        <p:txBody>
          <a:bodyPr anchor="t" rtlCol="false" tIns="0" lIns="0" bIns="0" rIns="0">
            <a:spAutoFit/>
          </a:bodyPr>
          <a:lstStyle/>
          <a:p>
            <a:pPr algn="ctr" marL="0" indent="0" lvl="0">
              <a:lnSpc>
                <a:spcPts val="2145"/>
              </a:lnSpc>
              <a:spcBef>
                <a:spcPct val="0"/>
              </a:spcBef>
            </a:pPr>
            <a:r>
              <a:rPr lang="en-US" sz="1532" spc="-30" strike="noStrike" u="none">
                <a:solidFill>
                  <a:srgbClr val="051D40"/>
                </a:solidFill>
                <a:latin typeface="Poppins"/>
                <a:ea typeface="Poppins"/>
                <a:cs typeface="Poppins"/>
                <a:sym typeface="Poppins"/>
              </a:rPr>
              <a:t>Lorem ipsum dolor sit amet, consectetur adipiscing elit. Nullam laoreet risus fringilla, egestas elit a, consequat augue. Phasellus sollicitudin felis mi, quis egestas ex ornare sed sollicitudin. </a:t>
            </a:r>
          </a:p>
        </p:txBody>
      </p:sp>
      <p:sp>
        <p:nvSpPr>
          <p:cNvPr name="TextBox 28" id="28"/>
          <p:cNvSpPr txBox="true"/>
          <p:nvPr/>
        </p:nvSpPr>
        <p:spPr>
          <a:xfrm rot="0">
            <a:off x="12491020" y="7135947"/>
            <a:ext cx="5297877" cy="1056256"/>
          </a:xfrm>
          <a:prstGeom prst="rect">
            <a:avLst/>
          </a:prstGeom>
        </p:spPr>
        <p:txBody>
          <a:bodyPr anchor="t" rtlCol="false" tIns="0" lIns="0" bIns="0" rIns="0">
            <a:spAutoFit/>
          </a:bodyPr>
          <a:lstStyle/>
          <a:p>
            <a:pPr algn="ctr" marL="0" indent="0" lvl="0">
              <a:lnSpc>
                <a:spcPts val="2145"/>
              </a:lnSpc>
              <a:spcBef>
                <a:spcPct val="0"/>
              </a:spcBef>
            </a:pPr>
            <a:r>
              <a:rPr lang="en-US" sz="1532" spc="-30" strike="noStrike" u="none">
                <a:solidFill>
                  <a:srgbClr val="051D40"/>
                </a:solidFill>
                <a:latin typeface="Poppins"/>
                <a:ea typeface="Poppins"/>
                <a:cs typeface="Poppins"/>
                <a:sym typeface="Poppins"/>
              </a:rPr>
              <a:t>Lorem ipsum dolor sit amet, consectetur adipiscing elit. Nullam laoreet risus fringilla, egestas elit a, consequat augue. Phasellus sollicitudin felis mi, quis egestas ex ornare sed sollicitudin. </a:t>
            </a:r>
          </a:p>
        </p:txBody>
      </p:sp>
      <p:sp>
        <p:nvSpPr>
          <p:cNvPr name="TextBox 29" id="29"/>
          <p:cNvSpPr txBox="true"/>
          <p:nvPr/>
        </p:nvSpPr>
        <p:spPr>
          <a:xfrm rot="0">
            <a:off x="1714400" y="6659120"/>
            <a:ext cx="2877407" cy="389605"/>
          </a:xfrm>
          <a:prstGeom prst="rect">
            <a:avLst/>
          </a:prstGeom>
        </p:spPr>
        <p:txBody>
          <a:bodyPr anchor="t" rtlCol="false" tIns="0" lIns="0" bIns="0" rIns="0">
            <a:spAutoFit/>
          </a:bodyPr>
          <a:lstStyle/>
          <a:p>
            <a:pPr algn="ctr" marL="0" indent="0" lvl="0">
              <a:lnSpc>
                <a:spcPts val="3200"/>
              </a:lnSpc>
              <a:spcBef>
                <a:spcPct val="0"/>
              </a:spcBef>
            </a:pPr>
            <a:r>
              <a:rPr lang="en-US" b="true" sz="2286" strike="noStrike" u="none">
                <a:solidFill>
                  <a:srgbClr val="051D40"/>
                </a:solidFill>
                <a:latin typeface="Open Sans Extra Bold"/>
                <a:ea typeface="Open Sans Extra Bold"/>
                <a:cs typeface="Open Sans Extra Bold"/>
                <a:sym typeface="Open Sans Extra Bold"/>
              </a:rPr>
              <a:t>Software</a:t>
            </a:r>
          </a:p>
        </p:txBody>
      </p:sp>
      <p:sp>
        <p:nvSpPr>
          <p:cNvPr name="TextBox 30" id="30"/>
          <p:cNvSpPr txBox="true"/>
          <p:nvPr/>
        </p:nvSpPr>
        <p:spPr>
          <a:xfrm rot="0">
            <a:off x="7587049" y="6659120"/>
            <a:ext cx="2877407" cy="389605"/>
          </a:xfrm>
          <a:prstGeom prst="rect">
            <a:avLst/>
          </a:prstGeom>
        </p:spPr>
        <p:txBody>
          <a:bodyPr anchor="t" rtlCol="false" tIns="0" lIns="0" bIns="0" rIns="0">
            <a:spAutoFit/>
          </a:bodyPr>
          <a:lstStyle/>
          <a:p>
            <a:pPr algn="ctr" marL="0" indent="0" lvl="0">
              <a:lnSpc>
                <a:spcPts val="3200"/>
              </a:lnSpc>
              <a:spcBef>
                <a:spcPct val="0"/>
              </a:spcBef>
            </a:pPr>
            <a:r>
              <a:rPr lang="en-US" b="true" sz="2286" strike="noStrike" u="none">
                <a:solidFill>
                  <a:srgbClr val="051D40"/>
                </a:solidFill>
                <a:latin typeface="Open Sans Extra Bold"/>
                <a:ea typeface="Open Sans Extra Bold"/>
                <a:cs typeface="Open Sans Extra Bold"/>
                <a:sym typeface="Open Sans Extra Bold"/>
              </a:rPr>
              <a:t>IT consulting</a:t>
            </a:r>
          </a:p>
        </p:txBody>
      </p:sp>
      <p:sp>
        <p:nvSpPr>
          <p:cNvPr name="TextBox 31" id="31"/>
          <p:cNvSpPr txBox="true"/>
          <p:nvPr/>
        </p:nvSpPr>
        <p:spPr>
          <a:xfrm rot="0">
            <a:off x="13696193" y="6658289"/>
            <a:ext cx="2877407" cy="389605"/>
          </a:xfrm>
          <a:prstGeom prst="rect">
            <a:avLst/>
          </a:prstGeom>
        </p:spPr>
        <p:txBody>
          <a:bodyPr anchor="t" rtlCol="false" tIns="0" lIns="0" bIns="0" rIns="0">
            <a:spAutoFit/>
          </a:bodyPr>
          <a:lstStyle/>
          <a:p>
            <a:pPr algn="ctr" marL="0" indent="0" lvl="0">
              <a:lnSpc>
                <a:spcPts val="3200"/>
              </a:lnSpc>
              <a:spcBef>
                <a:spcPct val="0"/>
              </a:spcBef>
            </a:pPr>
            <a:r>
              <a:rPr lang="en-US" b="true" sz="2286" strike="noStrike" u="none">
                <a:solidFill>
                  <a:srgbClr val="051D40"/>
                </a:solidFill>
                <a:latin typeface="Open Sans Extra Bold"/>
                <a:ea typeface="Open Sans Extra Bold"/>
                <a:cs typeface="Open Sans Extra Bold"/>
                <a:sym typeface="Open Sans Extra Bold"/>
              </a:rPr>
              <a:t>Data analytics</a:t>
            </a:r>
          </a:p>
        </p:txBody>
      </p:sp>
      <p:sp>
        <p:nvSpPr>
          <p:cNvPr name="TextBox 32" id="32"/>
          <p:cNvSpPr txBox="true"/>
          <p:nvPr/>
        </p:nvSpPr>
        <p:spPr>
          <a:xfrm rot="0">
            <a:off x="521010" y="7135947"/>
            <a:ext cx="5297877" cy="1056256"/>
          </a:xfrm>
          <a:prstGeom prst="rect">
            <a:avLst/>
          </a:prstGeom>
        </p:spPr>
        <p:txBody>
          <a:bodyPr anchor="t" rtlCol="false" tIns="0" lIns="0" bIns="0" rIns="0">
            <a:spAutoFit/>
          </a:bodyPr>
          <a:lstStyle/>
          <a:p>
            <a:pPr algn="ctr" marL="0" indent="0" lvl="0">
              <a:lnSpc>
                <a:spcPts val="2145"/>
              </a:lnSpc>
              <a:spcBef>
                <a:spcPct val="0"/>
              </a:spcBef>
            </a:pPr>
            <a:r>
              <a:rPr lang="en-US" sz="1532" spc="-30" strike="noStrike" u="none">
                <a:solidFill>
                  <a:srgbClr val="051D40"/>
                </a:solidFill>
                <a:latin typeface="Poppins"/>
                <a:ea typeface="Poppins"/>
                <a:cs typeface="Poppins"/>
                <a:sym typeface="Poppins"/>
              </a:rPr>
              <a:t>Lorem ipsum dolor sit amet, consectetur adipiscing elit. Nullam laoreet risus fringilla, egestas elit a, consequat augue. Phasellus sollicitudin felis mi, quis egestas ex ornare sed sollicitudin.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656283"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007842"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3399437"/>
            <a:ext cx="6033363" cy="799078"/>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Open Sans Extra Bold"/>
                <a:ea typeface="Open Sans Extra Bold"/>
                <a:cs typeface="Open Sans Extra Bold"/>
                <a:sym typeface="Open Sans Extra Bold"/>
              </a:rPr>
              <a:t>Marketing Strategy</a:t>
            </a:r>
          </a:p>
        </p:txBody>
      </p:sp>
      <p:sp>
        <p:nvSpPr>
          <p:cNvPr name="TextBox 9" id="9"/>
          <p:cNvSpPr txBox="true"/>
          <p:nvPr/>
        </p:nvSpPr>
        <p:spPr>
          <a:xfrm rot="0">
            <a:off x="1028700" y="4421329"/>
            <a:ext cx="5885945" cy="2380509"/>
          </a:xfrm>
          <a:prstGeom prst="rect">
            <a:avLst/>
          </a:prstGeom>
        </p:spPr>
        <p:txBody>
          <a:bodyPr anchor="t" rtlCol="false" tIns="0" lIns="0" bIns="0" rIns="0">
            <a:spAutoFit/>
          </a:bodyPr>
          <a:lstStyle/>
          <a:p>
            <a:pPr algn="l">
              <a:lnSpc>
                <a:spcPts val="3122"/>
              </a:lnSpc>
            </a:pPr>
            <a:r>
              <a:rPr lang="en-US" sz="2230" spc="-44" strike="noStrike" u="none">
                <a:solidFill>
                  <a:srgbClr val="FDFDFD"/>
                </a:solidFill>
                <a:latin typeface="Poppins"/>
                <a:ea typeface="Poppins"/>
                <a:cs typeface="Poppins"/>
                <a:sym typeface="Poppins"/>
              </a:rPr>
              <a:t>Lorem ipsum dolor sit amet, consectetur adipiscing elit. Nullam laoreet risus fringilla, egestas elit a, consequat risus augue. Phasellus sollicitudin felis mi, risus quis egestas ex ornare sed quis adipiscing consectetur laoreet. </a:t>
            </a:r>
          </a:p>
        </p:txBody>
      </p:sp>
      <p:sp>
        <p:nvSpPr>
          <p:cNvPr name="Freeform 10" id="10"/>
          <p:cNvSpPr/>
          <p:nvPr/>
        </p:nvSpPr>
        <p:spPr>
          <a:xfrm flipH="false" flipV="false" rot="0">
            <a:off x="8618101" y="1767991"/>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1" id="11"/>
          <p:cNvSpPr txBox="true"/>
          <p:nvPr/>
        </p:nvSpPr>
        <p:spPr>
          <a:xfrm rot="0">
            <a:off x="10162447" y="1825672"/>
            <a:ext cx="5768345" cy="1261270"/>
          </a:xfrm>
          <a:prstGeom prst="rect">
            <a:avLst/>
          </a:prstGeom>
        </p:spPr>
        <p:txBody>
          <a:bodyPr anchor="t" rtlCol="false" tIns="0" lIns="0" bIns="0" rIns="0">
            <a:spAutoFit/>
          </a:bodyPr>
          <a:lstStyle/>
          <a:p>
            <a:pPr algn="l">
              <a:lnSpc>
                <a:spcPts val="2495"/>
              </a:lnSpc>
            </a:pPr>
            <a:r>
              <a:rPr lang="en-US" sz="1782" spc="-35" strike="noStrike" u="none">
                <a:solidFill>
                  <a:srgbClr val="145DA0"/>
                </a:solidFill>
                <a:latin typeface="Poppins"/>
                <a:ea typeface="Poppins"/>
                <a:cs typeface="Poppins"/>
                <a:sym typeface="Poppins"/>
              </a:rPr>
              <a:t>Lorem ipsum dolor sit amet, consectetur adipiscing elit. Nullam laoreet risus fringilla, egestas elit a, consequat augue. Phasellus sollicitudin felis mi, quis egestas ex ornare sed quis adipiscing. </a:t>
            </a:r>
          </a:p>
        </p:txBody>
      </p:sp>
      <p:sp>
        <p:nvSpPr>
          <p:cNvPr name="TextBox 12" id="12"/>
          <p:cNvSpPr txBox="true"/>
          <p:nvPr/>
        </p:nvSpPr>
        <p:spPr>
          <a:xfrm rot="0">
            <a:off x="8763159" y="2041203"/>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01</a:t>
            </a:r>
          </a:p>
        </p:txBody>
      </p:sp>
      <p:sp>
        <p:nvSpPr>
          <p:cNvPr name="Freeform 13" id="13"/>
          <p:cNvSpPr/>
          <p:nvPr/>
        </p:nvSpPr>
        <p:spPr>
          <a:xfrm flipH="false" flipV="false" rot="0">
            <a:off x="9144000" y="3541391"/>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4" id="14"/>
          <p:cNvSpPr txBox="true"/>
          <p:nvPr/>
        </p:nvSpPr>
        <p:spPr>
          <a:xfrm rot="0">
            <a:off x="10688346" y="3599072"/>
            <a:ext cx="5768345" cy="1261270"/>
          </a:xfrm>
          <a:prstGeom prst="rect">
            <a:avLst/>
          </a:prstGeom>
        </p:spPr>
        <p:txBody>
          <a:bodyPr anchor="t" rtlCol="false" tIns="0" lIns="0" bIns="0" rIns="0">
            <a:spAutoFit/>
          </a:bodyPr>
          <a:lstStyle/>
          <a:p>
            <a:pPr algn="l">
              <a:lnSpc>
                <a:spcPts val="2495"/>
              </a:lnSpc>
            </a:pPr>
            <a:r>
              <a:rPr lang="en-US" sz="1782" spc="-35" strike="noStrike" u="none">
                <a:solidFill>
                  <a:srgbClr val="145DA0"/>
                </a:solidFill>
                <a:latin typeface="Poppins"/>
                <a:ea typeface="Poppins"/>
                <a:cs typeface="Poppins"/>
                <a:sym typeface="Poppins"/>
              </a:rPr>
              <a:t>Lorem ipsum dolor sit amet, consectetur adipiscing elit. Nullam laoreet risus fringilla, egestas elit a, consequat augue. Phasellus sollicitudin felis mi, quis egestas ex ornare sed quis adipiscing. </a:t>
            </a:r>
          </a:p>
        </p:txBody>
      </p:sp>
      <p:sp>
        <p:nvSpPr>
          <p:cNvPr name="TextBox 15" id="15"/>
          <p:cNvSpPr txBox="true"/>
          <p:nvPr/>
        </p:nvSpPr>
        <p:spPr>
          <a:xfrm rot="0">
            <a:off x="9289058" y="3814603"/>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02</a:t>
            </a:r>
          </a:p>
        </p:txBody>
      </p:sp>
      <p:sp>
        <p:nvSpPr>
          <p:cNvPr name="Freeform 16" id="16"/>
          <p:cNvSpPr/>
          <p:nvPr/>
        </p:nvSpPr>
        <p:spPr>
          <a:xfrm flipH="false" flipV="false" rot="0">
            <a:off x="9144000" y="5318072"/>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7" id="17"/>
          <p:cNvSpPr txBox="true"/>
          <p:nvPr/>
        </p:nvSpPr>
        <p:spPr>
          <a:xfrm rot="0">
            <a:off x="10688346" y="5375752"/>
            <a:ext cx="5768345" cy="1261270"/>
          </a:xfrm>
          <a:prstGeom prst="rect">
            <a:avLst/>
          </a:prstGeom>
        </p:spPr>
        <p:txBody>
          <a:bodyPr anchor="t" rtlCol="false" tIns="0" lIns="0" bIns="0" rIns="0">
            <a:spAutoFit/>
          </a:bodyPr>
          <a:lstStyle/>
          <a:p>
            <a:pPr algn="l">
              <a:lnSpc>
                <a:spcPts val="2495"/>
              </a:lnSpc>
            </a:pPr>
            <a:r>
              <a:rPr lang="en-US" sz="1782" spc="-35" strike="noStrike" u="none">
                <a:solidFill>
                  <a:srgbClr val="145DA0"/>
                </a:solidFill>
                <a:latin typeface="Poppins"/>
                <a:ea typeface="Poppins"/>
                <a:cs typeface="Poppins"/>
                <a:sym typeface="Poppins"/>
              </a:rPr>
              <a:t>Lorem ipsum dolor sit amet, consectetur adipiscing elit. Nullam laoreet risus fringilla, egestas elit a, consequat augue. Phasellus sollicitudin felis mi, quis egestas ex ornare sed quis adipiscing. </a:t>
            </a:r>
          </a:p>
        </p:txBody>
      </p:sp>
      <p:sp>
        <p:nvSpPr>
          <p:cNvPr name="TextBox 18" id="18"/>
          <p:cNvSpPr txBox="true"/>
          <p:nvPr/>
        </p:nvSpPr>
        <p:spPr>
          <a:xfrm rot="0">
            <a:off x="9289058" y="5591284"/>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03</a:t>
            </a:r>
          </a:p>
        </p:txBody>
      </p:sp>
      <p:sp>
        <p:nvSpPr>
          <p:cNvPr name="Freeform 19" id="19"/>
          <p:cNvSpPr/>
          <p:nvPr/>
        </p:nvSpPr>
        <p:spPr>
          <a:xfrm flipH="false" flipV="false" rot="0">
            <a:off x="8618101" y="7094753"/>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20" id="20"/>
          <p:cNvSpPr txBox="true"/>
          <p:nvPr/>
        </p:nvSpPr>
        <p:spPr>
          <a:xfrm rot="0">
            <a:off x="10162447" y="7152433"/>
            <a:ext cx="5768345" cy="1261270"/>
          </a:xfrm>
          <a:prstGeom prst="rect">
            <a:avLst/>
          </a:prstGeom>
        </p:spPr>
        <p:txBody>
          <a:bodyPr anchor="t" rtlCol="false" tIns="0" lIns="0" bIns="0" rIns="0">
            <a:spAutoFit/>
          </a:bodyPr>
          <a:lstStyle/>
          <a:p>
            <a:pPr algn="l">
              <a:lnSpc>
                <a:spcPts val="2495"/>
              </a:lnSpc>
            </a:pPr>
            <a:r>
              <a:rPr lang="en-US" sz="1782" spc="-35" strike="noStrike" u="none">
                <a:solidFill>
                  <a:srgbClr val="145DA0"/>
                </a:solidFill>
                <a:latin typeface="Poppins"/>
                <a:ea typeface="Poppins"/>
                <a:cs typeface="Poppins"/>
                <a:sym typeface="Poppins"/>
              </a:rPr>
              <a:t>Lorem ipsum dolor sit amet, consectetur adipiscing elit. Nullam laoreet risus fringilla, egestas elit a, consequat augue. Phasellus sollicitudin felis mi, quis egestas ex ornare sed quis adipiscing. </a:t>
            </a:r>
          </a:p>
        </p:txBody>
      </p:sp>
      <p:sp>
        <p:nvSpPr>
          <p:cNvPr name="TextBox 21" id="21"/>
          <p:cNvSpPr txBox="true"/>
          <p:nvPr/>
        </p:nvSpPr>
        <p:spPr>
          <a:xfrm rot="0">
            <a:off x="8763159" y="7367965"/>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Open Sans Extra Bold"/>
                <a:ea typeface="Open Sans Extra Bold"/>
                <a:cs typeface="Open Sans Extra Bold"/>
                <a:sym typeface="Open Sans Extra Bold"/>
              </a:rPr>
              <a:t>04</a:t>
            </a:r>
          </a:p>
        </p:txBody>
      </p:sp>
      <p:grpSp>
        <p:nvGrpSpPr>
          <p:cNvPr name="Group 22" id="22"/>
          <p:cNvGrpSpPr/>
          <p:nvPr/>
        </p:nvGrpSpPr>
        <p:grpSpPr>
          <a:xfrm rot="0">
            <a:off x="7905455" y="2656032"/>
            <a:ext cx="373607" cy="37360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4" id="24"/>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25" id="25"/>
          <p:cNvGrpSpPr/>
          <p:nvPr/>
        </p:nvGrpSpPr>
        <p:grpSpPr>
          <a:xfrm rot="0">
            <a:off x="8315313" y="4180490"/>
            <a:ext cx="373607" cy="37360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7" id="27"/>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28" id="28"/>
          <p:cNvGrpSpPr/>
          <p:nvPr/>
        </p:nvGrpSpPr>
        <p:grpSpPr>
          <a:xfrm rot="0">
            <a:off x="7944228" y="7402839"/>
            <a:ext cx="373607" cy="373607"/>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30" id="3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31" id="31"/>
          <p:cNvGrpSpPr/>
          <p:nvPr/>
        </p:nvGrpSpPr>
        <p:grpSpPr>
          <a:xfrm rot="0">
            <a:off x="8309460" y="5760481"/>
            <a:ext cx="373607" cy="37360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33" id="3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8990215" y="810330"/>
            <a:ext cx="8541900" cy="8666340"/>
          </a:xfrm>
          <a:custGeom>
            <a:avLst/>
            <a:gdLst/>
            <a:ahLst/>
            <a:cxnLst/>
            <a:rect r="r" b="b" t="t" l="l"/>
            <a:pathLst>
              <a:path h="8666340" w="854190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2832861" y="810330"/>
            <a:ext cx="8541900" cy="8666340"/>
          </a:xfrm>
          <a:custGeom>
            <a:avLst/>
            <a:gdLst/>
            <a:ahLst/>
            <a:cxnLst/>
            <a:rect r="r" b="b" t="t" l="l"/>
            <a:pathLst>
              <a:path h="8666340" w="854190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3061529" y="2937389"/>
            <a:ext cx="12164941" cy="4412223"/>
            <a:chOff x="0" y="0"/>
            <a:chExt cx="3203935" cy="1162067"/>
          </a:xfrm>
        </p:grpSpPr>
        <p:sp>
          <p:nvSpPr>
            <p:cNvPr name="Freeform 6" id="6"/>
            <p:cNvSpPr/>
            <p:nvPr/>
          </p:nvSpPr>
          <p:spPr>
            <a:xfrm flipH="false" flipV="false" rot="0">
              <a:off x="0" y="0"/>
              <a:ext cx="3203935" cy="1162067"/>
            </a:xfrm>
            <a:custGeom>
              <a:avLst/>
              <a:gdLst/>
              <a:ahLst/>
              <a:cxnLst/>
              <a:rect r="r" b="b" t="t" l="l"/>
              <a:pathLst>
                <a:path h="1162067" w="3203935">
                  <a:moveTo>
                    <a:pt x="0" y="0"/>
                  </a:moveTo>
                  <a:lnTo>
                    <a:pt x="3203935" y="0"/>
                  </a:lnTo>
                  <a:lnTo>
                    <a:pt x="3203935" y="1162067"/>
                  </a:lnTo>
                  <a:lnTo>
                    <a:pt x="0" y="1162067"/>
                  </a:lnTo>
                  <a:close/>
                </a:path>
              </a:pathLst>
            </a:custGeom>
            <a:solidFill>
              <a:srgbClr val="145DA0"/>
            </a:solidFill>
            <a:ln w="38100" cap="sq">
              <a:solidFill>
                <a:srgbClr val="FFFFFF"/>
              </a:solidFill>
              <a:prstDash val="solid"/>
              <a:miter/>
            </a:ln>
          </p:spPr>
        </p:sp>
        <p:sp>
          <p:nvSpPr>
            <p:cNvPr name="TextBox 7" id="7"/>
            <p:cNvSpPr txBox="true"/>
            <p:nvPr/>
          </p:nvSpPr>
          <p:spPr>
            <a:xfrm>
              <a:off x="0" y="-38100"/>
              <a:ext cx="3203935" cy="1200167"/>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3332775" y="3267746"/>
            <a:ext cx="11622449" cy="2273103"/>
          </a:xfrm>
          <a:prstGeom prst="rect">
            <a:avLst/>
          </a:prstGeom>
        </p:spPr>
        <p:txBody>
          <a:bodyPr anchor="t" rtlCol="false" tIns="0" lIns="0" bIns="0" rIns="0">
            <a:spAutoFit/>
          </a:bodyPr>
          <a:lstStyle/>
          <a:p>
            <a:pPr algn="ctr" marL="0" indent="0" lvl="0">
              <a:lnSpc>
                <a:spcPts val="18560"/>
              </a:lnSpc>
              <a:spcBef>
                <a:spcPct val="0"/>
              </a:spcBef>
            </a:pPr>
            <a:r>
              <a:rPr lang="en-US" sz="13257">
                <a:solidFill>
                  <a:srgbClr val="FFFFFF"/>
                </a:solidFill>
                <a:latin typeface="Open Sans Extra Bold"/>
                <a:ea typeface="Open Sans Extra Bold"/>
                <a:cs typeface="Open Sans Extra Bold"/>
                <a:sym typeface="Open Sans Extra Bold"/>
              </a:rPr>
              <a:t>STATISTICS</a:t>
            </a:r>
          </a:p>
        </p:txBody>
      </p:sp>
      <p:sp>
        <p:nvSpPr>
          <p:cNvPr name="TextBox 9" id="9"/>
          <p:cNvSpPr txBox="true"/>
          <p:nvPr/>
        </p:nvSpPr>
        <p:spPr>
          <a:xfrm rot="0">
            <a:off x="4536264" y="5756824"/>
            <a:ext cx="9215471" cy="1101281"/>
          </a:xfrm>
          <a:prstGeom prst="rect">
            <a:avLst/>
          </a:prstGeom>
        </p:spPr>
        <p:txBody>
          <a:bodyPr anchor="t" rtlCol="false" tIns="0" lIns="0" bIns="0" rIns="0">
            <a:spAutoFit/>
          </a:bodyPr>
          <a:lstStyle/>
          <a:p>
            <a:pPr algn="ctr" marL="0" indent="0" lvl="0">
              <a:lnSpc>
                <a:spcPts val="2952"/>
              </a:lnSpc>
              <a:spcBef>
                <a:spcPct val="0"/>
              </a:spcBef>
            </a:pPr>
            <a:r>
              <a:rPr lang="en-US" sz="2108" spc="-42" strike="noStrike" u="none">
                <a:solidFill>
                  <a:srgbClr val="FFFFFF"/>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562879" y="6849670"/>
            <a:ext cx="3296071" cy="946825"/>
            <a:chOff x="0" y="0"/>
            <a:chExt cx="922973" cy="265132"/>
          </a:xfrm>
        </p:grpSpPr>
        <p:sp>
          <p:nvSpPr>
            <p:cNvPr name="Freeform 3" id="3"/>
            <p:cNvSpPr/>
            <p:nvPr/>
          </p:nvSpPr>
          <p:spPr>
            <a:xfrm flipH="false" flipV="false" rot="0">
              <a:off x="0" y="0"/>
              <a:ext cx="922973" cy="265132"/>
            </a:xfrm>
            <a:custGeom>
              <a:avLst/>
              <a:gdLst/>
              <a:ahLst/>
              <a:cxnLst/>
              <a:rect r="r" b="b" t="t" l="l"/>
              <a:pathLst>
                <a:path h="265132" w="922973">
                  <a:moveTo>
                    <a:pt x="0" y="0"/>
                  </a:moveTo>
                  <a:lnTo>
                    <a:pt x="922973" y="0"/>
                  </a:lnTo>
                  <a:lnTo>
                    <a:pt x="922973" y="265132"/>
                  </a:lnTo>
                  <a:lnTo>
                    <a:pt x="0" y="265132"/>
                  </a:lnTo>
                  <a:close/>
                </a:path>
              </a:pathLst>
            </a:custGeom>
            <a:solidFill>
              <a:srgbClr val="145DA0"/>
            </a:solidFill>
            <a:ln cap="sq">
              <a:noFill/>
              <a:prstDash val="solid"/>
              <a:miter/>
            </a:ln>
          </p:spPr>
        </p:sp>
        <p:sp>
          <p:nvSpPr>
            <p:cNvPr name="TextBox 4" id="4"/>
            <p:cNvSpPr txBox="true"/>
            <p:nvPr/>
          </p:nvSpPr>
          <p:spPr>
            <a:xfrm>
              <a:off x="0" y="-38100"/>
              <a:ext cx="922973" cy="30323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5506781" y="2267663"/>
            <a:ext cx="7274437" cy="771523"/>
          </a:xfrm>
          <a:prstGeom prst="rect">
            <a:avLst/>
          </a:prstGeom>
        </p:spPr>
        <p:txBody>
          <a:bodyPr anchor="t" rtlCol="false" tIns="0" lIns="0" bIns="0" rIns="0">
            <a:spAutoFit/>
          </a:bodyPr>
          <a:lstStyle/>
          <a:p>
            <a:pPr algn="ctr" marL="0" indent="0" lvl="0">
              <a:lnSpc>
                <a:spcPts val="6300"/>
              </a:lnSpc>
              <a:spcBef>
                <a:spcPct val="0"/>
              </a:spcBef>
            </a:pPr>
            <a:r>
              <a:rPr lang="en-US" sz="4500">
                <a:solidFill>
                  <a:srgbClr val="051D40"/>
                </a:solidFill>
                <a:latin typeface="Open Sans Extra Bold"/>
                <a:ea typeface="Open Sans Extra Bold"/>
                <a:cs typeface="Open Sans Extra Bold"/>
                <a:sym typeface="Open Sans Extra Bold"/>
              </a:rPr>
              <a:t>Our Team</a:t>
            </a:r>
          </a:p>
        </p:txBody>
      </p:sp>
      <p:sp>
        <p:nvSpPr>
          <p:cNvPr name="Freeform 6" id="6"/>
          <p:cNvSpPr/>
          <p:nvPr/>
        </p:nvSpPr>
        <p:spPr>
          <a:xfrm flipH="false" flipV="false" rot="0">
            <a:off x="562879" y="3688581"/>
            <a:ext cx="3296071" cy="3161089"/>
          </a:xfrm>
          <a:custGeom>
            <a:avLst/>
            <a:gdLst/>
            <a:ahLst/>
            <a:cxnLst/>
            <a:rect r="r" b="b" t="t" l="l"/>
            <a:pathLst>
              <a:path h="3161089" w="3296071">
                <a:moveTo>
                  <a:pt x="0" y="0"/>
                </a:moveTo>
                <a:lnTo>
                  <a:pt x="3296071" y="0"/>
                </a:lnTo>
                <a:lnTo>
                  <a:pt x="3296071" y="3161089"/>
                </a:lnTo>
                <a:lnTo>
                  <a:pt x="0" y="3161089"/>
                </a:lnTo>
                <a:lnTo>
                  <a:pt x="0" y="0"/>
                </a:lnTo>
                <a:close/>
              </a:path>
            </a:pathLst>
          </a:custGeom>
          <a:blipFill>
            <a:blip r:embed="rId2"/>
            <a:stretch>
              <a:fillRect l="-98485" t="-32705" r="-65463" b="-50660"/>
            </a:stretch>
          </a:blipFill>
        </p:spPr>
      </p:sp>
      <p:grpSp>
        <p:nvGrpSpPr>
          <p:cNvPr name="Group 7" id="7"/>
          <p:cNvGrpSpPr/>
          <p:nvPr/>
        </p:nvGrpSpPr>
        <p:grpSpPr>
          <a:xfrm rot="0">
            <a:off x="4030191" y="6849670"/>
            <a:ext cx="3296071" cy="946825"/>
            <a:chOff x="0" y="0"/>
            <a:chExt cx="922973" cy="265132"/>
          </a:xfrm>
        </p:grpSpPr>
        <p:sp>
          <p:nvSpPr>
            <p:cNvPr name="Freeform 8" id="8"/>
            <p:cNvSpPr/>
            <p:nvPr/>
          </p:nvSpPr>
          <p:spPr>
            <a:xfrm flipH="false" flipV="false" rot="0">
              <a:off x="0" y="0"/>
              <a:ext cx="922973" cy="265132"/>
            </a:xfrm>
            <a:custGeom>
              <a:avLst/>
              <a:gdLst/>
              <a:ahLst/>
              <a:cxnLst/>
              <a:rect r="r" b="b" t="t" l="l"/>
              <a:pathLst>
                <a:path h="265132" w="922973">
                  <a:moveTo>
                    <a:pt x="0" y="0"/>
                  </a:moveTo>
                  <a:lnTo>
                    <a:pt x="922973" y="0"/>
                  </a:lnTo>
                  <a:lnTo>
                    <a:pt x="922973" y="265132"/>
                  </a:lnTo>
                  <a:lnTo>
                    <a:pt x="0" y="265132"/>
                  </a:lnTo>
                  <a:close/>
                </a:path>
              </a:pathLst>
            </a:custGeom>
            <a:solidFill>
              <a:srgbClr val="145DA0"/>
            </a:solidFill>
            <a:ln cap="sq">
              <a:noFill/>
              <a:prstDash val="solid"/>
              <a:miter/>
            </a:ln>
          </p:spPr>
        </p:sp>
        <p:sp>
          <p:nvSpPr>
            <p:cNvPr name="TextBox 9" id="9"/>
            <p:cNvSpPr txBox="true"/>
            <p:nvPr/>
          </p:nvSpPr>
          <p:spPr>
            <a:xfrm>
              <a:off x="0" y="-38100"/>
              <a:ext cx="922973" cy="30323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4030191" y="3688581"/>
            <a:ext cx="3296071" cy="3161089"/>
          </a:xfrm>
          <a:custGeom>
            <a:avLst/>
            <a:gdLst/>
            <a:ahLst/>
            <a:cxnLst/>
            <a:rect r="r" b="b" t="t" l="l"/>
            <a:pathLst>
              <a:path h="3161089" w="3296071">
                <a:moveTo>
                  <a:pt x="0" y="0"/>
                </a:moveTo>
                <a:lnTo>
                  <a:pt x="3296071" y="0"/>
                </a:lnTo>
                <a:lnTo>
                  <a:pt x="3296071" y="3161089"/>
                </a:lnTo>
                <a:lnTo>
                  <a:pt x="0" y="3161089"/>
                </a:lnTo>
                <a:lnTo>
                  <a:pt x="0" y="0"/>
                </a:lnTo>
                <a:close/>
              </a:path>
            </a:pathLst>
          </a:custGeom>
          <a:blipFill>
            <a:blip r:embed="rId3"/>
            <a:stretch>
              <a:fillRect l="-38201" t="-39072" r="-124934" b="-272742"/>
            </a:stretch>
          </a:blipFill>
        </p:spPr>
      </p:sp>
      <p:grpSp>
        <p:nvGrpSpPr>
          <p:cNvPr name="Group 11" id="11"/>
          <p:cNvGrpSpPr/>
          <p:nvPr/>
        </p:nvGrpSpPr>
        <p:grpSpPr>
          <a:xfrm rot="0">
            <a:off x="7496477" y="6849670"/>
            <a:ext cx="3296071" cy="946825"/>
            <a:chOff x="0" y="0"/>
            <a:chExt cx="922973" cy="265132"/>
          </a:xfrm>
        </p:grpSpPr>
        <p:sp>
          <p:nvSpPr>
            <p:cNvPr name="Freeform 12" id="12"/>
            <p:cNvSpPr/>
            <p:nvPr/>
          </p:nvSpPr>
          <p:spPr>
            <a:xfrm flipH="false" flipV="false" rot="0">
              <a:off x="0" y="0"/>
              <a:ext cx="922973" cy="265132"/>
            </a:xfrm>
            <a:custGeom>
              <a:avLst/>
              <a:gdLst/>
              <a:ahLst/>
              <a:cxnLst/>
              <a:rect r="r" b="b" t="t" l="l"/>
              <a:pathLst>
                <a:path h="265132" w="922973">
                  <a:moveTo>
                    <a:pt x="0" y="0"/>
                  </a:moveTo>
                  <a:lnTo>
                    <a:pt x="922973" y="0"/>
                  </a:lnTo>
                  <a:lnTo>
                    <a:pt x="922973" y="265132"/>
                  </a:lnTo>
                  <a:lnTo>
                    <a:pt x="0" y="265132"/>
                  </a:lnTo>
                  <a:close/>
                </a:path>
              </a:pathLst>
            </a:custGeom>
            <a:solidFill>
              <a:srgbClr val="145DA0"/>
            </a:solidFill>
            <a:ln cap="sq">
              <a:noFill/>
              <a:prstDash val="solid"/>
              <a:miter/>
            </a:ln>
          </p:spPr>
        </p:sp>
        <p:sp>
          <p:nvSpPr>
            <p:cNvPr name="TextBox 13" id="13"/>
            <p:cNvSpPr txBox="true"/>
            <p:nvPr/>
          </p:nvSpPr>
          <p:spPr>
            <a:xfrm>
              <a:off x="0" y="-38100"/>
              <a:ext cx="922973" cy="30323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7496477" y="3688581"/>
            <a:ext cx="3296071" cy="3161089"/>
          </a:xfrm>
          <a:custGeom>
            <a:avLst/>
            <a:gdLst/>
            <a:ahLst/>
            <a:cxnLst/>
            <a:rect r="r" b="b" t="t" l="l"/>
            <a:pathLst>
              <a:path h="3161089" w="3296071">
                <a:moveTo>
                  <a:pt x="0" y="0"/>
                </a:moveTo>
                <a:lnTo>
                  <a:pt x="3296071" y="0"/>
                </a:lnTo>
                <a:lnTo>
                  <a:pt x="3296071" y="3161089"/>
                </a:lnTo>
                <a:lnTo>
                  <a:pt x="0" y="3161089"/>
                </a:lnTo>
                <a:lnTo>
                  <a:pt x="0" y="0"/>
                </a:lnTo>
                <a:close/>
              </a:path>
            </a:pathLst>
          </a:custGeom>
          <a:blipFill>
            <a:blip r:embed="rId4"/>
            <a:stretch>
              <a:fillRect l="-74976" t="-14653" r="-21860" b="-22089"/>
            </a:stretch>
          </a:blipFill>
        </p:spPr>
      </p:sp>
      <p:grpSp>
        <p:nvGrpSpPr>
          <p:cNvPr name="Group 15" id="15"/>
          <p:cNvGrpSpPr/>
          <p:nvPr/>
        </p:nvGrpSpPr>
        <p:grpSpPr>
          <a:xfrm rot="0">
            <a:off x="10962764" y="6849670"/>
            <a:ext cx="3296071" cy="946825"/>
            <a:chOff x="0" y="0"/>
            <a:chExt cx="922973" cy="265132"/>
          </a:xfrm>
        </p:grpSpPr>
        <p:sp>
          <p:nvSpPr>
            <p:cNvPr name="Freeform 16" id="16"/>
            <p:cNvSpPr/>
            <p:nvPr/>
          </p:nvSpPr>
          <p:spPr>
            <a:xfrm flipH="false" flipV="false" rot="0">
              <a:off x="0" y="0"/>
              <a:ext cx="922973" cy="265132"/>
            </a:xfrm>
            <a:custGeom>
              <a:avLst/>
              <a:gdLst/>
              <a:ahLst/>
              <a:cxnLst/>
              <a:rect r="r" b="b" t="t" l="l"/>
              <a:pathLst>
                <a:path h="265132" w="922973">
                  <a:moveTo>
                    <a:pt x="0" y="0"/>
                  </a:moveTo>
                  <a:lnTo>
                    <a:pt x="922973" y="0"/>
                  </a:lnTo>
                  <a:lnTo>
                    <a:pt x="922973" y="265132"/>
                  </a:lnTo>
                  <a:lnTo>
                    <a:pt x="0" y="265132"/>
                  </a:lnTo>
                  <a:close/>
                </a:path>
              </a:pathLst>
            </a:custGeom>
            <a:solidFill>
              <a:srgbClr val="145DA0"/>
            </a:solidFill>
            <a:ln cap="sq">
              <a:noFill/>
              <a:prstDash val="solid"/>
              <a:miter/>
            </a:ln>
          </p:spPr>
        </p:sp>
        <p:sp>
          <p:nvSpPr>
            <p:cNvPr name="TextBox 17" id="17"/>
            <p:cNvSpPr txBox="true"/>
            <p:nvPr/>
          </p:nvSpPr>
          <p:spPr>
            <a:xfrm>
              <a:off x="0" y="-38100"/>
              <a:ext cx="922973" cy="30323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8" id="18"/>
          <p:cNvSpPr/>
          <p:nvPr/>
        </p:nvSpPr>
        <p:spPr>
          <a:xfrm flipH="false" flipV="false" rot="0">
            <a:off x="10962764" y="3688581"/>
            <a:ext cx="3296071" cy="3161089"/>
          </a:xfrm>
          <a:custGeom>
            <a:avLst/>
            <a:gdLst/>
            <a:ahLst/>
            <a:cxnLst/>
            <a:rect r="r" b="b" t="t" l="l"/>
            <a:pathLst>
              <a:path h="3161089" w="3296071">
                <a:moveTo>
                  <a:pt x="0" y="0"/>
                </a:moveTo>
                <a:lnTo>
                  <a:pt x="3296070" y="0"/>
                </a:lnTo>
                <a:lnTo>
                  <a:pt x="3296070" y="3161089"/>
                </a:lnTo>
                <a:lnTo>
                  <a:pt x="0" y="3161089"/>
                </a:lnTo>
                <a:lnTo>
                  <a:pt x="0" y="0"/>
                </a:lnTo>
                <a:close/>
              </a:path>
            </a:pathLst>
          </a:custGeom>
          <a:blipFill>
            <a:blip r:embed="rId5"/>
            <a:stretch>
              <a:fillRect l="-66994" t="-7055" r="-50600" b="-44107"/>
            </a:stretch>
          </a:blipFill>
        </p:spPr>
      </p:sp>
      <p:grpSp>
        <p:nvGrpSpPr>
          <p:cNvPr name="Group 19" id="19"/>
          <p:cNvGrpSpPr/>
          <p:nvPr/>
        </p:nvGrpSpPr>
        <p:grpSpPr>
          <a:xfrm rot="0">
            <a:off x="14429050" y="6849670"/>
            <a:ext cx="3296071" cy="946825"/>
            <a:chOff x="0" y="0"/>
            <a:chExt cx="922973" cy="265132"/>
          </a:xfrm>
        </p:grpSpPr>
        <p:sp>
          <p:nvSpPr>
            <p:cNvPr name="Freeform 20" id="20"/>
            <p:cNvSpPr/>
            <p:nvPr/>
          </p:nvSpPr>
          <p:spPr>
            <a:xfrm flipH="false" flipV="false" rot="0">
              <a:off x="0" y="0"/>
              <a:ext cx="922973" cy="265132"/>
            </a:xfrm>
            <a:custGeom>
              <a:avLst/>
              <a:gdLst/>
              <a:ahLst/>
              <a:cxnLst/>
              <a:rect r="r" b="b" t="t" l="l"/>
              <a:pathLst>
                <a:path h="265132" w="922973">
                  <a:moveTo>
                    <a:pt x="0" y="0"/>
                  </a:moveTo>
                  <a:lnTo>
                    <a:pt x="922973" y="0"/>
                  </a:lnTo>
                  <a:lnTo>
                    <a:pt x="922973" y="265132"/>
                  </a:lnTo>
                  <a:lnTo>
                    <a:pt x="0" y="265132"/>
                  </a:lnTo>
                  <a:close/>
                </a:path>
              </a:pathLst>
            </a:custGeom>
            <a:solidFill>
              <a:srgbClr val="145DA0"/>
            </a:solidFill>
            <a:ln cap="sq">
              <a:noFill/>
              <a:prstDash val="solid"/>
              <a:miter/>
            </a:ln>
          </p:spPr>
        </p:sp>
        <p:sp>
          <p:nvSpPr>
            <p:cNvPr name="TextBox 21" id="21"/>
            <p:cNvSpPr txBox="true"/>
            <p:nvPr/>
          </p:nvSpPr>
          <p:spPr>
            <a:xfrm>
              <a:off x="0" y="-38100"/>
              <a:ext cx="922973" cy="30323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2" id="22"/>
          <p:cNvSpPr/>
          <p:nvPr/>
        </p:nvSpPr>
        <p:spPr>
          <a:xfrm flipH="false" flipV="false" rot="0">
            <a:off x="14429050" y="3688581"/>
            <a:ext cx="3296071" cy="3161089"/>
          </a:xfrm>
          <a:custGeom>
            <a:avLst/>
            <a:gdLst/>
            <a:ahLst/>
            <a:cxnLst/>
            <a:rect r="r" b="b" t="t" l="l"/>
            <a:pathLst>
              <a:path h="3161089" w="3296071">
                <a:moveTo>
                  <a:pt x="0" y="0"/>
                </a:moveTo>
                <a:lnTo>
                  <a:pt x="3296071" y="0"/>
                </a:lnTo>
                <a:lnTo>
                  <a:pt x="3296071" y="3161089"/>
                </a:lnTo>
                <a:lnTo>
                  <a:pt x="0" y="3161089"/>
                </a:lnTo>
                <a:lnTo>
                  <a:pt x="0" y="0"/>
                </a:lnTo>
                <a:close/>
              </a:path>
            </a:pathLst>
          </a:custGeom>
          <a:blipFill>
            <a:blip r:embed="rId6"/>
            <a:stretch>
              <a:fillRect l="0" t="-28251" r="0" b="-28251"/>
            </a:stretch>
          </a:blipFill>
        </p:spPr>
      </p:sp>
      <p:sp>
        <p:nvSpPr>
          <p:cNvPr name="TextBox 23" id="23"/>
          <p:cNvSpPr txBox="true"/>
          <p:nvPr/>
        </p:nvSpPr>
        <p:spPr>
          <a:xfrm rot="0">
            <a:off x="890191" y="6962323"/>
            <a:ext cx="2641447" cy="375591"/>
          </a:xfrm>
          <a:prstGeom prst="rect">
            <a:avLst/>
          </a:prstGeom>
        </p:spPr>
        <p:txBody>
          <a:bodyPr anchor="t" rtlCol="false" tIns="0" lIns="0" bIns="0" rIns="0">
            <a:spAutoFit/>
          </a:bodyPr>
          <a:lstStyle/>
          <a:p>
            <a:pPr algn="ctr">
              <a:lnSpc>
                <a:spcPts val="2923"/>
              </a:lnSpc>
            </a:pPr>
            <a:r>
              <a:rPr lang="en-US" b="true" sz="2087" spc="39">
                <a:solidFill>
                  <a:srgbClr val="FDFDFD"/>
                </a:solidFill>
                <a:latin typeface="Poppins Bold"/>
                <a:ea typeface="Poppins Bold"/>
                <a:cs typeface="Poppins Bold"/>
                <a:sym typeface="Poppins Bold"/>
              </a:rPr>
              <a:t>Aaron Loeb</a:t>
            </a:r>
          </a:p>
        </p:txBody>
      </p:sp>
      <p:sp>
        <p:nvSpPr>
          <p:cNvPr name="TextBox 24" id="24"/>
          <p:cNvSpPr txBox="true"/>
          <p:nvPr/>
        </p:nvSpPr>
        <p:spPr>
          <a:xfrm rot="0">
            <a:off x="890191" y="7333651"/>
            <a:ext cx="2641447" cy="283516"/>
          </a:xfrm>
          <a:prstGeom prst="rect">
            <a:avLst/>
          </a:prstGeom>
        </p:spPr>
        <p:txBody>
          <a:bodyPr anchor="t" rtlCol="false" tIns="0" lIns="0" bIns="0" rIns="0">
            <a:spAutoFit/>
          </a:bodyPr>
          <a:lstStyle/>
          <a:p>
            <a:pPr algn="ctr">
              <a:lnSpc>
                <a:spcPts val="2223"/>
              </a:lnSpc>
            </a:pPr>
            <a:r>
              <a:rPr lang="en-US" sz="1587" spc="-31">
                <a:solidFill>
                  <a:srgbClr val="FDFDFD"/>
                </a:solidFill>
                <a:latin typeface="Poppins"/>
                <a:ea typeface="Poppins"/>
                <a:cs typeface="Poppins"/>
                <a:sym typeface="Poppins"/>
              </a:rPr>
              <a:t>CEO &amp; Founder</a:t>
            </a:r>
          </a:p>
        </p:txBody>
      </p:sp>
      <p:sp>
        <p:nvSpPr>
          <p:cNvPr name="TextBox 25" id="25"/>
          <p:cNvSpPr txBox="true"/>
          <p:nvPr/>
        </p:nvSpPr>
        <p:spPr>
          <a:xfrm rot="0">
            <a:off x="4357503" y="6962323"/>
            <a:ext cx="2641447" cy="375591"/>
          </a:xfrm>
          <a:prstGeom prst="rect">
            <a:avLst/>
          </a:prstGeom>
        </p:spPr>
        <p:txBody>
          <a:bodyPr anchor="t" rtlCol="false" tIns="0" lIns="0" bIns="0" rIns="0">
            <a:spAutoFit/>
          </a:bodyPr>
          <a:lstStyle/>
          <a:p>
            <a:pPr algn="ctr">
              <a:lnSpc>
                <a:spcPts val="2923"/>
              </a:lnSpc>
            </a:pPr>
            <a:r>
              <a:rPr lang="en-US" b="true" sz="2087" spc="39">
                <a:solidFill>
                  <a:srgbClr val="FDFDFD"/>
                </a:solidFill>
                <a:latin typeface="Poppins Bold"/>
                <a:ea typeface="Poppins Bold"/>
                <a:cs typeface="Poppins Bold"/>
                <a:sym typeface="Poppins Bold"/>
              </a:rPr>
              <a:t>Alfredo Torres</a:t>
            </a:r>
          </a:p>
        </p:txBody>
      </p:sp>
      <p:sp>
        <p:nvSpPr>
          <p:cNvPr name="TextBox 26" id="26"/>
          <p:cNvSpPr txBox="true"/>
          <p:nvPr/>
        </p:nvSpPr>
        <p:spPr>
          <a:xfrm rot="0">
            <a:off x="4357503" y="7333651"/>
            <a:ext cx="2641447" cy="283516"/>
          </a:xfrm>
          <a:prstGeom prst="rect">
            <a:avLst/>
          </a:prstGeom>
        </p:spPr>
        <p:txBody>
          <a:bodyPr anchor="t" rtlCol="false" tIns="0" lIns="0" bIns="0" rIns="0">
            <a:spAutoFit/>
          </a:bodyPr>
          <a:lstStyle/>
          <a:p>
            <a:pPr algn="ctr">
              <a:lnSpc>
                <a:spcPts val="2223"/>
              </a:lnSpc>
            </a:pPr>
            <a:r>
              <a:rPr lang="en-US" sz="1587" spc="-31">
                <a:solidFill>
                  <a:srgbClr val="FDFDFD"/>
                </a:solidFill>
                <a:latin typeface="Poppins"/>
                <a:ea typeface="Poppins"/>
                <a:cs typeface="Poppins"/>
                <a:sym typeface="Poppins"/>
              </a:rPr>
              <a:t>Project manager</a:t>
            </a:r>
          </a:p>
        </p:txBody>
      </p:sp>
      <p:sp>
        <p:nvSpPr>
          <p:cNvPr name="TextBox 27" id="27"/>
          <p:cNvSpPr txBox="true"/>
          <p:nvPr/>
        </p:nvSpPr>
        <p:spPr>
          <a:xfrm rot="0">
            <a:off x="7823789" y="6962323"/>
            <a:ext cx="2641447" cy="375591"/>
          </a:xfrm>
          <a:prstGeom prst="rect">
            <a:avLst/>
          </a:prstGeom>
        </p:spPr>
        <p:txBody>
          <a:bodyPr anchor="t" rtlCol="false" tIns="0" lIns="0" bIns="0" rIns="0">
            <a:spAutoFit/>
          </a:bodyPr>
          <a:lstStyle/>
          <a:p>
            <a:pPr algn="ctr">
              <a:lnSpc>
                <a:spcPts val="2923"/>
              </a:lnSpc>
            </a:pPr>
            <a:r>
              <a:rPr lang="en-US" b="true" sz="2087" spc="39">
                <a:solidFill>
                  <a:srgbClr val="FDFDFD"/>
                </a:solidFill>
                <a:latin typeface="Poppins Bold"/>
                <a:ea typeface="Poppins Bold"/>
                <a:cs typeface="Poppins Bold"/>
                <a:sym typeface="Poppins Bold"/>
              </a:rPr>
              <a:t>Juliana Silva</a:t>
            </a:r>
          </a:p>
        </p:txBody>
      </p:sp>
      <p:sp>
        <p:nvSpPr>
          <p:cNvPr name="TextBox 28" id="28"/>
          <p:cNvSpPr txBox="true"/>
          <p:nvPr/>
        </p:nvSpPr>
        <p:spPr>
          <a:xfrm rot="0">
            <a:off x="7823789" y="7333651"/>
            <a:ext cx="2641447" cy="283516"/>
          </a:xfrm>
          <a:prstGeom prst="rect">
            <a:avLst/>
          </a:prstGeom>
        </p:spPr>
        <p:txBody>
          <a:bodyPr anchor="t" rtlCol="false" tIns="0" lIns="0" bIns="0" rIns="0">
            <a:spAutoFit/>
          </a:bodyPr>
          <a:lstStyle/>
          <a:p>
            <a:pPr algn="ctr">
              <a:lnSpc>
                <a:spcPts val="2223"/>
              </a:lnSpc>
            </a:pPr>
            <a:r>
              <a:rPr lang="en-US" sz="1587" spc="-31">
                <a:solidFill>
                  <a:srgbClr val="FDFDFD"/>
                </a:solidFill>
                <a:latin typeface="Poppins"/>
                <a:ea typeface="Poppins"/>
                <a:cs typeface="Poppins"/>
                <a:sym typeface="Poppins"/>
              </a:rPr>
              <a:t>CEO &amp; Founder</a:t>
            </a:r>
          </a:p>
        </p:txBody>
      </p:sp>
      <p:sp>
        <p:nvSpPr>
          <p:cNvPr name="TextBox 29" id="29"/>
          <p:cNvSpPr txBox="true"/>
          <p:nvPr/>
        </p:nvSpPr>
        <p:spPr>
          <a:xfrm rot="0">
            <a:off x="11290076" y="6962323"/>
            <a:ext cx="2641447" cy="375591"/>
          </a:xfrm>
          <a:prstGeom prst="rect">
            <a:avLst/>
          </a:prstGeom>
        </p:spPr>
        <p:txBody>
          <a:bodyPr anchor="t" rtlCol="false" tIns="0" lIns="0" bIns="0" rIns="0">
            <a:spAutoFit/>
          </a:bodyPr>
          <a:lstStyle/>
          <a:p>
            <a:pPr algn="ctr">
              <a:lnSpc>
                <a:spcPts val="2923"/>
              </a:lnSpc>
            </a:pPr>
            <a:r>
              <a:rPr lang="en-US" b="true" sz="2087" spc="39">
                <a:solidFill>
                  <a:srgbClr val="FDFDFD"/>
                </a:solidFill>
                <a:latin typeface="Poppins Bold"/>
                <a:ea typeface="Poppins Bold"/>
                <a:cs typeface="Poppins Bold"/>
                <a:sym typeface="Poppins Bold"/>
              </a:rPr>
              <a:t>Daniel Gallego</a:t>
            </a:r>
          </a:p>
        </p:txBody>
      </p:sp>
      <p:sp>
        <p:nvSpPr>
          <p:cNvPr name="TextBox 30" id="30"/>
          <p:cNvSpPr txBox="true"/>
          <p:nvPr/>
        </p:nvSpPr>
        <p:spPr>
          <a:xfrm rot="0">
            <a:off x="11290076" y="7333651"/>
            <a:ext cx="2641447" cy="283516"/>
          </a:xfrm>
          <a:prstGeom prst="rect">
            <a:avLst/>
          </a:prstGeom>
        </p:spPr>
        <p:txBody>
          <a:bodyPr anchor="t" rtlCol="false" tIns="0" lIns="0" bIns="0" rIns="0">
            <a:spAutoFit/>
          </a:bodyPr>
          <a:lstStyle/>
          <a:p>
            <a:pPr algn="ctr">
              <a:lnSpc>
                <a:spcPts val="2223"/>
              </a:lnSpc>
            </a:pPr>
            <a:r>
              <a:rPr lang="en-US" sz="1587" spc="-31">
                <a:solidFill>
                  <a:srgbClr val="FDFDFD"/>
                </a:solidFill>
                <a:latin typeface="Poppins"/>
                <a:ea typeface="Poppins"/>
                <a:cs typeface="Poppins"/>
                <a:sym typeface="Poppins"/>
              </a:rPr>
              <a:t>IT Expert</a:t>
            </a:r>
          </a:p>
        </p:txBody>
      </p:sp>
      <p:sp>
        <p:nvSpPr>
          <p:cNvPr name="TextBox 31" id="31"/>
          <p:cNvSpPr txBox="true"/>
          <p:nvPr/>
        </p:nvSpPr>
        <p:spPr>
          <a:xfrm rot="0">
            <a:off x="14754134" y="6962323"/>
            <a:ext cx="2641447" cy="375591"/>
          </a:xfrm>
          <a:prstGeom prst="rect">
            <a:avLst/>
          </a:prstGeom>
        </p:spPr>
        <p:txBody>
          <a:bodyPr anchor="t" rtlCol="false" tIns="0" lIns="0" bIns="0" rIns="0">
            <a:spAutoFit/>
          </a:bodyPr>
          <a:lstStyle/>
          <a:p>
            <a:pPr algn="ctr">
              <a:lnSpc>
                <a:spcPts val="2923"/>
              </a:lnSpc>
            </a:pPr>
            <a:r>
              <a:rPr lang="en-US" b="true" sz="2087" spc="39">
                <a:solidFill>
                  <a:srgbClr val="FDFDFD"/>
                </a:solidFill>
                <a:latin typeface="Poppins Bold"/>
                <a:ea typeface="Poppins Bold"/>
                <a:cs typeface="Poppins Bold"/>
                <a:sym typeface="Poppins Bold"/>
              </a:rPr>
              <a:t>Olivia Wilson</a:t>
            </a:r>
          </a:p>
        </p:txBody>
      </p:sp>
      <p:sp>
        <p:nvSpPr>
          <p:cNvPr name="TextBox 32" id="32"/>
          <p:cNvSpPr txBox="true"/>
          <p:nvPr/>
        </p:nvSpPr>
        <p:spPr>
          <a:xfrm rot="0">
            <a:off x="14754134" y="7333651"/>
            <a:ext cx="2641447" cy="283516"/>
          </a:xfrm>
          <a:prstGeom prst="rect">
            <a:avLst/>
          </a:prstGeom>
        </p:spPr>
        <p:txBody>
          <a:bodyPr anchor="t" rtlCol="false" tIns="0" lIns="0" bIns="0" rIns="0">
            <a:spAutoFit/>
          </a:bodyPr>
          <a:lstStyle/>
          <a:p>
            <a:pPr algn="ctr">
              <a:lnSpc>
                <a:spcPts val="2223"/>
              </a:lnSpc>
            </a:pPr>
            <a:r>
              <a:rPr lang="en-US" sz="1587" spc="-31">
                <a:solidFill>
                  <a:srgbClr val="FDFDFD"/>
                </a:solidFill>
                <a:latin typeface="Poppins"/>
                <a:ea typeface="Poppins"/>
                <a:cs typeface="Poppins"/>
                <a:sym typeface="Poppins"/>
              </a:rPr>
              <a:t>Marketing Head</a:t>
            </a:r>
          </a:p>
        </p:txBody>
      </p:sp>
      <p:grpSp>
        <p:nvGrpSpPr>
          <p:cNvPr name="Group 33" id="33"/>
          <p:cNvGrpSpPr/>
          <p:nvPr/>
        </p:nvGrpSpPr>
        <p:grpSpPr>
          <a:xfrm rot="0">
            <a:off x="-1766494" y="9340175"/>
            <a:ext cx="21820987" cy="946825"/>
            <a:chOff x="0" y="0"/>
            <a:chExt cx="6110362" cy="265132"/>
          </a:xfrm>
        </p:grpSpPr>
        <p:sp>
          <p:nvSpPr>
            <p:cNvPr name="Freeform 34" id="34"/>
            <p:cNvSpPr/>
            <p:nvPr/>
          </p:nvSpPr>
          <p:spPr>
            <a:xfrm flipH="false" flipV="false" rot="0">
              <a:off x="0" y="0"/>
              <a:ext cx="6110362" cy="265132"/>
            </a:xfrm>
            <a:custGeom>
              <a:avLst/>
              <a:gdLst/>
              <a:ahLst/>
              <a:cxnLst/>
              <a:rect r="r" b="b" t="t" l="l"/>
              <a:pathLst>
                <a:path h="265132" w="6110362">
                  <a:moveTo>
                    <a:pt x="0" y="0"/>
                  </a:moveTo>
                  <a:lnTo>
                    <a:pt x="6110362" y="0"/>
                  </a:lnTo>
                  <a:lnTo>
                    <a:pt x="6110362" y="265132"/>
                  </a:lnTo>
                  <a:lnTo>
                    <a:pt x="0" y="265132"/>
                  </a:lnTo>
                  <a:close/>
                </a:path>
              </a:pathLst>
            </a:custGeom>
            <a:solidFill>
              <a:srgbClr val="145DA0"/>
            </a:solidFill>
            <a:ln cap="sq">
              <a:noFill/>
              <a:prstDash val="solid"/>
              <a:miter/>
            </a:ln>
          </p:spPr>
        </p:sp>
        <p:sp>
          <p:nvSpPr>
            <p:cNvPr name="TextBox 35" id="35"/>
            <p:cNvSpPr txBox="true"/>
            <p:nvPr/>
          </p:nvSpPr>
          <p:spPr>
            <a:xfrm>
              <a:off x="0" y="-38100"/>
              <a:ext cx="6110362" cy="30323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6" id="36"/>
          <p:cNvGrpSpPr/>
          <p:nvPr/>
        </p:nvGrpSpPr>
        <p:grpSpPr>
          <a:xfrm rot="0">
            <a:off x="-1766494" y="-816076"/>
            <a:ext cx="21820987" cy="1762900"/>
            <a:chOff x="0" y="0"/>
            <a:chExt cx="6110362" cy="493651"/>
          </a:xfrm>
        </p:grpSpPr>
        <p:sp>
          <p:nvSpPr>
            <p:cNvPr name="Freeform 37" id="37"/>
            <p:cNvSpPr/>
            <p:nvPr/>
          </p:nvSpPr>
          <p:spPr>
            <a:xfrm flipH="false" flipV="false" rot="0">
              <a:off x="0" y="0"/>
              <a:ext cx="6110362" cy="493651"/>
            </a:xfrm>
            <a:custGeom>
              <a:avLst/>
              <a:gdLst/>
              <a:ahLst/>
              <a:cxnLst/>
              <a:rect r="r" b="b" t="t" l="l"/>
              <a:pathLst>
                <a:path h="493651" w="6110362">
                  <a:moveTo>
                    <a:pt x="0" y="0"/>
                  </a:moveTo>
                  <a:lnTo>
                    <a:pt x="6110362" y="0"/>
                  </a:lnTo>
                  <a:lnTo>
                    <a:pt x="6110362" y="493651"/>
                  </a:lnTo>
                  <a:lnTo>
                    <a:pt x="0" y="493651"/>
                  </a:lnTo>
                  <a:close/>
                </a:path>
              </a:pathLst>
            </a:custGeom>
            <a:solidFill>
              <a:srgbClr val="145DA0"/>
            </a:solidFill>
            <a:ln cap="sq">
              <a:noFill/>
              <a:prstDash val="solid"/>
              <a:miter/>
            </a:ln>
          </p:spPr>
        </p:sp>
        <p:sp>
          <p:nvSpPr>
            <p:cNvPr name="TextBox 38" id="38"/>
            <p:cNvSpPr txBox="true"/>
            <p:nvPr/>
          </p:nvSpPr>
          <p:spPr>
            <a:xfrm>
              <a:off x="0" y="-38100"/>
              <a:ext cx="6110362" cy="531751"/>
            </a:xfrm>
            <a:prstGeom prst="rect">
              <a:avLst/>
            </a:prstGeom>
          </p:spPr>
          <p:txBody>
            <a:bodyPr anchor="ctr" rtlCol="false" tIns="50800" lIns="50800" bIns="50800" rIns="50800"/>
            <a:lstStyle/>
            <a:p>
              <a:pPr algn="ctr" marL="0" indent="0" lvl="0">
                <a:lnSpc>
                  <a:spcPts val="2659"/>
                </a:lnSpc>
                <a:spcBef>
                  <a:spcPct val="0"/>
                </a:spcBef>
              </a:pP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2818366" y="2485326"/>
            <a:ext cx="8819592" cy="1771491"/>
          </a:xfrm>
          <a:prstGeom prst="rect">
            <a:avLst/>
          </a:prstGeom>
        </p:spPr>
        <p:txBody>
          <a:bodyPr anchor="t" rtlCol="false" tIns="0" lIns="0" bIns="0" rIns="0">
            <a:spAutoFit/>
          </a:bodyPr>
          <a:lstStyle/>
          <a:p>
            <a:pPr algn="l" marL="0" indent="0" lvl="0">
              <a:lnSpc>
                <a:spcPts val="14510"/>
              </a:lnSpc>
              <a:spcBef>
                <a:spcPct val="0"/>
              </a:spcBef>
            </a:pPr>
            <a:r>
              <a:rPr lang="en-US" sz="10364">
                <a:solidFill>
                  <a:srgbClr val="051D40"/>
                </a:solidFill>
                <a:latin typeface="Open Sans Extra Bold"/>
                <a:ea typeface="Open Sans Extra Bold"/>
                <a:cs typeface="Open Sans Extra Bold"/>
                <a:sym typeface="Open Sans Extra Bold"/>
              </a:rPr>
              <a:t>THANK YOU!</a:t>
            </a:r>
          </a:p>
        </p:txBody>
      </p:sp>
      <p:grpSp>
        <p:nvGrpSpPr>
          <p:cNvPr name="Group 3" id="3"/>
          <p:cNvGrpSpPr>
            <a:grpSpLocks noChangeAspect="true"/>
          </p:cNvGrpSpPr>
          <p:nvPr/>
        </p:nvGrpSpPr>
        <p:grpSpPr>
          <a:xfrm rot="0">
            <a:off x="2818366" y="4807681"/>
            <a:ext cx="2706695" cy="2696122"/>
            <a:chOff x="0" y="0"/>
            <a:chExt cx="6502400" cy="6477000"/>
          </a:xfrm>
        </p:grpSpPr>
        <p:sp>
          <p:nvSpPr>
            <p:cNvPr name="Freeform 4" id="4"/>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2"/>
              <a:stretch>
                <a:fillRect l="-54206" t="-5913" r="-31031" b="-18052"/>
              </a:stretch>
            </a:blipFill>
          </p:spPr>
        </p:sp>
        <p:sp>
          <p:nvSpPr>
            <p:cNvPr name="Freeform 5" id="5"/>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145DA0"/>
            </a:solidFill>
          </p:spPr>
        </p:sp>
      </p:grpSp>
      <p:sp>
        <p:nvSpPr>
          <p:cNvPr name="Freeform 6" id="6"/>
          <p:cNvSpPr/>
          <p:nvPr/>
        </p:nvSpPr>
        <p:spPr>
          <a:xfrm flipH="false" flipV="false" rot="0">
            <a:off x="5736916" y="5778432"/>
            <a:ext cx="399176" cy="399176"/>
          </a:xfrm>
          <a:custGeom>
            <a:avLst/>
            <a:gdLst/>
            <a:ahLst/>
            <a:cxnLst/>
            <a:rect r="r" b="b" t="t" l="l"/>
            <a:pathLst>
              <a:path h="399176" w="399176">
                <a:moveTo>
                  <a:pt x="0" y="0"/>
                </a:moveTo>
                <a:lnTo>
                  <a:pt x="399175" y="0"/>
                </a:lnTo>
                <a:lnTo>
                  <a:pt x="399175" y="399175"/>
                </a:lnTo>
                <a:lnTo>
                  <a:pt x="0" y="399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736916" y="6339014"/>
            <a:ext cx="399176" cy="399176"/>
          </a:xfrm>
          <a:custGeom>
            <a:avLst/>
            <a:gdLst/>
            <a:ahLst/>
            <a:cxnLst/>
            <a:rect r="r" b="b" t="t" l="l"/>
            <a:pathLst>
              <a:path h="399176" w="399176">
                <a:moveTo>
                  <a:pt x="0" y="0"/>
                </a:moveTo>
                <a:lnTo>
                  <a:pt x="399175" y="0"/>
                </a:lnTo>
                <a:lnTo>
                  <a:pt x="399175" y="399176"/>
                </a:lnTo>
                <a:lnTo>
                  <a:pt x="0" y="3991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8" id="8"/>
          <p:cNvSpPr/>
          <p:nvPr/>
        </p:nvSpPr>
        <p:spPr>
          <a:xfrm flipH="false" flipV="false" rot="0">
            <a:off x="5736916" y="6907158"/>
            <a:ext cx="399176" cy="399176"/>
          </a:xfrm>
          <a:custGeom>
            <a:avLst/>
            <a:gdLst/>
            <a:ahLst/>
            <a:cxnLst/>
            <a:rect r="r" b="b" t="t" l="l"/>
            <a:pathLst>
              <a:path h="399176" w="399176">
                <a:moveTo>
                  <a:pt x="0" y="0"/>
                </a:moveTo>
                <a:lnTo>
                  <a:pt x="399175" y="0"/>
                </a:lnTo>
                <a:lnTo>
                  <a:pt x="399175" y="399176"/>
                </a:lnTo>
                <a:lnTo>
                  <a:pt x="0" y="3991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9" id="9"/>
          <p:cNvSpPr/>
          <p:nvPr/>
        </p:nvSpPr>
        <p:spPr>
          <a:xfrm flipH="false" flipV="false" rot="0">
            <a:off x="12398912" y="967949"/>
            <a:ext cx="5889088" cy="8229600"/>
          </a:xfrm>
          <a:custGeom>
            <a:avLst/>
            <a:gdLst/>
            <a:ahLst/>
            <a:cxnLst/>
            <a:rect r="r" b="b" t="t" l="l"/>
            <a:pathLst>
              <a:path h="8229600" w="5889088">
                <a:moveTo>
                  <a:pt x="0" y="0"/>
                </a:moveTo>
                <a:lnTo>
                  <a:pt x="5889088" y="0"/>
                </a:lnTo>
                <a:lnTo>
                  <a:pt x="5889088" y="8229600"/>
                </a:lnTo>
                <a:lnTo>
                  <a:pt x="0" y="8229600"/>
                </a:lnTo>
                <a:lnTo>
                  <a:pt x="0" y="0"/>
                </a:lnTo>
                <a:close/>
              </a:path>
            </a:pathLst>
          </a:custGeom>
          <a:blipFill>
            <a:blip r:embed="rId9"/>
            <a:stretch>
              <a:fillRect l="0" t="-3703" r="0" b="-3703"/>
            </a:stretch>
          </a:blipFill>
        </p:spPr>
      </p:sp>
      <p:sp>
        <p:nvSpPr>
          <p:cNvPr name="TextBox 10" id="10"/>
          <p:cNvSpPr txBox="true"/>
          <p:nvPr/>
        </p:nvSpPr>
        <p:spPr>
          <a:xfrm rot="0">
            <a:off x="5736916" y="4723541"/>
            <a:ext cx="3747646" cy="515647"/>
          </a:xfrm>
          <a:prstGeom prst="rect">
            <a:avLst/>
          </a:prstGeom>
        </p:spPr>
        <p:txBody>
          <a:bodyPr anchor="t" rtlCol="false" tIns="0" lIns="0" bIns="0" rIns="0">
            <a:spAutoFit/>
          </a:bodyPr>
          <a:lstStyle/>
          <a:p>
            <a:pPr algn="l" marL="0" indent="0" lvl="1">
              <a:lnSpc>
                <a:spcPts val="4050"/>
              </a:lnSpc>
              <a:spcBef>
                <a:spcPct val="0"/>
              </a:spcBef>
            </a:pPr>
            <a:r>
              <a:rPr lang="en-US" b="true" sz="2893" spc="-57">
                <a:solidFill>
                  <a:srgbClr val="145DA0"/>
                </a:solidFill>
                <a:latin typeface="Poppins Bold"/>
                <a:ea typeface="Poppins Bold"/>
                <a:cs typeface="Poppins Bold"/>
                <a:sym typeface="Poppins Bold"/>
              </a:rPr>
              <a:t>Aaron Loeb</a:t>
            </a:r>
          </a:p>
        </p:txBody>
      </p:sp>
      <p:sp>
        <p:nvSpPr>
          <p:cNvPr name="TextBox 11" id="11"/>
          <p:cNvSpPr txBox="true"/>
          <p:nvPr/>
        </p:nvSpPr>
        <p:spPr>
          <a:xfrm rot="0">
            <a:off x="5763347" y="5250366"/>
            <a:ext cx="4069598" cy="332477"/>
          </a:xfrm>
          <a:prstGeom prst="rect">
            <a:avLst/>
          </a:prstGeom>
        </p:spPr>
        <p:txBody>
          <a:bodyPr anchor="t" rtlCol="false" tIns="0" lIns="0" bIns="0" rIns="0">
            <a:spAutoFit/>
          </a:bodyPr>
          <a:lstStyle/>
          <a:p>
            <a:pPr algn="l" marL="0" indent="0" lvl="1">
              <a:lnSpc>
                <a:spcPts val="2674"/>
              </a:lnSpc>
              <a:spcBef>
                <a:spcPct val="0"/>
              </a:spcBef>
            </a:pPr>
            <a:r>
              <a:rPr lang="en-US" sz="1910" spc="-38">
                <a:solidFill>
                  <a:srgbClr val="145DA0"/>
                </a:solidFill>
                <a:latin typeface="Poppins"/>
                <a:ea typeface="Poppins"/>
                <a:cs typeface="Poppins"/>
                <a:sym typeface="Poppins"/>
              </a:rPr>
              <a:t>CEO &amp; Founder</a:t>
            </a:r>
          </a:p>
        </p:txBody>
      </p:sp>
      <p:sp>
        <p:nvSpPr>
          <p:cNvPr name="TextBox 12" id="12"/>
          <p:cNvSpPr txBox="true"/>
          <p:nvPr/>
        </p:nvSpPr>
        <p:spPr>
          <a:xfrm rot="0">
            <a:off x="6273438" y="6281864"/>
            <a:ext cx="3788059" cy="325492"/>
          </a:xfrm>
          <a:prstGeom prst="rect">
            <a:avLst/>
          </a:prstGeom>
        </p:spPr>
        <p:txBody>
          <a:bodyPr anchor="t" rtlCol="false" tIns="0" lIns="0" bIns="0" rIns="0">
            <a:spAutoFit/>
          </a:bodyPr>
          <a:lstStyle/>
          <a:p>
            <a:pPr algn="l" marL="0" indent="0" lvl="1">
              <a:lnSpc>
                <a:spcPts val="2534"/>
              </a:lnSpc>
              <a:spcBef>
                <a:spcPct val="0"/>
              </a:spcBef>
            </a:pPr>
            <a:r>
              <a:rPr lang="en-US" sz="1810" spc="-36">
                <a:solidFill>
                  <a:srgbClr val="145DA0"/>
                </a:solidFill>
                <a:latin typeface="Poppins"/>
                <a:ea typeface="Poppins"/>
                <a:cs typeface="Poppins"/>
                <a:sym typeface="Poppins"/>
              </a:rPr>
              <a:t>www.reallygreatsite.com</a:t>
            </a:r>
          </a:p>
        </p:txBody>
      </p:sp>
      <p:sp>
        <p:nvSpPr>
          <p:cNvPr name="TextBox 13" id="13"/>
          <p:cNvSpPr txBox="true"/>
          <p:nvPr/>
        </p:nvSpPr>
        <p:spPr>
          <a:xfrm rot="0">
            <a:off x="6273438" y="6905490"/>
            <a:ext cx="3788059" cy="639817"/>
          </a:xfrm>
          <a:prstGeom prst="rect">
            <a:avLst/>
          </a:prstGeom>
        </p:spPr>
        <p:txBody>
          <a:bodyPr anchor="t" rtlCol="false" tIns="0" lIns="0" bIns="0" rIns="0">
            <a:spAutoFit/>
          </a:bodyPr>
          <a:lstStyle/>
          <a:p>
            <a:pPr algn="l" marL="0" indent="0" lvl="1">
              <a:lnSpc>
                <a:spcPts val="2534"/>
              </a:lnSpc>
              <a:spcBef>
                <a:spcPct val="0"/>
              </a:spcBef>
            </a:pPr>
            <a:r>
              <a:rPr lang="en-US" sz="1810" spc="-36">
                <a:solidFill>
                  <a:srgbClr val="145DA0"/>
                </a:solidFill>
                <a:latin typeface="Poppins"/>
                <a:ea typeface="Poppins"/>
                <a:cs typeface="Poppins"/>
                <a:sym typeface="Poppins"/>
              </a:rPr>
              <a:t>123 Anywhere St., Any City, State, Country 12345</a:t>
            </a:r>
          </a:p>
        </p:txBody>
      </p:sp>
      <p:sp>
        <p:nvSpPr>
          <p:cNvPr name="TextBox 14" id="14"/>
          <p:cNvSpPr txBox="true"/>
          <p:nvPr/>
        </p:nvSpPr>
        <p:spPr>
          <a:xfrm rot="0">
            <a:off x="6273438" y="5761462"/>
            <a:ext cx="3559508" cy="325492"/>
          </a:xfrm>
          <a:prstGeom prst="rect">
            <a:avLst/>
          </a:prstGeom>
        </p:spPr>
        <p:txBody>
          <a:bodyPr anchor="t" rtlCol="false" tIns="0" lIns="0" bIns="0" rIns="0">
            <a:spAutoFit/>
          </a:bodyPr>
          <a:lstStyle/>
          <a:p>
            <a:pPr algn="l" marL="0" indent="0" lvl="1">
              <a:lnSpc>
                <a:spcPts val="2534"/>
              </a:lnSpc>
              <a:spcBef>
                <a:spcPct val="0"/>
              </a:spcBef>
            </a:pPr>
            <a:r>
              <a:rPr lang="en-US" sz="1810" spc="-36">
                <a:solidFill>
                  <a:srgbClr val="145DA0"/>
                </a:solidFill>
                <a:latin typeface="Poppins"/>
                <a:ea typeface="Poppins"/>
                <a:cs typeface="Poppins"/>
                <a:sym typeface="Poppins"/>
              </a:rPr>
              <a:t>+123-456-7890</a:t>
            </a:r>
          </a:p>
        </p:txBody>
      </p:sp>
      <p:grpSp>
        <p:nvGrpSpPr>
          <p:cNvPr name="Group 15" id="15"/>
          <p:cNvGrpSpPr/>
          <p:nvPr/>
        </p:nvGrpSpPr>
        <p:grpSpPr>
          <a:xfrm rot="0">
            <a:off x="12398912" y="0"/>
            <a:ext cx="5889088" cy="756959"/>
            <a:chOff x="0" y="0"/>
            <a:chExt cx="1551036" cy="199364"/>
          </a:xfrm>
        </p:grpSpPr>
        <p:sp>
          <p:nvSpPr>
            <p:cNvPr name="Freeform 16" id="16"/>
            <p:cNvSpPr/>
            <p:nvPr/>
          </p:nvSpPr>
          <p:spPr>
            <a:xfrm flipH="false" flipV="false" rot="0">
              <a:off x="0" y="0"/>
              <a:ext cx="1551036" cy="199364"/>
            </a:xfrm>
            <a:custGeom>
              <a:avLst/>
              <a:gdLst/>
              <a:ahLst/>
              <a:cxnLst/>
              <a:rect r="r" b="b" t="t" l="l"/>
              <a:pathLst>
                <a:path h="199364" w="1551036">
                  <a:moveTo>
                    <a:pt x="0" y="0"/>
                  </a:moveTo>
                  <a:lnTo>
                    <a:pt x="1551036" y="0"/>
                  </a:lnTo>
                  <a:lnTo>
                    <a:pt x="1551036" y="199364"/>
                  </a:lnTo>
                  <a:lnTo>
                    <a:pt x="0" y="199364"/>
                  </a:lnTo>
                  <a:close/>
                </a:path>
              </a:pathLst>
            </a:custGeom>
            <a:solidFill>
              <a:srgbClr val="5B98BA"/>
            </a:solidFill>
            <a:ln cap="sq">
              <a:noFill/>
              <a:prstDash val="solid"/>
              <a:miter/>
            </a:ln>
          </p:spPr>
        </p:sp>
        <p:sp>
          <p:nvSpPr>
            <p:cNvPr name="TextBox 17" id="17"/>
            <p:cNvSpPr txBox="true"/>
            <p:nvPr/>
          </p:nvSpPr>
          <p:spPr>
            <a:xfrm>
              <a:off x="0" y="-38100"/>
              <a:ext cx="1551036" cy="237464"/>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2398912" y="9530041"/>
            <a:ext cx="5889088" cy="756959"/>
            <a:chOff x="0" y="0"/>
            <a:chExt cx="1551036" cy="199364"/>
          </a:xfrm>
        </p:grpSpPr>
        <p:sp>
          <p:nvSpPr>
            <p:cNvPr name="Freeform 19" id="19"/>
            <p:cNvSpPr/>
            <p:nvPr/>
          </p:nvSpPr>
          <p:spPr>
            <a:xfrm flipH="false" flipV="false" rot="0">
              <a:off x="0" y="0"/>
              <a:ext cx="1551036" cy="199364"/>
            </a:xfrm>
            <a:custGeom>
              <a:avLst/>
              <a:gdLst/>
              <a:ahLst/>
              <a:cxnLst/>
              <a:rect r="r" b="b" t="t" l="l"/>
              <a:pathLst>
                <a:path h="199364" w="1551036">
                  <a:moveTo>
                    <a:pt x="0" y="0"/>
                  </a:moveTo>
                  <a:lnTo>
                    <a:pt x="1551036" y="0"/>
                  </a:lnTo>
                  <a:lnTo>
                    <a:pt x="1551036" y="199364"/>
                  </a:lnTo>
                  <a:lnTo>
                    <a:pt x="0" y="199364"/>
                  </a:lnTo>
                  <a:close/>
                </a:path>
              </a:pathLst>
            </a:custGeom>
            <a:solidFill>
              <a:srgbClr val="5B98BA"/>
            </a:solidFill>
            <a:ln cap="sq">
              <a:noFill/>
              <a:prstDash val="solid"/>
              <a:miter/>
            </a:ln>
          </p:spPr>
        </p:sp>
        <p:sp>
          <p:nvSpPr>
            <p:cNvPr name="TextBox 20" id="20"/>
            <p:cNvSpPr txBox="true"/>
            <p:nvPr/>
          </p:nvSpPr>
          <p:spPr>
            <a:xfrm>
              <a:off x="0" y="-38100"/>
              <a:ext cx="1551036" cy="237464"/>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4925441" y="3609788"/>
            <a:ext cx="9392643" cy="9529477"/>
          </a:xfrm>
          <a:custGeom>
            <a:avLst/>
            <a:gdLst/>
            <a:ahLst/>
            <a:cxnLst/>
            <a:rect r="r" b="b" t="t" l="l"/>
            <a:pathLst>
              <a:path h="9529477" w="9392643">
                <a:moveTo>
                  <a:pt x="0" y="0"/>
                </a:moveTo>
                <a:lnTo>
                  <a:pt x="9392643" y="0"/>
                </a:lnTo>
                <a:lnTo>
                  <a:pt x="9392643" y="9529476"/>
                </a:lnTo>
                <a:lnTo>
                  <a:pt x="0" y="9529476"/>
                </a:lnTo>
                <a:lnTo>
                  <a:pt x="0" y="0"/>
                </a:lnTo>
                <a:close/>
              </a:path>
            </a:pathLst>
          </a:custGeom>
          <a:blipFill>
            <a:blip r:embed="rId10">
              <a:alphaModFix amt="20999"/>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3287787" y="967949"/>
            <a:ext cx="588438" cy="597010"/>
          </a:xfrm>
          <a:custGeom>
            <a:avLst/>
            <a:gdLst/>
            <a:ahLst/>
            <a:cxnLst/>
            <a:rect r="r" b="b" t="t" l="l"/>
            <a:pathLst>
              <a:path h="597010" w="588438">
                <a:moveTo>
                  <a:pt x="0" y="0"/>
                </a:moveTo>
                <a:lnTo>
                  <a:pt x="588438" y="0"/>
                </a:lnTo>
                <a:lnTo>
                  <a:pt x="588438" y="597010"/>
                </a:lnTo>
                <a:lnTo>
                  <a:pt x="0" y="5970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3" id="23"/>
          <p:cNvSpPr txBox="true"/>
          <p:nvPr/>
        </p:nvSpPr>
        <p:spPr>
          <a:xfrm rot="0">
            <a:off x="2818366" y="1641123"/>
            <a:ext cx="1527280" cy="649308"/>
          </a:xfrm>
          <a:prstGeom prst="rect">
            <a:avLst/>
          </a:prstGeom>
        </p:spPr>
        <p:txBody>
          <a:bodyPr anchor="t" rtlCol="false" tIns="0" lIns="0" bIns="0" rIns="0">
            <a:spAutoFit/>
          </a:bodyPr>
          <a:lstStyle/>
          <a:p>
            <a:pPr algn="ctr">
              <a:lnSpc>
                <a:spcPts val="2567"/>
              </a:lnSpc>
              <a:spcBef>
                <a:spcPct val="0"/>
              </a:spcBef>
            </a:pPr>
            <a:r>
              <a:rPr lang="en-US" b="true" sz="1834" spc="-36">
                <a:solidFill>
                  <a:srgbClr val="145DA0"/>
                </a:solidFill>
                <a:latin typeface="Poppins Bold"/>
                <a:ea typeface="Poppins Bold"/>
                <a:cs typeface="Poppins Bold"/>
                <a:sym typeface="Poppins Bold"/>
              </a:rPr>
              <a:t>Arowwai Industries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2255089" y="8247738"/>
            <a:ext cx="704088" cy="896408"/>
          </a:xfrm>
          <a:custGeom>
            <a:avLst/>
            <a:gdLst/>
            <a:ahLst/>
            <a:cxnLst/>
            <a:rect r="r" b="b" t="t" l="l"/>
            <a:pathLst>
              <a:path h="896408" w="704088">
                <a:moveTo>
                  <a:pt x="0" y="0"/>
                </a:moveTo>
                <a:lnTo>
                  <a:pt x="704088" y="0"/>
                </a:lnTo>
                <a:lnTo>
                  <a:pt x="704088" y="896408"/>
                </a:lnTo>
                <a:lnTo>
                  <a:pt x="0" y="8964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21152" y="8196791"/>
            <a:ext cx="1043341" cy="1016784"/>
          </a:xfrm>
          <a:custGeom>
            <a:avLst/>
            <a:gdLst/>
            <a:ahLst/>
            <a:cxnLst/>
            <a:rect r="r" b="b" t="t" l="l"/>
            <a:pathLst>
              <a:path h="1016784" w="1043341">
                <a:moveTo>
                  <a:pt x="0" y="0"/>
                </a:moveTo>
                <a:lnTo>
                  <a:pt x="1043341" y="0"/>
                </a:lnTo>
                <a:lnTo>
                  <a:pt x="1043341" y="1016783"/>
                </a:lnTo>
                <a:lnTo>
                  <a:pt x="0" y="10167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202424" y="8230226"/>
            <a:ext cx="825844" cy="895886"/>
          </a:xfrm>
          <a:custGeom>
            <a:avLst/>
            <a:gdLst/>
            <a:ahLst/>
            <a:cxnLst/>
            <a:rect r="r" b="b" t="t" l="l"/>
            <a:pathLst>
              <a:path h="895886" w="825844">
                <a:moveTo>
                  <a:pt x="0" y="0"/>
                </a:moveTo>
                <a:lnTo>
                  <a:pt x="825844" y="0"/>
                </a:lnTo>
                <a:lnTo>
                  <a:pt x="825844" y="895886"/>
                </a:lnTo>
                <a:lnTo>
                  <a:pt x="0" y="895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476583" y="8394737"/>
            <a:ext cx="801428" cy="735857"/>
          </a:xfrm>
          <a:custGeom>
            <a:avLst/>
            <a:gdLst/>
            <a:ahLst/>
            <a:cxnLst/>
            <a:rect r="r" b="b" t="t" l="l"/>
            <a:pathLst>
              <a:path h="735857" w="801428">
                <a:moveTo>
                  <a:pt x="0" y="0"/>
                </a:moveTo>
                <a:lnTo>
                  <a:pt x="801428" y="0"/>
                </a:lnTo>
                <a:lnTo>
                  <a:pt x="801428" y="735857"/>
                </a:lnTo>
                <a:lnTo>
                  <a:pt x="0" y="7358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6752291" y="5608303"/>
            <a:ext cx="682965" cy="813054"/>
          </a:xfrm>
          <a:custGeom>
            <a:avLst/>
            <a:gdLst/>
            <a:ahLst/>
            <a:cxnLst/>
            <a:rect r="r" b="b" t="t" l="l"/>
            <a:pathLst>
              <a:path h="813054" w="682965">
                <a:moveTo>
                  <a:pt x="0" y="0"/>
                </a:moveTo>
                <a:lnTo>
                  <a:pt x="682965" y="0"/>
                </a:lnTo>
                <a:lnTo>
                  <a:pt x="682965" y="813054"/>
                </a:lnTo>
                <a:lnTo>
                  <a:pt x="0" y="81305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0996000" y="4533662"/>
            <a:ext cx="795968" cy="706241"/>
          </a:xfrm>
          <a:custGeom>
            <a:avLst/>
            <a:gdLst/>
            <a:ahLst/>
            <a:cxnLst/>
            <a:rect r="r" b="b" t="t" l="l"/>
            <a:pathLst>
              <a:path h="706241" w="795968">
                <a:moveTo>
                  <a:pt x="0" y="0"/>
                </a:moveTo>
                <a:lnTo>
                  <a:pt x="795968" y="0"/>
                </a:lnTo>
                <a:lnTo>
                  <a:pt x="795968" y="706241"/>
                </a:lnTo>
                <a:lnTo>
                  <a:pt x="0" y="7062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2418051" y="4486006"/>
            <a:ext cx="698242" cy="672851"/>
          </a:xfrm>
          <a:custGeom>
            <a:avLst/>
            <a:gdLst/>
            <a:ahLst/>
            <a:cxnLst/>
            <a:rect r="r" b="b" t="t" l="l"/>
            <a:pathLst>
              <a:path h="672851" w="698242">
                <a:moveTo>
                  <a:pt x="0" y="0"/>
                </a:moveTo>
                <a:lnTo>
                  <a:pt x="698241" y="0"/>
                </a:lnTo>
                <a:lnTo>
                  <a:pt x="698241" y="672851"/>
                </a:lnTo>
                <a:lnTo>
                  <a:pt x="0" y="6728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8150242" y="5734112"/>
            <a:ext cx="775043" cy="868174"/>
          </a:xfrm>
          <a:custGeom>
            <a:avLst/>
            <a:gdLst/>
            <a:ahLst/>
            <a:cxnLst/>
            <a:rect r="r" b="b" t="t" l="l"/>
            <a:pathLst>
              <a:path h="868174" w="775043">
                <a:moveTo>
                  <a:pt x="0" y="0"/>
                </a:moveTo>
                <a:lnTo>
                  <a:pt x="775043" y="0"/>
                </a:lnTo>
                <a:lnTo>
                  <a:pt x="775043" y="868174"/>
                </a:lnTo>
                <a:lnTo>
                  <a:pt x="0" y="86817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9684728" y="6927753"/>
            <a:ext cx="833753" cy="868492"/>
          </a:xfrm>
          <a:custGeom>
            <a:avLst/>
            <a:gdLst/>
            <a:ahLst/>
            <a:cxnLst/>
            <a:rect r="r" b="b" t="t" l="l"/>
            <a:pathLst>
              <a:path h="868492" w="833753">
                <a:moveTo>
                  <a:pt x="0" y="0"/>
                </a:moveTo>
                <a:lnTo>
                  <a:pt x="833752" y="0"/>
                </a:lnTo>
                <a:lnTo>
                  <a:pt x="833752" y="868492"/>
                </a:lnTo>
                <a:lnTo>
                  <a:pt x="0" y="86849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9737808" y="5628671"/>
            <a:ext cx="727593" cy="835440"/>
          </a:xfrm>
          <a:custGeom>
            <a:avLst/>
            <a:gdLst/>
            <a:ahLst/>
            <a:cxnLst/>
            <a:rect r="r" b="b" t="t" l="l"/>
            <a:pathLst>
              <a:path h="835440" w="727593">
                <a:moveTo>
                  <a:pt x="0" y="0"/>
                </a:moveTo>
                <a:lnTo>
                  <a:pt x="727592" y="0"/>
                </a:lnTo>
                <a:lnTo>
                  <a:pt x="727592" y="835441"/>
                </a:lnTo>
                <a:lnTo>
                  <a:pt x="0" y="8354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2" id="12"/>
          <p:cNvSpPr/>
          <p:nvPr/>
        </p:nvSpPr>
        <p:spPr>
          <a:xfrm flipH="false" flipV="false" rot="0">
            <a:off x="10959897" y="5693520"/>
            <a:ext cx="868174" cy="868174"/>
          </a:xfrm>
          <a:custGeom>
            <a:avLst/>
            <a:gdLst/>
            <a:ahLst/>
            <a:cxnLst/>
            <a:rect r="r" b="b" t="t" l="l"/>
            <a:pathLst>
              <a:path h="868174" w="868174">
                <a:moveTo>
                  <a:pt x="0" y="0"/>
                </a:moveTo>
                <a:lnTo>
                  <a:pt x="868174" y="0"/>
                </a:lnTo>
                <a:lnTo>
                  <a:pt x="868174" y="868174"/>
                </a:lnTo>
                <a:lnTo>
                  <a:pt x="0" y="86817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3" id="13"/>
          <p:cNvSpPr/>
          <p:nvPr/>
        </p:nvSpPr>
        <p:spPr>
          <a:xfrm flipH="false" flipV="false" rot="0">
            <a:off x="8504855" y="8358896"/>
            <a:ext cx="899568" cy="868492"/>
          </a:xfrm>
          <a:custGeom>
            <a:avLst/>
            <a:gdLst/>
            <a:ahLst/>
            <a:cxnLst/>
            <a:rect r="r" b="b" t="t" l="l"/>
            <a:pathLst>
              <a:path h="868492" w="899568">
                <a:moveTo>
                  <a:pt x="0" y="0"/>
                </a:moveTo>
                <a:lnTo>
                  <a:pt x="899569" y="0"/>
                </a:lnTo>
                <a:lnTo>
                  <a:pt x="899569" y="868492"/>
                </a:lnTo>
                <a:lnTo>
                  <a:pt x="0" y="868492"/>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4" id="14"/>
          <p:cNvSpPr/>
          <p:nvPr/>
        </p:nvSpPr>
        <p:spPr>
          <a:xfrm flipH="false" flipV="false" rot="0">
            <a:off x="13635175" y="6934814"/>
            <a:ext cx="928806" cy="896720"/>
          </a:xfrm>
          <a:custGeom>
            <a:avLst/>
            <a:gdLst/>
            <a:ahLst/>
            <a:cxnLst/>
            <a:rect r="r" b="b" t="t" l="l"/>
            <a:pathLst>
              <a:path h="896720" w="928806">
                <a:moveTo>
                  <a:pt x="0" y="0"/>
                </a:moveTo>
                <a:lnTo>
                  <a:pt x="928805" y="0"/>
                </a:lnTo>
                <a:lnTo>
                  <a:pt x="928805" y="896719"/>
                </a:lnTo>
                <a:lnTo>
                  <a:pt x="0" y="89671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5" id="15"/>
          <p:cNvSpPr/>
          <p:nvPr/>
        </p:nvSpPr>
        <p:spPr>
          <a:xfrm flipH="false" flipV="false" rot="0">
            <a:off x="13874191" y="4397581"/>
            <a:ext cx="778541" cy="767216"/>
          </a:xfrm>
          <a:custGeom>
            <a:avLst/>
            <a:gdLst/>
            <a:ahLst/>
            <a:cxnLst/>
            <a:rect r="r" b="b" t="t" l="l"/>
            <a:pathLst>
              <a:path h="767216" w="778541">
                <a:moveTo>
                  <a:pt x="0" y="0"/>
                </a:moveTo>
                <a:lnTo>
                  <a:pt x="778540" y="0"/>
                </a:lnTo>
                <a:lnTo>
                  <a:pt x="778540" y="767216"/>
                </a:lnTo>
                <a:lnTo>
                  <a:pt x="0" y="767216"/>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0">
            <a:off x="9620774" y="4304351"/>
            <a:ext cx="889451" cy="889451"/>
          </a:xfrm>
          <a:custGeom>
            <a:avLst/>
            <a:gdLst/>
            <a:ahLst/>
            <a:cxnLst/>
            <a:rect r="r" b="b" t="t" l="l"/>
            <a:pathLst>
              <a:path h="889451" w="889451">
                <a:moveTo>
                  <a:pt x="0" y="0"/>
                </a:moveTo>
                <a:lnTo>
                  <a:pt x="889451" y="0"/>
                </a:lnTo>
                <a:lnTo>
                  <a:pt x="889451" y="889451"/>
                </a:lnTo>
                <a:lnTo>
                  <a:pt x="0" y="889451"/>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7" id="17"/>
          <p:cNvSpPr/>
          <p:nvPr/>
        </p:nvSpPr>
        <p:spPr>
          <a:xfrm flipH="false" flipV="false" rot="0">
            <a:off x="11010376" y="7015311"/>
            <a:ext cx="767216" cy="767216"/>
          </a:xfrm>
          <a:custGeom>
            <a:avLst/>
            <a:gdLst/>
            <a:ahLst/>
            <a:cxnLst/>
            <a:rect r="r" b="b" t="t" l="l"/>
            <a:pathLst>
              <a:path h="767216" w="767216">
                <a:moveTo>
                  <a:pt x="0" y="0"/>
                </a:moveTo>
                <a:lnTo>
                  <a:pt x="767217" y="0"/>
                </a:lnTo>
                <a:lnTo>
                  <a:pt x="767217" y="767216"/>
                </a:lnTo>
                <a:lnTo>
                  <a:pt x="0" y="76721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8" id="18"/>
          <p:cNvSpPr/>
          <p:nvPr/>
        </p:nvSpPr>
        <p:spPr>
          <a:xfrm flipH="false" flipV="false" rot="0">
            <a:off x="5241013" y="5665856"/>
            <a:ext cx="787256" cy="767216"/>
          </a:xfrm>
          <a:custGeom>
            <a:avLst/>
            <a:gdLst/>
            <a:ahLst/>
            <a:cxnLst/>
            <a:rect r="r" b="b" t="t" l="l"/>
            <a:pathLst>
              <a:path h="767216" w="787256">
                <a:moveTo>
                  <a:pt x="0" y="0"/>
                </a:moveTo>
                <a:lnTo>
                  <a:pt x="787255" y="0"/>
                </a:lnTo>
                <a:lnTo>
                  <a:pt x="787255" y="767217"/>
                </a:lnTo>
                <a:lnTo>
                  <a:pt x="0" y="767217"/>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19" id="19"/>
          <p:cNvSpPr/>
          <p:nvPr/>
        </p:nvSpPr>
        <p:spPr>
          <a:xfrm flipH="false" flipV="false" rot="0">
            <a:off x="12318268" y="7030117"/>
            <a:ext cx="897806" cy="767216"/>
          </a:xfrm>
          <a:custGeom>
            <a:avLst/>
            <a:gdLst/>
            <a:ahLst/>
            <a:cxnLst/>
            <a:rect r="r" b="b" t="t" l="l"/>
            <a:pathLst>
              <a:path h="767216" w="897806">
                <a:moveTo>
                  <a:pt x="0" y="0"/>
                </a:moveTo>
                <a:lnTo>
                  <a:pt x="897807" y="0"/>
                </a:lnTo>
                <a:lnTo>
                  <a:pt x="897807" y="767216"/>
                </a:lnTo>
                <a:lnTo>
                  <a:pt x="0" y="767216"/>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0" id="20"/>
          <p:cNvSpPr/>
          <p:nvPr/>
        </p:nvSpPr>
        <p:spPr>
          <a:xfrm flipH="false" flipV="false" rot="0">
            <a:off x="3715218" y="5654140"/>
            <a:ext cx="708629" cy="767216"/>
          </a:xfrm>
          <a:custGeom>
            <a:avLst/>
            <a:gdLst/>
            <a:ahLst/>
            <a:cxnLst/>
            <a:rect r="r" b="b" t="t" l="l"/>
            <a:pathLst>
              <a:path h="767216" w="708629">
                <a:moveTo>
                  <a:pt x="0" y="0"/>
                </a:moveTo>
                <a:lnTo>
                  <a:pt x="708629" y="0"/>
                </a:lnTo>
                <a:lnTo>
                  <a:pt x="708629" y="767217"/>
                </a:lnTo>
                <a:lnTo>
                  <a:pt x="0" y="767217"/>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1" id="21"/>
          <p:cNvSpPr/>
          <p:nvPr/>
        </p:nvSpPr>
        <p:spPr>
          <a:xfrm flipH="false" flipV="false" rot="0">
            <a:off x="2233312" y="5823048"/>
            <a:ext cx="669571" cy="767216"/>
          </a:xfrm>
          <a:custGeom>
            <a:avLst/>
            <a:gdLst/>
            <a:ahLst/>
            <a:cxnLst/>
            <a:rect r="r" b="b" t="t" l="l"/>
            <a:pathLst>
              <a:path h="767216" w="669571">
                <a:moveTo>
                  <a:pt x="0" y="0"/>
                </a:moveTo>
                <a:lnTo>
                  <a:pt x="669570" y="0"/>
                </a:lnTo>
                <a:lnTo>
                  <a:pt x="669570" y="767217"/>
                </a:lnTo>
                <a:lnTo>
                  <a:pt x="0" y="767217"/>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22" id="22"/>
          <p:cNvSpPr/>
          <p:nvPr/>
        </p:nvSpPr>
        <p:spPr>
          <a:xfrm flipH="false" flipV="false" rot="0">
            <a:off x="13869833" y="8298717"/>
            <a:ext cx="514732" cy="767216"/>
          </a:xfrm>
          <a:custGeom>
            <a:avLst/>
            <a:gdLst/>
            <a:ahLst/>
            <a:cxnLst/>
            <a:rect r="r" b="b" t="t" l="l"/>
            <a:pathLst>
              <a:path h="767216" w="514732">
                <a:moveTo>
                  <a:pt x="0" y="0"/>
                </a:moveTo>
                <a:lnTo>
                  <a:pt x="514733" y="0"/>
                </a:lnTo>
                <a:lnTo>
                  <a:pt x="514733" y="767216"/>
                </a:lnTo>
                <a:lnTo>
                  <a:pt x="0" y="767216"/>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
        <p:nvSpPr>
          <p:cNvPr name="Freeform 23" id="23"/>
          <p:cNvSpPr/>
          <p:nvPr/>
        </p:nvSpPr>
        <p:spPr>
          <a:xfrm flipH="false" flipV="false" rot="0">
            <a:off x="7967619" y="8358896"/>
            <a:ext cx="796168" cy="767216"/>
          </a:xfrm>
          <a:custGeom>
            <a:avLst/>
            <a:gdLst/>
            <a:ahLst/>
            <a:cxnLst/>
            <a:rect r="r" b="b" t="t" l="l"/>
            <a:pathLst>
              <a:path h="767216" w="796168">
                <a:moveTo>
                  <a:pt x="0" y="0"/>
                </a:moveTo>
                <a:lnTo>
                  <a:pt x="796168" y="0"/>
                </a:lnTo>
                <a:lnTo>
                  <a:pt x="796168" y="767216"/>
                </a:lnTo>
                <a:lnTo>
                  <a:pt x="0" y="767216"/>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
        <p:nvSpPr>
          <p:cNvPr name="Freeform 24" id="24"/>
          <p:cNvSpPr/>
          <p:nvPr/>
        </p:nvSpPr>
        <p:spPr>
          <a:xfrm flipH="false" flipV="false" rot="0">
            <a:off x="13869833" y="5572814"/>
            <a:ext cx="787256" cy="767216"/>
          </a:xfrm>
          <a:custGeom>
            <a:avLst/>
            <a:gdLst/>
            <a:ahLst/>
            <a:cxnLst/>
            <a:rect r="r" b="b" t="t" l="l"/>
            <a:pathLst>
              <a:path h="767216" w="787256">
                <a:moveTo>
                  <a:pt x="0" y="0"/>
                </a:moveTo>
                <a:lnTo>
                  <a:pt x="787256" y="0"/>
                </a:lnTo>
                <a:lnTo>
                  <a:pt x="787256" y="767217"/>
                </a:lnTo>
                <a:lnTo>
                  <a:pt x="0" y="767217"/>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25" id="25"/>
          <p:cNvSpPr/>
          <p:nvPr/>
        </p:nvSpPr>
        <p:spPr>
          <a:xfrm flipH="false" flipV="false" rot="0">
            <a:off x="10904670" y="8236144"/>
            <a:ext cx="978628" cy="991244"/>
          </a:xfrm>
          <a:custGeom>
            <a:avLst/>
            <a:gdLst/>
            <a:ahLst/>
            <a:cxnLst/>
            <a:rect r="r" b="b" t="t" l="l"/>
            <a:pathLst>
              <a:path h="991244" w="978628">
                <a:moveTo>
                  <a:pt x="0" y="0"/>
                </a:moveTo>
                <a:lnTo>
                  <a:pt x="978628" y="0"/>
                </a:lnTo>
                <a:lnTo>
                  <a:pt x="978628" y="991244"/>
                </a:lnTo>
                <a:lnTo>
                  <a:pt x="0" y="991244"/>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sp>
        <p:nvSpPr>
          <p:cNvPr name="Freeform 26" id="26"/>
          <p:cNvSpPr/>
          <p:nvPr/>
        </p:nvSpPr>
        <p:spPr>
          <a:xfrm flipH="false" flipV="false" rot="0">
            <a:off x="12317663" y="8298717"/>
            <a:ext cx="899016" cy="887574"/>
          </a:xfrm>
          <a:custGeom>
            <a:avLst/>
            <a:gdLst/>
            <a:ahLst/>
            <a:cxnLst/>
            <a:rect r="r" b="b" t="t" l="l"/>
            <a:pathLst>
              <a:path h="887574" w="899016">
                <a:moveTo>
                  <a:pt x="0" y="0"/>
                </a:moveTo>
                <a:lnTo>
                  <a:pt x="899017" y="0"/>
                </a:lnTo>
                <a:lnTo>
                  <a:pt x="899017" y="887574"/>
                </a:lnTo>
                <a:lnTo>
                  <a:pt x="0" y="887574"/>
                </a:lnTo>
                <a:lnTo>
                  <a:pt x="0" y="0"/>
                </a:lnTo>
                <a:close/>
              </a:path>
            </a:pathLst>
          </a:custGeom>
          <a:blipFill>
            <a:blip r:embed="rId50">
              <a:extLst>
                <a:ext uri="{96DAC541-7B7A-43D3-8B79-37D633B846F1}">
                  <asvg:svgBlip xmlns:asvg="http://schemas.microsoft.com/office/drawing/2016/SVG/main" r:embed="rId51"/>
                </a:ext>
              </a:extLst>
            </a:blip>
            <a:stretch>
              <a:fillRect l="0" t="0" r="0" b="0"/>
            </a:stretch>
          </a:blipFill>
        </p:spPr>
      </p:sp>
      <p:sp>
        <p:nvSpPr>
          <p:cNvPr name="Freeform 27" id="27"/>
          <p:cNvSpPr/>
          <p:nvPr/>
        </p:nvSpPr>
        <p:spPr>
          <a:xfrm flipH="false" flipV="false" rot="0">
            <a:off x="12373090" y="5707040"/>
            <a:ext cx="788162" cy="922318"/>
          </a:xfrm>
          <a:custGeom>
            <a:avLst/>
            <a:gdLst/>
            <a:ahLst/>
            <a:cxnLst/>
            <a:rect r="r" b="b" t="t" l="l"/>
            <a:pathLst>
              <a:path h="922318" w="788162">
                <a:moveTo>
                  <a:pt x="0" y="0"/>
                </a:moveTo>
                <a:lnTo>
                  <a:pt x="788163" y="0"/>
                </a:lnTo>
                <a:lnTo>
                  <a:pt x="788163" y="922318"/>
                </a:lnTo>
                <a:lnTo>
                  <a:pt x="0" y="922318"/>
                </a:lnTo>
                <a:lnTo>
                  <a:pt x="0" y="0"/>
                </a:lnTo>
                <a:close/>
              </a:path>
            </a:pathLst>
          </a:custGeom>
          <a:blipFill>
            <a:blip r:embed="rId52">
              <a:extLst>
                <a:ext uri="{96DAC541-7B7A-43D3-8B79-37D633B846F1}">
                  <asvg:svgBlip xmlns:asvg="http://schemas.microsoft.com/office/drawing/2016/SVG/main" r:embed="rId53"/>
                </a:ext>
              </a:extLst>
            </a:blip>
            <a:stretch>
              <a:fillRect l="0" t="0" r="0" b="0"/>
            </a:stretch>
          </a:blipFill>
        </p:spPr>
      </p:sp>
      <p:sp>
        <p:nvSpPr>
          <p:cNvPr name="Freeform 28" id="28"/>
          <p:cNvSpPr/>
          <p:nvPr/>
        </p:nvSpPr>
        <p:spPr>
          <a:xfrm flipH="false" flipV="false" rot="0">
            <a:off x="5155175" y="6914222"/>
            <a:ext cx="958932" cy="922318"/>
          </a:xfrm>
          <a:custGeom>
            <a:avLst/>
            <a:gdLst/>
            <a:ahLst/>
            <a:cxnLst/>
            <a:rect r="r" b="b" t="t" l="l"/>
            <a:pathLst>
              <a:path h="922318" w="958932">
                <a:moveTo>
                  <a:pt x="0" y="0"/>
                </a:moveTo>
                <a:lnTo>
                  <a:pt x="958931" y="0"/>
                </a:lnTo>
                <a:lnTo>
                  <a:pt x="958931" y="922317"/>
                </a:lnTo>
                <a:lnTo>
                  <a:pt x="0" y="922317"/>
                </a:lnTo>
                <a:lnTo>
                  <a:pt x="0" y="0"/>
                </a:lnTo>
                <a:close/>
              </a:path>
            </a:pathLst>
          </a:custGeom>
          <a:blipFill>
            <a:blip r:embed="rId54">
              <a:extLst>
                <a:ext uri="{96DAC541-7B7A-43D3-8B79-37D633B846F1}">
                  <asvg:svgBlip xmlns:asvg="http://schemas.microsoft.com/office/drawing/2016/SVG/main" r:embed="rId55"/>
                </a:ext>
              </a:extLst>
            </a:blip>
            <a:stretch>
              <a:fillRect l="0" t="0" r="0" b="0"/>
            </a:stretch>
          </a:blipFill>
        </p:spPr>
      </p:sp>
      <p:sp>
        <p:nvSpPr>
          <p:cNvPr name="Freeform 29" id="29"/>
          <p:cNvSpPr/>
          <p:nvPr/>
        </p:nvSpPr>
        <p:spPr>
          <a:xfrm flipH="false" flipV="false" rot="0">
            <a:off x="3606270" y="6918016"/>
            <a:ext cx="926524" cy="950724"/>
          </a:xfrm>
          <a:custGeom>
            <a:avLst/>
            <a:gdLst/>
            <a:ahLst/>
            <a:cxnLst/>
            <a:rect r="r" b="b" t="t" l="l"/>
            <a:pathLst>
              <a:path h="950724" w="926524">
                <a:moveTo>
                  <a:pt x="0" y="0"/>
                </a:moveTo>
                <a:lnTo>
                  <a:pt x="926524" y="0"/>
                </a:lnTo>
                <a:lnTo>
                  <a:pt x="926524" y="950724"/>
                </a:lnTo>
                <a:lnTo>
                  <a:pt x="0" y="950724"/>
                </a:lnTo>
                <a:lnTo>
                  <a:pt x="0" y="0"/>
                </a:lnTo>
                <a:close/>
              </a:path>
            </a:pathLst>
          </a:custGeom>
          <a:blipFill>
            <a:blip r:embed="rId56">
              <a:extLst>
                <a:ext uri="{96DAC541-7B7A-43D3-8B79-37D633B846F1}">
                  <asvg:svgBlip xmlns:asvg="http://schemas.microsoft.com/office/drawing/2016/SVG/main" r:embed="rId57"/>
                </a:ext>
              </a:extLst>
            </a:blip>
            <a:stretch>
              <a:fillRect l="0" t="0" r="0" b="0"/>
            </a:stretch>
          </a:blipFill>
        </p:spPr>
      </p:sp>
      <p:sp>
        <p:nvSpPr>
          <p:cNvPr name="Freeform 30" id="30"/>
          <p:cNvSpPr/>
          <p:nvPr/>
        </p:nvSpPr>
        <p:spPr>
          <a:xfrm flipH="false" flipV="false" rot="0">
            <a:off x="2129499" y="7047708"/>
            <a:ext cx="877197" cy="877197"/>
          </a:xfrm>
          <a:custGeom>
            <a:avLst/>
            <a:gdLst/>
            <a:ahLst/>
            <a:cxnLst/>
            <a:rect r="r" b="b" t="t" l="l"/>
            <a:pathLst>
              <a:path h="877197" w="877197">
                <a:moveTo>
                  <a:pt x="0" y="0"/>
                </a:moveTo>
                <a:lnTo>
                  <a:pt x="877197" y="0"/>
                </a:lnTo>
                <a:lnTo>
                  <a:pt x="877197" y="877197"/>
                </a:lnTo>
                <a:lnTo>
                  <a:pt x="0" y="877197"/>
                </a:lnTo>
                <a:lnTo>
                  <a:pt x="0" y="0"/>
                </a:lnTo>
                <a:close/>
              </a:path>
            </a:pathLst>
          </a:custGeom>
          <a:blipFill>
            <a:blip r:embed="rId58">
              <a:extLst>
                <a:ext uri="{96DAC541-7B7A-43D3-8B79-37D633B846F1}">
                  <asvg:svgBlip xmlns:asvg="http://schemas.microsoft.com/office/drawing/2016/SVG/main" r:embed="rId59"/>
                </a:ext>
              </a:extLst>
            </a:blip>
            <a:stretch>
              <a:fillRect l="0" t="0" r="0" b="0"/>
            </a:stretch>
          </a:blipFill>
        </p:spPr>
      </p:sp>
      <p:sp>
        <p:nvSpPr>
          <p:cNvPr name="Freeform 31" id="31"/>
          <p:cNvSpPr/>
          <p:nvPr/>
        </p:nvSpPr>
        <p:spPr>
          <a:xfrm flipH="false" flipV="false" rot="0">
            <a:off x="2084262" y="2968672"/>
            <a:ext cx="967671" cy="967671"/>
          </a:xfrm>
          <a:custGeom>
            <a:avLst/>
            <a:gdLst/>
            <a:ahLst/>
            <a:cxnLst/>
            <a:rect r="r" b="b" t="t" l="l"/>
            <a:pathLst>
              <a:path h="967671" w="967671">
                <a:moveTo>
                  <a:pt x="0" y="0"/>
                </a:moveTo>
                <a:lnTo>
                  <a:pt x="967670" y="0"/>
                </a:lnTo>
                <a:lnTo>
                  <a:pt x="967670" y="967670"/>
                </a:lnTo>
                <a:lnTo>
                  <a:pt x="0" y="967670"/>
                </a:lnTo>
                <a:lnTo>
                  <a:pt x="0" y="0"/>
                </a:lnTo>
                <a:close/>
              </a:path>
            </a:pathLst>
          </a:custGeom>
          <a:blipFill>
            <a:blip r:embed="rId60">
              <a:extLst>
                <a:ext uri="{96DAC541-7B7A-43D3-8B79-37D633B846F1}">
                  <asvg:svgBlip xmlns:asvg="http://schemas.microsoft.com/office/drawing/2016/SVG/main" r:embed="rId61"/>
                </a:ext>
              </a:extLst>
            </a:blip>
            <a:stretch>
              <a:fillRect l="0" t="0" r="0" b="0"/>
            </a:stretch>
          </a:blipFill>
        </p:spPr>
      </p:sp>
      <p:sp>
        <p:nvSpPr>
          <p:cNvPr name="Freeform 32" id="32"/>
          <p:cNvSpPr/>
          <p:nvPr/>
        </p:nvSpPr>
        <p:spPr>
          <a:xfrm flipH="false" flipV="false" rot="0">
            <a:off x="14955465" y="7047481"/>
            <a:ext cx="1064254" cy="799158"/>
          </a:xfrm>
          <a:custGeom>
            <a:avLst/>
            <a:gdLst/>
            <a:ahLst/>
            <a:cxnLst/>
            <a:rect r="r" b="b" t="t" l="l"/>
            <a:pathLst>
              <a:path h="799158" w="1064254">
                <a:moveTo>
                  <a:pt x="0" y="0"/>
                </a:moveTo>
                <a:lnTo>
                  <a:pt x="1064254" y="0"/>
                </a:lnTo>
                <a:lnTo>
                  <a:pt x="1064254" y="799158"/>
                </a:lnTo>
                <a:lnTo>
                  <a:pt x="0" y="799158"/>
                </a:lnTo>
                <a:lnTo>
                  <a:pt x="0" y="0"/>
                </a:lnTo>
                <a:close/>
              </a:path>
            </a:pathLst>
          </a:custGeom>
          <a:blipFill>
            <a:blip r:embed="rId62">
              <a:extLst>
                <a:ext uri="{96DAC541-7B7A-43D3-8B79-37D633B846F1}">
                  <asvg:svgBlip xmlns:asvg="http://schemas.microsoft.com/office/drawing/2016/SVG/main" r:embed="rId63"/>
                </a:ext>
              </a:extLst>
            </a:blip>
            <a:stretch>
              <a:fillRect l="0" t="0" r="0" b="0"/>
            </a:stretch>
          </a:blipFill>
        </p:spPr>
      </p:sp>
      <p:sp>
        <p:nvSpPr>
          <p:cNvPr name="Freeform 33" id="33"/>
          <p:cNvSpPr/>
          <p:nvPr/>
        </p:nvSpPr>
        <p:spPr>
          <a:xfrm flipH="false" flipV="false" rot="0">
            <a:off x="15136669" y="4378202"/>
            <a:ext cx="701847" cy="977255"/>
          </a:xfrm>
          <a:custGeom>
            <a:avLst/>
            <a:gdLst/>
            <a:ahLst/>
            <a:cxnLst/>
            <a:rect r="r" b="b" t="t" l="l"/>
            <a:pathLst>
              <a:path h="977255" w="701847">
                <a:moveTo>
                  <a:pt x="0" y="0"/>
                </a:moveTo>
                <a:lnTo>
                  <a:pt x="701847" y="0"/>
                </a:lnTo>
                <a:lnTo>
                  <a:pt x="701847" y="977255"/>
                </a:lnTo>
                <a:lnTo>
                  <a:pt x="0" y="977255"/>
                </a:lnTo>
                <a:lnTo>
                  <a:pt x="0" y="0"/>
                </a:lnTo>
                <a:close/>
              </a:path>
            </a:pathLst>
          </a:custGeom>
          <a:blipFill>
            <a:blip r:embed="rId64">
              <a:extLst>
                <a:ext uri="{96DAC541-7B7A-43D3-8B79-37D633B846F1}">
                  <asvg:svgBlip xmlns:asvg="http://schemas.microsoft.com/office/drawing/2016/SVG/main" r:embed="rId65"/>
                </a:ext>
              </a:extLst>
            </a:blip>
            <a:stretch>
              <a:fillRect l="0" t="0" r="0" b="0"/>
            </a:stretch>
          </a:blipFill>
        </p:spPr>
      </p:sp>
      <p:sp>
        <p:nvSpPr>
          <p:cNvPr name="Freeform 34" id="34"/>
          <p:cNvSpPr/>
          <p:nvPr/>
        </p:nvSpPr>
        <p:spPr>
          <a:xfrm flipH="false" flipV="false" rot="0">
            <a:off x="14913497" y="8247738"/>
            <a:ext cx="1148191" cy="989531"/>
          </a:xfrm>
          <a:custGeom>
            <a:avLst/>
            <a:gdLst/>
            <a:ahLst/>
            <a:cxnLst/>
            <a:rect r="r" b="b" t="t" l="l"/>
            <a:pathLst>
              <a:path h="989531" w="1148191">
                <a:moveTo>
                  <a:pt x="0" y="0"/>
                </a:moveTo>
                <a:lnTo>
                  <a:pt x="1148191" y="0"/>
                </a:lnTo>
                <a:lnTo>
                  <a:pt x="1148191" y="989532"/>
                </a:lnTo>
                <a:lnTo>
                  <a:pt x="0" y="989532"/>
                </a:lnTo>
                <a:lnTo>
                  <a:pt x="0" y="0"/>
                </a:lnTo>
                <a:close/>
              </a:path>
            </a:pathLst>
          </a:custGeom>
          <a:blipFill>
            <a:blip r:embed="rId66">
              <a:extLst>
                <a:ext uri="{96DAC541-7B7A-43D3-8B79-37D633B846F1}">
                  <asvg:svgBlip xmlns:asvg="http://schemas.microsoft.com/office/drawing/2016/SVG/main" r:embed="rId67"/>
                </a:ext>
              </a:extLst>
            </a:blip>
            <a:stretch>
              <a:fillRect l="0" t="0" r="0" b="0"/>
            </a:stretch>
          </a:blipFill>
        </p:spPr>
      </p:sp>
      <p:sp>
        <p:nvSpPr>
          <p:cNvPr name="Freeform 35" id="35"/>
          <p:cNvSpPr/>
          <p:nvPr/>
        </p:nvSpPr>
        <p:spPr>
          <a:xfrm flipH="false" flipV="false" rot="0">
            <a:off x="9760121" y="8289530"/>
            <a:ext cx="884472" cy="884472"/>
          </a:xfrm>
          <a:custGeom>
            <a:avLst/>
            <a:gdLst/>
            <a:ahLst/>
            <a:cxnLst/>
            <a:rect r="r" b="b" t="t" l="l"/>
            <a:pathLst>
              <a:path h="884472" w="884472">
                <a:moveTo>
                  <a:pt x="0" y="0"/>
                </a:moveTo>
                <a:lnTo>
                  <a:pt x="884472" y="0"/>
                </a:lnTo>
                <a:lnTo>
                  <a:pt x="884472" y="884472"/>
                </a:lnTo>
                <a:lnTo>
                  <a:pt x="0" y="884472"/>
                </a:lnTo>
                <a:lnTo>
                  <a:pt x="0" y="0"/>
                </a:lnTo>
                <a:close/>
              </a:path>
            </a:pathLst>
          </a:custGeom>
          <a:blipFill>
            <a:blip r:embed="rId68">
              <a:extLst>
                <a:ext uri="{96DAC541-7B7A-43D3-8B79-37D633B846F1}">
                  <asvg:svgBlip xmlns:asvg="http://schemas.microsoft.com/office/drawing/2016/SVG/main" r:embed="rId69"/>
                </a:ext>
              </a:extLst>
            </a:blip>
            <a:stretch>
              <a:fillRect l="0" t="0" r="0" b="0"/>
            </a:stretch>
          </a:blipFill>
        </p:spPr>
      </p:sp>
      <p:sp>
        <p:nvSpPr>
          <p:cNvPr name="Freeform 36" id="36"/>
          <p:cNvSpPr/>
          <p:nvPr/>
        </p:nvSpPr>
        <p:spPr>
          <a:xfrm flipH="false" flipV="false" rot="0">
            <a:off x="15136669" y="5628671"/>
            <a:ext cx="1027960" cy="1043133"/>
          </a:xfrm>
          <a:custGeom>
            <a:avLst/>
            <a:gdLst/>
            <a:ahLst/>
            <a:cxnLst/>
            <a:rect r="r" b="b" t="t" l="l"/>
            <a:pathLst>
              <a:path h="1043133" w="1027960">
                <a:moveTo>
                  <a:pt x="0" y="0"/>
                </a:moveTo>
                <a:lnTo>
                  <a:pt x="1027960" y="0"/>
                </a:lnTo>
                <a:lnTo>
                  <a:pt x="1027960" y="1043133"/>
                </a:lnTo>
                <a:lnTo>
                  <a:pt x="0" y="1043133"/>
                </a:lnTo>
                <a:lnTo>
                  <a:pt x="0" y="0"/>
                </a:lnTo>
                <a:close/>
              </a:path>
            </a:pathLst>
          </a:custGeom>
          <a:blipFill>
            <a:blip r:embed="rId70">
              <a:extLst>
                <a:ext uri="{96DAC541-7B7A-43D3-8B79-37D633B846F1}">
                  <asvg:svgBlip xmlns:asvg="http://schemas.microsoft.com/office/drawing/2016/SVG/main" r:embed="rId71"/>
                </a:ext>
              </a:extLst>
            </a:blip>
            <a:stretch>
              <a:fillRect l="0" t="0" r="0" b="0"/>
            </a:stretch>
          </a:blipFill>
        </p:spPr>
      </p:sp>
      <p:sp>
        <p:nvSpPr>
          <p:cNvPr name="Freeform 37" id="37"/>
          <p:cNvSpPr/>
          <p:nvPr/>
        </p:nvSpPr>
        <p:spPr>
          <a:xfrm flipH="false" flipV="false" rot="0">
            <a:off x="6560968" y="2925089"/>
            <a:ext cx="789574" cy="975879"/>
          </a:xfrm>
          <a:custGeom>
            <a:avLst/>
            <a:gdLst/>
            <a:ahLst/>
            <a:cxnLst/>
            <a:rect r="r" b="b" t="t" l="l"/>
            <a:pathLst>
              <a:path h="975879" w="789574">
                <a:moveTo>
                  <a:pt x="0" y="0"/>
                </a:moveTo>
                <a:lnTo>
                  <a:pt x="789575" y="0"/>
                </a:lnTo>
                <a:lnTo>
                  <a:pt x="789575" y="975878"/>
                </a:lnTo>
                <a:lnTo>
                  <a:pt x="0" y="975878"/>
                </a:lnTo>
                <a:lnTo>
                  <a:pt x="0" y="0"/>
                </a:lnTo>
                <a:close/>
              </a:path>
            </a:pathLst>
          </a:custGeom>
          <a:blipFill>
            <a:blip r:embed="rId72">
              <a:extLst>
                <a:ext uri="{96DAC541-7B7A-43D3-8B79-37D633B846F1}">
                  <asvg:svgBlip xmlns:asvg="http://schemas.microsoft.com/office/drawing/2016/SVG/main" r:embed="rId73"/>
                </a:ext>
              </a:extLst>
            </a:blip>
            <a:stretch>
              <a:fillRect l="0" t="0" r="0" b="0"/>
            </a:stretch>
          </a:blipFill>
        </p:spPr>
      </p:sp>
      <p:sp>
        <p:nvSpPr>
          <p:cNvPr name="Freeform 38" id="38"/>
          <p:cNvSpPr/>
          <p:nvPr/>
        </p:nvSpPr>
        <p:spPr>
          <a:xfrm flipH="false" flipV="false" rot="0">
            <a:off x="9510752" y="3007423"/>
            <a:ext cx="1181705" cy="887353"/>
          </a:xfrm>
          <a:custGeom>
            <a:avLst/>
            <a:gdLst/>
            <a:ahLst/>
            <a:cxnLst/>
            <a:rect r="r" b="b" t="t" l="l"/>
            <a:pathLst>
              <a:path h="887353" w="1181705">
                <a:moveTo>
                  <a:pt x="0" y="0"/>
                </a:moveTo>
                <a:lnTo>
                  <a:pt x="1181705" y="0"/>
                </a:lnTo>
                <a:lnTo>
                  <a:pt x="1181705" y="887353"/>
                </a:lnTo>
                <a:lnTo>
                  <a:pt x="0" y="887353"/>
                </a:lnTo>
                <a:lnTo>
                  <a:pt x="0" y="0"/>
                </a:lnTo>
                <a:close/>
              </a:path>
            </a:pathLst>
          </a:custGeom>
          <a:blipFill>
            <a:blip r:embed="rId62">
              <a:extLst>
                <a:ext uri="{96DAC541-7B7A-43D3-8B79-37D633B846F1}">
                  <asvg:svgBlip xmlns:asvg="http://schemas.microsoft.com/office/drawing/2016/SVG/main" r:embed="rId63"/>
                </a:ext>
              </a:extLst>
            </a:blip>
            <a:stretch>
              <a:fillRect l="0" t="0" r="0" b="0"/>
            </a:stretch>
          </a:blipFill>
        </p:spPr>
      </p:sp>
      <p:sp>
        <p:nvSpPr>
          <p:cNvPr name="Freeform 39" id="39"/>
          <p:cNvSpPr/>
          <p:nvPr/>
        </p:nvSpPr>
        <p:spPr>
          <a:xfrm flipH="false" flipV="false" rot="0">
            <a:off x="12349754" y="2989914"/>
            <a:ext cx="964077" cy="978307"/>
          </a:xfrm>
          <a:custGeom>
            <a:avLst/>
            <a:gdLst/>
            <a:ahLst/>
            <a:cxnLst/>
            <a:rect r="r" b="b" t="t" l="l"/>
            <a:pathLst>
              <a:path h="978307" w="964077">
                <a:moveTo>
                  <a:pt x="0" y="0"/>
                </a:moveTo>
                <a:lnTo>
                  <a:pt x="964077" y="0"/>
                </a:lnTo>
                <a:lnTo>
                  <a:pt x="964077" y="978307"/>
                </a:lnTo>
                <a:lnTo>
                  <a:pt x="0" y="978307"/>
                </a:lnTo>
                <a:lnTo>
                  <a:pt x="0" y="0"/>
                </a:lnTo>
                <a:close/>
              </a:path>
            </a:pathLst>
          </a:custGeom>
          <a:blipFill>
            <a:blip r:embed="rId74">
              <a:extLst>
                <a:ext uri="{96DAC541-7B7A-43D3-8B79-37D633B846F1}">
                  <asvg:svgBlip xmlns:asvg="http://schemas.microsoft.com/office/drawing/2016/SVG/main" r:embed="rId75"/>
                </a:ext>
              </a:extLst>
            </a:blip>
            <a:stretch>
              <a:fillRect l="0" t="0" r="0" b="0"/>
            </a:stretch>
          </a:blipFill>
        </p:spPr>
      </p:sp>
      <p:sp>
        <p:nvSpPr>
          <p:cNvPr name="Freeform 40" id="40"/>
          <p:cNvSpPr/>
          <p:nvPr/>
        </p:nvSpPr>
        <p:spPr>
          <a:xfrm flipH="false" flipV="false" rot="0">
            <a:off x="3529986" y="2948351"/>
            <a:ext cx="1079092" cy="1061434"/>
          </a:xfrm>
          <a:custGeom>
            <a:avLst/>
            <a:gdLst/>
            <a:ahLst/>
            <a:cxnLst/>
            <a:rect r="r" b="b" t="t" l="l"/>
            <a:pathLst>
              <a:path h="1061434" w="1079092">
                <a:moveTo>
                  <a:pt x="0" y="0"/>
                </a:moveTo>
                <a:lnTo>
                  <a:pt x="1079092" y="0"/>
                </a:lnTo>
                <a:lnTo>
                  <a:pt x="1079092" y="1061434"/>
                </a:lnTo>
                <a:lnTo>
                  <a:pt x="0" y="1061434"/>
                </a:lnTo>
                <a:lnTo>
                  <a:pt x="0" y="0"/>
                </a:lnTo>
                <a:close/>
              </a:path>
            </a:pathLst>
          </a:custGeom>
          <a:blipFill>
            <a:blip r:embed="rId76">
              <a:extLst>
                <a:ext uri="{96DAC541-7B7A-43D3-8B79-37D633B846F1}">
                  <asvg:svgBlip xmlns:asvg="http://schemas.microsoft.com/office/drawing/2016/SVG/main" r:embed="rId77"/>
                </a:ext>
              </a:extLst>
            </a:blip>
            <a:stretch>
              <a:fillRect l="0" t="0" r="0" b="0"/>
            </a:stretch>
          </a:blipFill>
        </p:spPr>
      </p:sp>
      <p:sp>
        <p:nvSpPr>
          <p:cNvPr name="Freeform 41" id="41"/>
          <p:cNvSpPr/>
          <p:nvPr/>
        </p:nvSpPr>
        <p:spPr>
          <a:xfrm flipH="false" flipV="false" rot="0">
            <a:off x="7919514" y="2906412"/>
            <a:ext cx="1236499" cy="858804"/>
          </a:xfrm>
          <a:custGeom>
            <a:avLst/>
            <a:gdLst/>
            <a:ahLst/>
            <a:cxnLst/>
            <a:rect r="r" b="b" t="t" l="l"/>
            <a:pathLst>
              <a:path h="858804" w="1236499">
                <a:moveTo>
                  <a:pt x="0" y="0"/>
                </a:moveTo>
                <a:lnTo>
                  <a:pt x="1236499" y="0"/>
                </a:lnTo>
                <a:lnTo>
                  <a:pt x="1236499" y="858804"/>
                </a:lnTo>
                <a:lnTo>
                  <a:pt x="0" y="858804"/>
                </a:lnTo>
                <a:lnTo>
                  <a:pt x="0" y="0"/>
                </a:lnTo>
                <a:close/>
              </a:path>
            </a:pathLst>
          </a:custGeom>
          <a:blipFill>
            <a:blip r:embed="rId78">
              <a:extLst>
                <a:ext uri="{96DAC541-7B7A-43D3-8B79-37D633B846F1}">
                  <asvg:svgBlip xmlns:asvg="http://schemas.microsoft.com/office/drawing/2016/SVG/main" r:embed="rId79"/>
                </a:ext>
              </a:extLst>
            </a:blip>
            <a:stretch>
              <a:fillRect l="0" t="0" r="0" b="0"/>
            </a:stretch>
          </a:blipFill>
        </p:spPr>
      </p:sp>
      <p:sp>
        <p:nvSpPr>
          <p:cNvPr name="Freeform 42" id="42"/>
          <p:cNvSpPr/>
          <p:nvPr/>
        </p:nvSpPr>
        <p:spPr>
          <a:xfrm flipH="false" flipV="false" rot="0">
            <a:off x="5113036" y="2906412"/>
            <a:ext cx="1043208" cy="1029931"/>
          </a:xfrm>
          <a:custGeom>
            <a:avLst/>
            <a:gdLst/>
            <a:ahLst/>
            <a:cxnLst/>
            <a:rect r="r" b="b" t="t" l="l"/>
            <a:pathLst>
              <a:path h="1029931" w="1043208">
                <a:moveTo>
                  <a:pt x="0" y="0"/>
                </a:moveTo>
                <a:lnTo>
                  <a:pt x="1043208" y="0"/>
                </a:lnTo>
                <a:lnTo>
                  <a:pt x="1043208" y="1029930"/>
                </a:lnTo>
                <a:lnTo>
                  <a:pt x="0" y="1029930"/>
                </a:lnTo>
                <a:lnTo>
                  <a:pt x="0" y="0"/>
                </a:lnTo>
                <a:close/>
              </a:path>
            </a:pathLst>
          </a:custGeom>
          <a:blipFill>
            <a:blip r:embed="rId80">
              <a:extLst>
                <a:ext uri="{96DAC541-7B7A-43D3-8B79-37D633B846F1}">
                  <asvg:svgBlip xmlns:asvg="http://schemas.microsoft.com/office/drawing/2016/SVG/main" r:embed="rId81"/>
                </a:ext>
              </a:extLst>
            </a:blip>
            <a:stretch>
              <a:fillRect l="0" t="0" r="0" b="0"/>
            </a:stretch>
          </a:blipFill>
        </p:spPr>
      </p:sp>
      <p:sp>
        <p:nvSpPr>
          <p:cNvPr name="Freeform 43" id="43"/>
          <p:cNvSpPr/>
          <p:nvPr/>
        </p:nvSpPr>
        <p:spPr>
          <a:xfrm flipH="false" flipV="false" rot="0">
            <a:off x="11151914" y="2987227"/>
            <a:ext cx="893040" cy="1072428"/>
          </a:xfrm>
          <a:custGeom>
            <a:avLst/>
            <a:gdLst/>
            <a:ahLst/>
            <a:cxnLst/>
            <a:rect r="r" b="b" t="t" l="l"/>
            <a:pathLst>
              <a:path h="1072428" w="893040">
                <a:moveTo>
                  <a:pt x="0" y="0"/>
                </a:moveTo>
                <a:lnTo>
                  <a:pt x="893040" y="0"/>
                </a:lnTo>
                <a:lnTo>
                  <a:pt x="893040" y="1072428"/>
                </a:lnTo>
                <a:lnTo>
                  <a:pt x="0" y="1072428"/>
                </a:lnTo>
                <a:lnTo>
                  <a:pt x="0" y="0"/>
                </a:lnTo>
                <a:close/>
              </a:path>
            </a:pathLst>
          </a:custGeom>
          <a:blipFill>
            <a:blip r:embed="rId82">
              <a:extLst>
                <a:ext uri="{96DAC541-7B7A-43D3-8B79-37D633B846F1}">
                  <asvg:svgBlip xmlns:asvg="http://schemas.microsoft.com/office/drawing/2016/SVG/main" r:embed="rId83"/>
                </a:ext>
              </a:extLst>
            </a:blip>
            <a:stretch>
              <a:fillRect l="0" t="0" r="0" b="0"/>
            </a:stretch>
          </a:blipFill>
        </p:spPr>
      </p:sp>
      <p:sp>
        <p:nvSpPr>
          <p:cNvPr name="Freeform 44" id="44"/>
          <p:cNvSpPr/>
          <p:nvPr/>
        </p:nvSpPr>
        <p:spPr>
          <a:xfrm flipH="false" flipV="false" rot="0">
            <a:off x="15136669" y="2815416"/>
            <a:ext cx="1023765" cy="1040796"/>
          </a:xfrm>
          <a:custGeom>
            <a:avLst/>
            <a:gdLst/>
            <a:ahLst/>
            <a:cxnLst/>
            <a:rect r="r" b="b" t="t" l="l"/>
            <a:pathLst>
              <a:path h="1040796" w="1023765">
                <a:moveTo>
                  <a:pt x="0" y="0"/>
                </a:moveTo>
                <a:lnTo>
                  <a:pt x="1023765" y="0"/>
                </a:lnTo>
                <a:lnTo>
                  <a:pt x="1023765" y="1040796"/>
                </a:lnTo>
                <a:lnTo>
                  <a:pt x="0" y="1040796"/>
                </a:lnTo>
                <a:lnTo>
                  <a:pt x="0" y="0"/>
                </a:lnTo>
                <a:close/>
              </a:path>
            </a:pathLst>
          </a:custGeom>
          <a:blipFill>
            <a:blip r:embed="rId84">
              <a:extLst>
                <a:ext uri="{96DAC541-7B7A-43D3-8B79-37D633B846F1}">
                  <asvg:svgBlip xmlns:asvg="http://schemas.microsoft.com/office/drawing/2016/SVG/main" r:embed="rId85"/>
                </a:ext>
              </a:extLst>
            </a:blip>
            <a:stretch>
              <a:fillRect l="0" t="0" r="0" b="0"/>
            </a:stretch>
          </a:blipFill>
        </p:spPr>
      </p:sp>
      <p:sp>
        <p:nvSpPr>
          <p:cNvPr name="Freeform 45" id="45"/>
          <p:cNvSpPr/>
          <p:nvPr/>
        </p:nvSpPr>
        <p:spPr>
          <a:xfrm flipH="false" flipV="false" rot="0">
            <a:off x="13866281" y="2906412"/>
            <a:ext cx="870363" cy="949800"/>
          </a:xfrm>
          <a:custGeom>
            <a:avLst/>
            <a:gdLst/>
            <a:ahLst/>
            <a:cxnLst/>
            <a:rect r="r" b="b" t="t" l="l"/>
            <a:pathLst>
              <a:path h="949800" w="870363">
                <a:moveTo>
                  <a:pt x="0" y="0"/>
                </a:moveTo>
                <a:lnTo>
                  <a:pt x="870363" y="0"/>
                </a:lnTo>
                <a:lnTo>
                  <a:pt x="870363" y="949800"/>
                </a:lnTo>
                <a:lnTo>
                  <a:pt x="0" y="949800"/>
                </a:lnTo>
                <a:lnTo>
                  <a:pt x="0" y="0"/>
                </a:lnTo>
                <a:close/>
              </a:path>
            </a:pathLst>
          </a:custGeom>
          <a:blipFill>
            <a:blip r:embed="rId86">
              <a:extLst>
                <a:ext uri="{96DAC541-7B7A-43D3-8B79-37D633B846F1}">
                  <asvg:svgBlip xmlns:asvg="http://schemas.microsoft.com/office/drawing/2016/SVG/main" r:embed="rId87"/>
                </a:ext>
              </a:extLst>
            </a:blip>
            <a:stretch>
              <a:fillRect l="0" t="0" r="0" b="0"/>
            </a:stretch>
          </a:blipFill>
        </p:spPr>
      </p:sp>
      <p:sp>
        <p:nvSpPr>
          <p:cNvPr name="Freeform 46" id="46"/>
          <p:cNvSpPr/>
          <p:nvPr/>
        </p:nvSpPr>
        <p:spPr>
          <a:xfrm flipH="false" flipV="false" rot="0">
            <a:off x="8110748" y="4265977"/>
            <a:ext cx="821164" cy="821164"/>
          </a:xfrm>
          <a:custGeom>
            <a:avLst/>
            <a:gdLst/>
            <a:ahLst/>
            <a:cxnLst/>
            <a:rect r="r" b="b" t="t" l="l"/>
            <a:pathLst>
              <a:path h="821164" w="821164">
                <a:moveTo>
                  <a:pt x="0" y="0"/>
                </a:moveTo>
                <a:lnTo>
                  <a:pt x="821164" y="0"/>
                </a:lnTo>
                <a:lnTo>
                  <a:pt x="821164" y="821164"/>
                </a:lnTo>
                <a:lnTo>
                  <a:pt x="0" y="821164"/>
                </a:lnTo>
                <a:lnTo>
                  <a:pt x="0" y="0"/>
                </a:lnTo>
                <a:close/>
              </a:path>
            </a:pathLst>
          </a:custGeom>
          <a:blipFill>
            <a:blip r:embed="rId60">
              <a:extLst>
                <a:ext uri="{96DAC541-7B7A-43D3-8B79-37D633B846F1}">
                  <asvg:svgBlip xmlns:asvg="http://schemas.microsoft.com/office/drawing/2016/SVG/main" r:embed="rId61"/>
                </a:ext>
              </a:extLst>
            </a:blip>
            <a:stretch>
              <a:fillRect l="0" t="0" r="0" b="0"/>
            </a:stretch>
          </a:blipFill>
          <a:ln cap="sq">
            <a:noFill/>
            <a:prstDash val="solid"/>
            <a:miter/>
          </a:ln>
        </p:spPr>
      </p:sp>
      <p:sp>
        <p:nvSpPr>
          <p:cNvPr name="Freeform 47" id="47"/>
          <p:cNvSpPr/>
          <p:nvPr/>
        </p:nvSpPr>
        <p:spPr>
          <a:xfrm flipH="false" flipV="false" rot="0">
            <a:off x="6617364" y="4248507"/>
            <a:ext cx="804521" cy="910349"/>
          </a:xfrm>
          <a:custGeom>
            <a:avLst/>
            <a:gdLst/>
            <a:ahLst/>
            <a:cxnLst/>
            <a:rect r="r" b="b" t="t" l="l"/>
            <a:pathLst>
              <a:path h="910349" w="804521">
                <a:moveTo>
                  <a:pt x="0" y="0"/>
                </a:moveTo>
                <a:lnTo>
                  <a:pt x="804522" y="0"/>
                </a:lnTo>
                <a:lnTo>
                  <a:pt x="804522" y="910350"/>
                </a:lnTo>
                <a:lnTo>
                  <a:pt x="0" y="910350"/>
                </a:lnTo>
                <a:lnTo>
                  <a:pt x="0" y="0"/>
                </a:lnTo>
                <a:close/>
              </a:path>
            </a:pathLst>
          </a:custGeom>
          <a:blipFill>
            <a:blip r:embed="rId88">
              <a:extLst>
                <a:ext uri="{96DAC541-7B7A-43D3-8B79-37D633B846F1}">
                  <asvg:svgBlip xmlns:asvg="http://schemas.microsoft.com/office/drawing/2016/SVG/main" r:embed="rId89"/>
                </a:ext>
              </a:extLst>
            </a:blip>
            <a:stretch>
              <a:fillRect l="0" t="0" r="0" b="0"/>
            </a:stretch>
          </a:blipFill>
          <a:ln cap="sq">
            <a:noFill/>
            <a:prstDash val="solid"/>
            <a:miter/>
          </a:ln>
        </p:spPr>
      </p:sp>
      <p:sp>
        <p:nvSpPr>
          <p:cNvPr name="Freeform 48" id="48"/>
          <p:cNvSpPr/>
          <p:nvPr/>
        </p:nvSpPr>
        <p:spPr>
          <a:xfrm flipH="false" flipV="false" rot="0">
            <a:off x="8110748" y="6983286"/>
            <a:ext cx="1016533" cy="725550"/>
          </a:xfrm>
          <a:custGeom>
            <a:avLst/>
            <a:gdLst/>
            <a:ahLst/>
            <a:cxnLst/>
            <a:rect r="r" b="b" t="t" l="l"/>
            <a:pathLst>
              <a:path h="725550" w="1016533">
                <a:moveTo>
                  <a:pt x="0" y="0"/>
                </a:moveTo>
                <a:lnTo>
                  <a:pt x="1016533" y="0"/>
                </a:lnTo>
                <a:lnTo>
                  <a:pt x="1016533" y="725551"/>
                </a:lnTo>
                <a:lnTo>
                  <a:pt x="0" y="725551"/>
                </a:lnTo>
                <a:lnTo>
                  <a:pt x="0" y="0"/>
                </a:lnTo>
                <a:close/>
              </a:path>
            </a:pathLst>
          </a:custGeom>
          <a:blipFill>
            <a:blip r:embed="rId90">
              <a:extLst>
                <a:ext uri="{96DAC541-7B7A-43D3-8B79-37D633B846F1}">
                  <asvg:svgBlip xmlns:asvg="http://schemas.microsoft.com/office/drawing/2016/SVG/main" r:embed="rId91"/>
                </a:ext>
              </a:extLst>
            </a:blip>
            <a:stretch>
              <a:fillRect l="0" t="0" r="0" b="0"/>
            </a:stretch>
          </a:blipFill>
        </p:spPr>
      </p:sp>
      <p:sp>
        <p:nvSpPr>
          <p:cNvPr name="Freeform 49" id="49"/>
          <p:cNvSpPr/>
          <p:nvPr/>
        </p:nvSpPr>
        <p:spPr>
          <a:xfrm flipH="false" flipV="false" rot="0">
            <a:off x="6433101" y="6941010"/>
            <a:ext cx="1045309" cy="767827"/>
          </a:xfrm>
          <a:custGeom>
            <a:avLst/>
            <a:gdLst/>
            <a:ahLst/>
            <a:cxnLst/>
            <a:rect r="r" b="b" t="t" l="l"/>
            <a:pathLst>
              <a:path h="767827" w="1045309">
                <a:moveTo>
                  <a:pt x="0" y="0"/>
                </a:moveTo>
                <a:lnTo>
                  <a:pt x="1045309" y="0"/>
                </a:lnTo>
                <a:lnTo>
                  <a:pt x="1045309" y="767827"/>
                </a:lnTo>
                <a:lnTo>
                  <a:pt x="0" y="767827"/>
                </a:lnTo>
                <a:lnTo>
                  <a:pt x="0" y="0"/>
                </a:lnTo>
                <a:close/>
              </a:path>
            </a:pathLst>
          </a:custGeom>
          <a:blipFill>
            <a:blip r:embed="rId92">
              <a:extLst>
                <a:ext uri="{96DAC541-7B7A-43D3-8B79-37D633B846F1}">
                  <asvg:svgBlip xmlns:asvg="http://schemas.microsoft.com/office/drawing/2016/SVG/main" r:embed="rId93"/>
                </a:ext>
              </a:extLst>
            </a:blip>
            <a:stretch>
              <a:fillRect l="0" t="0" r="0" b="0"/>
            </a:stretch>
          </a:blipFill>
        </p:spPr>
      </p:sp>
      <p:sp>
        <p:nvSpPr>
          <p:cNvPr name="Freeform 50" id="50"/>
          <p:cNvSpPr/>
          <p:nvPr/>
        </p:nvSpPr>
        <p:spPr>
          <a:xfrm flipH="false" flipV="false" rot="0">
            <a:off x="5259937" y="4352895"/>
            <a:ext cx="768331" cy="939072"/>
          </a:xfrm>
          <a:custGeom>
            <a:avLst/>
            <a:gdLst/>
            <a:ahLst/>
            <a:cxnLst/>
            <a:rect r="r" b="b" t="t" l="l"/>
            <a:pathLst>
              <a:path h="939072" w="768331">
                <a:moveTo>
                  <a:pt x="0" y="0"/>
                </a:moveTo>
                <a:lnTo>
                  <a:pt x="768331" y="0"/>
                </a:lnTo>
                <a:lnTo>
                  <a:pt x="768331" y="939072"/>
                </a:lnTo>
                <a:lnTo>
                  <a:pt x="0" y="939072"/>
                </a:lnTo>
                <a:lnTo>
                  <a:pt x="0" y="0"/>
                </a:lnTo>
                <a:close/>
              </a:path>
            </a:pathLst>
          </a:custGeom>
          <a:blipFill>
            <a:blip r:embed="rId94">
              <a:extLst>
                <a:ext uri="{96DAC541-7B7A-43D3-8B79-37D633B846F1}">
                  <asvg:svgBlip xmlns:asvg="http://schemas.microsoft.com/office/drawing/2016/SVG/main" r:embed="rId95"/>
                </a:ext>
              </a:extLst>
            </a:blip>
            <a:stretch>
              <a:fillRect l="0" t="0" r="0" b="0"/>
            </a:stretch>
          </a:blipFill>
        </p:spPr>
      </p:sp>
      <p:sp>
        <p:nvSpPr>
          <p:cNvPr name="Freeform 51" id="51"/>
          <p:cNvSpPr/>
          <p:nvPr/>
        </p:nvSpPr>
        <p:spPr>
          <a:xfrm flipH="false" flipV="false" rot="0">
            <a:off x="3521152" y="4446595"/>
            <a:ext cx="1139309" cy="880375"/>
          </a:xfrm>
          <a:custGeom>
            <a:avLst/>
            <a:gdLst/>
            <a:ahLst/>
            <a:cxnLst/>
            <a:rect r="r" b="b" t="t" l="l"/>
            <a:pathLst>
              <a:path h="880375" w="1139309">
                <a:moveTo>
                  <a:pt x="0" y="0"/>
                </a:moveTo>
                <a:lnTo>
                  <a:pt x="1139309" y="0"/>
                </a:lnTo>
                <a:lnTo>
                  <a:pt x="1139309" y="880375"/>
                </a:lnTo>
                <a:lnTo>
                  <a:pt x="0" y="880375"/>
                </a:lnTo>
                <a:lnTo>
                  <a:pt x="0" y="0"/>
                </a:lnTo>
                <a:close/>
              </a:path>
            </a:pathLst>
          </a:custGeom>
          <a:blipFill>
            <a:blip r:embed="rId96">
              <a:extLst>
                <a:ext uri="{96DAC541-7B7A-43D3-8B79-37D633B846F1}">
                  <asvg:svgBlip xmlns:asvg="http://schemas.microsoft.com/office/drawing/2016/SVG/main" r:embed="rId97"/>
                </a:ext>
              </a:extLst>
            </a:blip>
            <a:stretch>
              <a:fillRect l="0" t="0" r="0" b="0"/>
            </a:stretch>
          </a:blipFill>
        </p:spPr>
      </p:sp>
      <p:sp>
        <p:nvSpPr>
          <p:cNvPr name="Freeform 52" id="52"/>
          <p:cNvSpPr/>
          <p:nvPr/>
        </p:nvSpPr>
        <p:spPr>
          <a:xfrm flipH="false" flipV="false" rot="0">
            <a:off x="2334226" y="4397581"/>
            <a:ext cx="545814" cy="923685"/>
          </a:xfrm>
          <a:custGeom>
            <a:avLst/>
            <a:gdLst/>
            <a:ahLst/>
            <a:cxnLst/>
            <a:rect r="r" b="b" t="t" l="l"/>
            <a:pathLst>
              <a:path h="923685" w="545814">
                <a:moveTo>
                  <a:pt x="0" y="0"/>
                </a:moveTo>
                <a:lnTo>
                  <a:pt x="545814" y="0"/>
                </a:lnTo>
                <a:lnTo>
                  <a:pt x="545814" y="923685"/>
                </a:lnTo>
                <a:lnTo>
                  <a:pt x="0" y="923685"/>
                </a:lnTo>
                <a:lnTo>
                  <a:pt x="0" y="0"/>
                </a:lnTo>
                <a:close/>
              </a:path>
            </a:pathLst>
          </a:custGeom>
          <a:blipFill>
            <a:blip r:embed="rId98">
              <a:extLst>
                <a:ext uri="{96DAC541-7B7A-43D3-8B79-37D633B846F1}">
                  <asvg:svgBlip xmlns:asvg="http://schemas.microsoft.com/office/drawing/2016/SVG/main" r:embed="rId99"/>
                </a:ext>
              </a:extLst>
            </a:blip>
            <a:stretch>
              <a:fillRect l="0" t="0" r="0" b="0"/>
            </a:stretch>
          </a:blipFill>
        </p:spPr>
      </p:sp>
      <p:sp>
        <p:nvSpPr>
          <p:cNvPr name="TextBox 53" id="53"/>
          <p:cNvSpPr txBox="true"/>
          <p:nvPr/>
        </p:nvSpPr>
        <p:spPr>
          <a:xfrm rot="0">
            <a:off x="5155175" y="1300470"/>
            <a:ext cx="7853603" cy="1043967"/>
          </a:xfrm>
          <a:prstGeom prst="rect">
            <a:avLst/>
          </a:prstGeom>
        </p:spPr>
        <p:txBody>
          <a:bodyPr anchor="t" rtlCol="false" tIns="0" lIns="0" bIns="0" rIns="0">
            <a:spAutoFit/>
          </a:bodyPr>
          <a:lstStyle/>
          <a:p>
            <a:pPr algn="ctr" marL="0" indent="0" lvl="0">
              <a:lnSpc>
                <a:spcPts val="8608"/>
              </a:lnSpc>
              <a:spcBef>
                <a:spcPct val="0"/>
              </a:spcBef>
            </a:pPr>
            <a:r>
              <a:rPr lang="en-US" sz="6148">
                <a:solidFill>
                  <a:srgbClr val="051D40"/>
                </a:solidFill>
                <a:latin typeface="Open Sans Extra Bold"/>
                <a:ea typeface="Open Sans Extra Bold"/>
                <a:cs typeface="Open Sans Extra Bold"/>
                <a:sym typeface="Open Sans Extra Bold"/>
              </a:rPr>
              <a:t>Resource 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DAGWLLAn-s8</dc:identifier>
  <dcterms:modified xsi:type="dcterms:W3CDTF">2011-08-01T06:04:30Z</dcterms:modified>
  <cp:revision>1</cp:revision>
  <dc:title>White and Blue Professional Modern Technology Pitch Deck Presentation</dc:title>
</cp:coreProperties>
</file>